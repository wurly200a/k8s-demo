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87" r:id="rId4"/>
    <p:sldId id="259" r:id="rId5"/>
    <p:sldId id="288" r:id="rId6"/>
    <p:sldId id="261" r:id="rId7"/>
    <p:sldId id="262" r:id="rId8"/>
    <p:sldId id="263" r:id="rId9"/>
    <p:sldId id="264" r:id="rId10"/>
    <p:sldId id="265" r:id="rId11"/>
    <p:sldId id="290" r:id="rId12"/>
    <p:sldId id="281" r:id="rId13"/>
    <p:sldId id="278" r:id="rId14"/>
    <p:sldId id="268" r:id="rId15"/>
    <p:sldId id="269" r:id="rId16"/>
    <p:sldId id="270"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1" d="100"/>
          <a:sy n="141" d="100"/>
        </p:scale>
        <p:origin x="132" y="5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271383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技術紹介。テーマは「なぜKubernetesが必要なのか」。Dockerでコンテナを動かした経験はあるがK8sは触っていない人を想定。操作方法ではなく、なぜこれが生まれ何を解決しているのかを持ち帰ってもら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ゴールを先に宣言。「K8sの使い方講座」ではないことをはっきりさせ、期待値をそろえる。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Dockerは「実行」の道具。docker runした瞬間は動くが、落ちたときに誰が気づくのか、負荷が増えたときに誰が増やすのかは面倒を見てくれない。ここから先が今日の主題。</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歴史・事実の話。1台1台を堅牢にするアプローチが破綻していた。その解として社内基盤Borgがあり、設計思想を引き継いだのがKubernetes。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信頼性の「置き場所」をハードウェアからソフトウェアへ移した。cattle, not pets。可用性だけでなくスケーラビリティとセットである点が重要。</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観測・比較・修正のループ。人が手を動かして直すのではなく、システムが常に差分を埋め続ける。次のページで「では誰がこのループを回しているのか」に進む。</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登場人物を4つに絞る。API Serverが受付窓口で、そこに預けたあるべき状態をControllerが見張り続ける。Schedulerは配置先を決める係、kubeletは各ノードの実行担当。etcdやCRIには踏み込まない。ここで「Controllerがループの主役」と分かると、次のmanifestの話が入りやす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宣言的であることの説明。手順（how）ではなく状態（what）を書く。「3つ動かせ」ではなく「3つ動いている状態であってほしい」。この差がReconciliation Loopの前提になる。実際のmanifestにはprobeなど他の項目もあるが、本質はこの2行だと伝える。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消したのはPodという「実体」であって、Deploymentが持つ「意図（レプリカ数）」ではない。この区別が肝。新しいPod名が元と違うことにも触れる。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背景の話（Googleのモチベーション）と直結する部分。「ノードを増やす」という物理側の作業と「アプリの容量を増やす」という論理側の作業が、K8s層で切り離されている。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聴衆向けの構成説明。細かいK8sの用語には踏み込まず、「1つの入口の裏に複数のPodがいる」「層によって役割が分かれている」「Podは変わるので手前に変わらない入口を置く」の3点だけ伝える。3つ目がこの後のデモの伏線になる。図では、クライアント側・ルータ（境界）・クラスタ内という3つのゾーンが分かれていることを指し示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を再生する。削除の瞬間は速いので、必要ならその場で一時停止して指し示す。curlの出力でPod名が入れ替わるが応答自体は途切れないこと、NODE列を見ると配置をこちらが指示していないことに触れる。破線の枠は動画を貼ったら削除する。</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5点に絞って振り返る。最後の一言は、聞き手が同僚に説明するときにそのまま使えるフレーズとして渡すつもりで言う。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触れなかったトピックは名前と一行の役割だけ紹介し、次に調べる足掛かりにしてもらう。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質問が出たとき用の補足。Reconciliation LoopはK8s固有ではなく、Swarmも同じことをやっている点は正直に認める。Composeは単一ホストで、restart: always による再起動はするが、レプリカ数を維持する概念はない。SwarmはMirantisが終了日を定めずサポート継続中で、死んだ技術ではない。K8sの本当の差はCRD/Operatorによる拡張性で、コンテナを動かす道具ではなく運用を自動化する土台になっている点。</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research.google.com/pubs/archive/43438.pdf"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350"/>
        </a:solidFill>
        <a:effectLst/>
      </p:bgPr>
    </p:bg>
    <p:spTree>
      <p:nvGrpSpPr>
        <p:cNvPr id="1" name=""/>
        <p:cNvGrpSpPr/>
        <p:nvPr/>
      </p:nvGrpSpPr>
      <p:grpSpPr>
        <a:xfrm>
          <a:off x="0" y="0"/>
          <a:ext cx="0" cy="0"/>
          <a:chOff x="0" y="0"/>
          <a:chExt cx="0" cy="0"/>
        </a:xfrm>
      </p:grpSpPr>
      <p:sp>
        <p:nvSpPr>
          <p:cNvPr id="2" name="Text 0"/>
          <p:cNvSpPr/>
          <p:nvPr/>
        </p:nvSpPr>
        <p:spPr>
          <a:xfrm>
            <a:off x="822960" y="1508760"/>
            <a:ext cx="5852160" cy="320040"/>
          </a:xfrm>
          <a:prstGeom prst="rect">
            <a:avLst/>
          </a:prstGeom>
          <a:noFill/>
          <a:ln/>
        </p:spPr>
        <p:txBody>
          <a:bodyPr wrap="square" lIns="0" tIns="0" rIns="0" bIns="0" rtlCol="0" anchor="ctr"/>
          <a:lstStyle/>
          <a:p>
            <a:pPr marL="0" indent="0">
              <a:buNone/>
            </a:pPr>
            <a:r>
              <a:rPr lang="en-US" sz="1300" b="1" kern="0" spc="200" dirty="0" err="1">
                <a:solidFill>
                  <a:srgbClr val="326CE5"/>
                </a:solidFill>
                <a:latin typeface="Meiryo" pitchFamily="34" charset="0"/>
                <a:ea typeface="Meiryo" pitchFamily="34" charset="-122"/>
                <a:cs typeface="Meiryo" pitchFamily="34" charset="-120"/>
              </a:rPr>
              <a:t>技術紹介</a:t>
            </a:r>
            <a:endParaRPr lang="en-US" sz="1300" dirty="0"/>
          </a:p>
        </p:txBody>
      </p:sp>
      <p:sp>
        <p:nvSpPr>
          <p:cNvPr id="3" name="Text 1"/>
          <p:cNvSpPr/>
          <p:nvPr/>
        </p:nvSpPr>
        <p:spPr>
          <a:xfrm>
            <a:off x="822960" y="1920240"/>
            <a:ext cx="6035040" cy="1737360"/>
          </a:xfrm>
          <a:prstGeom prst="rect">
            <a:avLst/>
          </a:prstGeom>
          <a:noFill/>
          <a:ln/>
        </p:spPr>
        <p:txBody>
          <a:bodyPr wrap="square" lIns="0" tIns="0" rIns="0" bIns="0" rtlCol="0" anchor="t"/>
          <a:lstStyle/>
          <a:p>
            <a:pPr marL="0" indent="0">
              <a:lnSpc>
                <a:spcPts val="4600"/>
              </a:lnSpc>
              <a:buNone/>
            </a:pPr>
            <a:r>
              <a:rPr lang="en-US" sz="3800" b="1" dirty="0">
                <a:solidFill>
                  <a:srgbClr val="FFFFFF"/>
                </a:solidFill>
                <a:latin typeface="Meiryo" pitchFamily="34" charset="0"/>
                <a:ea typeface="Meiryo" pitchFamily="34" charset="-122"/>
                <a:cs typeface="Meiryo" pitchFamily="34" charset="-120"/>
              </a:rPr>
              <a:t>なぜKubernetesが</a:t>
            </a:r>
            <a:endParaRPr lang="en-US" sz="3800" dirty="0"/>
          </a:p>
          <a:p>
            <a:pPr marL="0" indent="0">
              <a:lnSpc>
                <a:spcPts val="4600"/>
              </a:lnSpc>
              <a:buNone/>
            </a:pPr>
            <a:r>
              <a:rPr lang="en-US" sz="3800" b="1" dirty="0">
                <a:solidFill>
                  <a:srgbClr val="FFFFFF"/>
                </a:solidFill>
                <a:latin typeface="Meiryo" pitchFamily="34" charset="0"/>
                <a:ea typeface="Meiryo" pitchFamily="34" charset="-122"/>
                <a:cs typeface="Meiryo" pitchFamily="34" charset="-120"/>
              </a:rPr>
              <a:t>必要なのか</a:t>
            </a:r>
            <a:endParaRPr lang="en-US" sz="3800" dirty="0"/>
          </a:p>
        </p:txBody>
      </p:sp>
      <p:sp>
        <p:nvSpPr>
          <p:cNvPr id="4" name="Text 2"/>
          <p:cNvSpPr/>
          <p:nvPr/>
        </p:nvSpPr>
        <p:spPr>
          <a:xfrm>
            <a:off x="822960" y="3886200"/>
            <a:ext cx="6035040" cy="411480"/>
          </a:xfrm>
          <a:prstGeom prst="rect">
            <a:avLst/>
          </a:prstGeom>
          <a:noFill/>
          <a:ln/>
        </p:spPr>
        <p:txBody>
          <a:bodyPr wrap="square" lIns="0" tIns="0" rIns="0" bIns="0" rtlCol="0" anchor="ctr"/>
          <a:lstStyle/>
          <a:p>
            <a:pPr marL="0" indent="0">
              <a:buNone/>
            </a:pPr>
            <a:r>
              <a:rPr lang="en-US" sz="1700" dirty="0">
                <a:solidFill>
                  <a:srgbClr val="CFDEF8"/>
                </a:solidFill>
                <a:latin typeface="Meiryo" pitchFamily="34" charset="0"/>
                <a:ea typeface="Meiryo" pitchFamily="34" charset="-122"/>
                <a:cs typeface="Meiryo" pitchFamily="34" charset="-120"/>
              </a:rPr>
              <a:t>Docker </a:t>
            </a:r>
            <a:r>
              <a:rPr lang="ja-JP" altLang="en-US" sz="1700" dirty="0">
                <a:solidFill>
                  <a:srgbClr val="CFDEF8"/>
                </a:solidFill>
                <a:latin typeface="Meiryo" pitchFamily="34" charset="0"/>
                <a:ea typeface="Meiryo" pitchFamily="34" charset="-122"/>
                <a:cs typeface="Meiryo" pitchFamily="34" charset="-120"/>
              </a:rPr>
              <a:t>は知っている</a:t>
            </a:r>
            <a:r>
              <a:rPr lang="en-US" sz="1700" dirty="0" err="1">
                <a:solidFill>
                  <a:srgbClr val="CFDEF8"/>
                </a:solidFill>
                <a:latin typeface="Meiryo" pitchFamily="34" charset="0"/>
                <a:ea typeface="Meiryo" pitchFamily="34" charset="-122"/>
                <a:cs typeface="Meiryo" pitchFamily="34" charset="-120"/>
              </a:rPr>
              <a:t>人のための</a:t>
            </a:r>
            <a:r>
              <a:rPr lang="en-US" sz="1700" dirty="0">
                <a:solidFill>
                  <a:srgbClr val="CFDEF8"/>
                </a:solidFill>
                <a:latin typeface="Meiryo" pitchFamily="34" charset="0"/>
                <a:ea typeface="Meiryo" pitchFamily="34" charset="-122"/>
                <a:cs typeface="Meiryo" pitchFamily="34" charset="-120"/>
              </a:rPr>
              <a:t> Kubernetes 入門</a:t>
            </a:r>
            <a:endParaRPr lang="en-US" sz="1700" dirty="0"/>
          </a:p>
        </p:txBody>
      </p:sp>
      <p:sp>
        <p:nvSpPr>
          <p:cNvPr id="5" name="Text 3"/>
          <p:cNvSpPr/>
          <p:nvPr/>
        </p:nvSpPr>
        <p:spPr>
          <a:xfrm>
            <a:off x="822960" y="4617720"/>
            <a:ext cx="6035040" cy="320040"/>
          </a:xfrm>
          <a:prstGeom prst="rect">
            <a:avLst/>
          </a:prstGeom>
          <a:noFill/>
          <a:ln/>
        </p:spPr>
        <p:txBody>
          <a:bodyPr wrap="square" lIns="0" tIns="0" rIns="0" bIns="0" rtlCol="0" anchor="ctr"/>
          <a:lstStyle/>
          <a:p>
            <a:pPr marL="0" indent="0">
              <a:buNone/>
            </a:pPr>
            <a:r>
              <a:rPr lang="en-US" sz="1200" dirty="0" err="1">
                <a:solidFill>
                  <a:srgbClr val="8FA6CC"/>
                </a:solidFill>
                <a:latin typeface="Meiryo" pitchFamily="34" charset="0"/>
                <a:ea typeface="Meiryo" pitchFamily="34" charset="-122"/>
                <a:cs typeface="Meiryo" pitchFamily="34" charset="-120"/>
              </a:rPr>
              <a:t>発表者：Wurly</a:t>
            </a:r>
            <a:endParaRPr lang="en-US" sz="1200" dirty="0"/>
          </a:p>
        </p:txBody>
      </p:sp>
      <p:sp>
        <p:nvSpPr>
          <p:cNvPr id="6" name="Shape 4"/>
          <p:cNvSpPr/>
          <p:nvPr/>
        </p:nvSpPr>
        <p:spPr>
          <a:xfrm>
            <a:off x="7452360" y="2194560"/>
            <a:ext cx="1371600" cy="1737360"/>
          </a:xfrm>
          <a:prstGeom prst="roundRect">
            <a:avLst>
              <a:gd name="adj" fmla="val 5333"/>
            </a:avLst>
          </a:prstGeom>
          <a:solidFill>
            <a:srgbClr val="1B3566"/>
          </a:solidFill>
          <a:ln w="15875">
            <a:solidFill>
              <a:srgbClr val="2E4C82"/>
            </a:solidFill>
            <a:prstDash val="solid"/>
          </a:ln>
        </p:spPr>
      </p:sp>
      <p:sp>
        <p:nvSpPr>
          <p:cNvPr id="7" name="Shape 5"/>
          <p:cNvSpPr/>
          <p:nvPr/>
        </p:nvSpPr>
        <p:spPr>
          <a:xfrm>
            <a:off x="7616952" y="2340864"/>
            <a:ext cx="1042416" cy="274320"/>
          </a:xfrm>
          <a:prstGeom prst="roundRect">
            <a:avLst>
              <a:gd name="adj" fmla="val 33333"/>
            </a:avLst>
          </a:prstGeom>
          <a:solidFill>
            <a:srgbClr val="326CE5"/>
          </a:solidFill>
          <a:ln w="12700">
            <a:solidFill>
              <a:srgbClr val="326CE5"/>
            </a:solidFill>
            <a:prstDash val="solid"/>
          </a:ln>
        </p:spPr>
      </p:sp>
      <p:sp>
        <p:nvSpPr>
          <p:cNvPr id="8" name="Text 6"/>
          <p:cNvSpPr/>
          <p:nvPr/>
        </p:nvSpPr>
        <p:spPr>
          <a:xfrm>
            <a:off x="761695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9" name="Shape 7"/>
          <p:cNvSpPr/>
          <p:nvPr/>
        </p:nvSpPr>
        <p:spPr>
          <a:xfrm>
            <a:off x="7616952" y="2724912"/>
            <a:ext cx="1042416" cy="274320"/>
          </a:xfrm>
          <a:prstGeom prst="roundRect">
            <a:avLst>
              <a:gd name="adj" fmla="val 33333"/>
            </a:avLst>
          </a:prstGeom>
          <a:solidFill>
            <a:srgbClr val="326CE5"/>
          </a:solidFill>
          <a:ln w="12700">
            <a:solidFill>
              <a:srgbClr val="326CE5"/>
            </a:solidFill>
            <a:prstDash val="solid"/>
          </a:ln>
        </p:spPr>
      </p:sp>
      <p:sp>
        <p:nvSpPr>
          <p:cNvPr id="10" name="Text 8"/>
          <p:cNvSpPr/>
          <p:nvPr/>
        </p:nvSpPr>
        <p:spPr>
          <a:xfrm>
            <a:off x="761695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1" name="Shape 9"/>
          <p:cNvSpPr/>
          <p:nvPr/>
        </p:nvSpPr>
        <p:spPr>
          <a:xfrm>
            <a:off x="7616952" y="3108960"/>
            <a:ext cx="1042416" cy="274320"/>
          </a:xfrm>
          <a:prstGeom prst="roundRect">
            <a:avLst>
              <a:gd name="adj" fmla="val 33333"/>
            </a:avLst>
          </a:prstGeom>
          <a:solidFill>
            <a:srgbClr val="326CE5"/>
          </a:solidFill>
          <a:ln w="12700">
            <a:solidFill>
              <a:srgbClr val="326CE5"/>
            </a:solidFill>
            <a:prstDash val="solid"/>
          </a:ln>
        </p:spPr>
      </p:sp>
      <p:sp>
        <p:nvSpPr>
          <p:cNvPr id="12" name="Text 10"/>
          <p:cNvSpPr/>
          <p:nvPr/>
        </p:nvSpPr>
        <p:spPr>
          <a:xfrm>
            <a:off x="761695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3" name="Text 11"/>
          <p:cNvSpPr/>
          <p:nvPr/>
        </p:nvSpPr>
        <p:spPr>
          <a:xfrm>
            <a:off x="745236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1</a:t>
            </a:r>
            <a:endParaRPr lang="en-US" sz="900" dirty="0"/>
          </a:p>
        </p:txBody>
      </p:sp>
      <p:sp>
        <p:nvSpPr>
          <p:cNvPr id="14" name="Shape 12"/>
          <p:cNvSpPr/>
          <p:nvPr/>
        </p:nvSpPr>
        <p:spPr>
          <a:xfrm>
            <a:off x="9006840" y="2194560"/>
            <a:ext cx="1371600" cy="1737360"/>
          </a:xfrm>
          <a:prstGeom prst="roundRect">
            <a:avLst>
              <a:gd name="adj" fmla="val 5333"/>
            </a:avLst>
          </a:prstGeom>
          <a:solidFill>
            <a:srgbClr val="1B3566"/>
          </a:solidFill>
          <a:ln w="15875">
            <a:solidFill>
              <a:srgbClr val="2E4C82"/>
            </a:solidFill>
            <a:prstDash val="solid"/>
          </a:ln>
        </p:spPr>
      </p:sp>
      <p:sp>
        <p:nvSpPr>
          <p:cNvPr id="15" name="Shape 13"/>
          <p:cNvSpPr/>
          <p:nvPr/>
        </p:nvSpPr>
        <p:spPr>
          <a:xfrm>
            <a:off x="9171432" y="2340864"/>
            <a:ext cx="1042416" cy="274320"/>
          </a:xfrm>
          <a:prstGeom prst="roundRect">
            <a:avLst>
              <a:gd name="adj" fmla="val 33333"/>
            </a:avLst>
          </a:prstGeom>
          <a:solidFill>
            <a:srgbClr val="326CE5"/>
          </a:solidFill>
          <a:ln w="12700">
            <a:solidFill>
              <a:srgbClr val="326CE5"/>
            </a:solidFill>
            <a:prstDash val="solid"/>
          </a:ln>
        </p:spPr>
      </p:sp>
      <p:sp>
        <p:nvSpPr>
          <p:cNvPr id="16" name="Text 14"/>
          <p:cNvSpPr/>
          <p:nvPr/>
        </p:nvSpPr>
        <p:spPr>
          <a:xfrm>
            <a:off x="917143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7" name="Shape 15"/>
          <p:cNvSpPr/>
          <p:nvPr/>
        </p:nvSpPr>
        <p:spPr>
          <a:xfrm>
            <a:off x="9171432" y="2724912"/>
            <a:ext cx="1042416" cy="274320"/>
          </a:xfrm>
          <a:prstGeom prst="roundRect">
            <a:avLst>
              <a:gd name="adj" fmla="val 33333"/>
            </a:avLst>
          </a:prstGeom>
          <a:solidFill>
            <a:srgbClr val="326CE5"/>
          </a:solidFill>
          <a:ln w="12700">
            <a:solidFill>
              <a:srgbClr val="326CE5"/>
            </a:solidFill>
            <a:prstDash val="solid"/>
          </a:ln>
        </p:spPr>
      </p:sp>
      <p:sp>
        <p:nvSpPr>
          <p:cNvPr id="18" name="Text 16"/>
          <p:cNvSpPr/>
          <p:nvPr/>
        </p:nvSpPr>
        <p:spPr>
          <a:xfrm>
            <a:off x="917143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9" name="Shape 17"/>
          <p:cNvSpPr/>
          <p:nvPr/>
        </p:nvSpPr>
        <p:spPr>
          <a:xfrm>
            <a:off x="9171432" y="3108960"/>
            <a:ext cx="1042416" cy="274320"/>
          </a:xfrm>
          <a:prstGeom prst="roundRect">
            <a:avLst>
              <a:gd name="adj" fmla="val 33333"/>
            </a:avLst>
          </a:prstGeom>
          <a:solidFill>
            <a:srgbClr val="326CE5"/>
          </a:solidFill>
          <a:ln w="12700">
            <a:solidFill>
              <a:srgbClr val="326CE5"/>
            </a:solidFill>
            <a:prstDash val="solid"/>
          </a:ln>
        </p:spPr>
      </p:sp>
      <p:sp>
        <p:nvSpPr>
          <p:cNvPr id="20" name="Text 18"/>
          <p:cNvSpPr/>
          <p:nvPr/>
        </p:nvSpPr>
        <p:spPr>
          <a:xfrm>
            <a:off x="917143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1" name="Text 19"/>
          <p:cNvSpPr/>
          <p:nvPr/>
        </p:nvSpPr>
        <p:spPr>
          <a:xfrm>
            <a:off x="900684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2</a:t>
            </a:r>
            <a:endParaRPr lang="en-US" sz="900" dirty="0"/>
          </a:p>
        </p:txBody>
      </p:sp>
      <p:sp>
        <p:nvSpPr>
          <p:cNvPr id="22" name="Shape 20"/>
          <p:cNvSpPr/>
          <p:nvPr/>
        </p:nvSpPr>
        <p:spPr>
          <a:xfrm>
            <a:off x="10561320" y="2194560"/>
            <a:ext cx="1371600" cy="1737360"/>
          </a:xfrm>
          <a:prstGeom prst="roundRect">
            <a:avLst>
              <a:gd name="adj" fmla="val 5333"/>
            </a:avLst>
          </a:prstGeom>
          <a:solidFill>
            <a:srgbClr val="1B3566"/>
          </a:solidFill>
          <a:ln w="15875">
            <a:solidFill>
              <a:srgbClr val="2E4C82"/>
            </a:solidFill>
            <a:prstDash val="solid"/>
          </a:ln>
        </p:spPr>
      </p:sp>
      <p:sp>
        <p:nvSpPr>
          <p:cNvPr id="23" name="Shape 21"/>
          <p:cNvSpPr/>
          <p:nvPr/>
        </p:nvSpPr>
        <p:spPr>
          <a:xfrm>
            <a:off x="10725912" y="2340864"/>
            <a:ext cx="1042416" cy="274320"/>
          </a:xfrm>
          <a:prstGeom prst="roundRect">
            <a:avLst>
              <a:gd name="adj" fmla="val 33333"/>
            </a:avLst>
          </a:prstGeom>
          <a:solidFill>
            <a:srgbClr val="326CE5"/>
          </a:solidFill>
          <a:ln w="12700">
            <a:solidFill>
              <a:srgbClr val="326CE5"/>
            </a:solidFill>
            <a:prstDash val="solid"/>
          </a:ln>
        </p:spPr>
      </p:sp>
      <p:sp>
        <p:nvSpPr>
          <p:cNvPr id="24" name="Text 22"/>
          <p:cNvSpPr/>
          <p:nvPr/>
        </p:nvSpPr>
        <p:spPr>
          <a:xfrm>
            <a:off x="10725912" y="2340864"/>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5" name="Shape 23"/>
          <p:cNvSpPr/>
          <p:nvPr/>
        </p:nvSpPr>
        <p:spPr>
          <a:xfrm>
            <a:off x="10725912" y="2724912"/>
            <a:ext cx="1042416" cy="274320"/>
          </a:xfrm>
          <a:prstGeom prst="roundRect">
            <a:avLst>
              <a:gd name="adj" fmla="val 33333"/>
            </a:avLst>
          </a:prstGeom>
          <a:solidFill>
            <a:srgbClr val="326CE5"/>
          </a:solidFill>
          <a:ln w="12700">
            <a:solidFill>
              <a:srgbClr val="326CE5"/>
            </a:solidFill>
            <a:prstDash val="solid"/>
          </a:ln>
        </p:spPr>
      </p:sp>
      <p:sp>
        <p:nvSpPr>
          <p:cNvPr id="26" name="Text 24"/>
          <p:cNvSpPr/>
          <p:nvPr/>
        </p:nvSpPr>
        <p:spPr>
          <a:xfrm>
            <a:off x="10725912" y="2724912"/>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7" name="Shape 25"/>
          <p:cNvSpPr/>
          <p:nvPr/>
        </p:nvSpPr>
        <p:spPr>
          <a:xfrm>
            <a:off x="10725912" y="3108960"/>
            <a:ext cx="1042416" cy="274320"/>
          </a:xfrm>
          <a:prstGeom prst="roundRect">
            <a:avLst>
              <a:gd name="adj" fmla="val 33333"/>
            </a:avLst>
          </a:prstGeom>
          <a:solidFill>
            <a:srgbClr val="326CE5"/>
          </a:solidFill>
          <a:ln w="12700">
            <a:solidFill>
              <a:srgbClr val="326CE5"/>
            </a:solidFill>
            <a:prstDash val="solid"/>
          </a:ln>
        </p:spPr>
      </p:sp>
      <p:sp>
        <p:nvSpPr>
          <p:cNvPr id="28" name="Text 26"/>
          <p:cNvSpPr/>
          <p:nvPr/>
        </p:nvSpPr>
        <p:spPr>
          <a:xfrm>
            <a:off x="10725912" y="3108960"/>
            <a:ext cx="104241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9" name="Text 27"/>
          <p:cNvSpPr/>
          <p:nvPr/>
        </p:nvSpPr>
        <p:spPr>
          <a:xfrm>
            <a:off x="10561320" y="3621024"/>
            <a:ext cx="1371600" cy="256032"/>
          </a:xfrm>
          <a:prstGeom prst="rect">
            <a:avLst/>
          </a:prstGeom>
          <a:noFill/>
          <a:ln/>
        </p:spPr>
        <p:txBody>
          <a:bodyPr wrap="square" lIns="0" tIns="0" rIns="0" bIns="0" rtlCol="0" anchor="ctr"/>
          <a:lstStyle/>
          <a:p>
            <a:pPr marL="0" indent="0" algn="ctr">
              <a:buNone/>
            </a:pPr>
            <a:r>
              <a:rPr lang="en-US" sz="900" dirty="0">
                <a:solidFill>
                  <a:srgbClr val="CFDEF8"/>
                </a:solidFill>
                <a:latin typeface="Meiryo" pitchFamily="34" charset="0"/>
                <a:ea typeface="Meiryo" pitchFamily="34" charset="-122"/>
                <a:cs typeface="Meiryo" pitchFamily="34" charset="-120"/>
              </a:rPr>
              <a:t>node 3</a:t>
            </a:r>
            <a:endParaRPr lang="en-US" sz="900" dirty="0"/>
          </a:p>
        </p:txBody>
      </p:sp>
      <p:sp>
        <p:nvSpPr>
          <p:cNvPr id="30" name="Text 28"/>
          <p:cNvSpPr/>
          <p:nvPr/>
        </p:nvSpPr>
        <p:spPr>
          <a:xfrm>
            <a:off x="7452360" y="4114800"/>
            <a:ext cx="4480560" cy="320040"/>
          </a:xfrm>
          <a:prstGeom prst="rect">
            <a:avLst/>
          </a:prstGeom>
          <a:noFill/>
          <a:ln/>
        </p:spPr>
        <p:txBody>
          <a:bodyPr wrap="square" lIns="0" tIns="0" rIns="0" bIns="0" rtlCol="0" anchor="ctr"/>
          <a:lstStyle/>
          <a:p>
            <a:pPr marL="0" indent="0" algn="ctr">
              <a:buNone/>
            </a:pPr>
            <a:r>
              <a:rPr lang="en-US" sz="1100" dirty="0">
                <a:solidFill>
                  <a:srgbClr val="CFDEF8"/>
                </a:solidFill>
                <a:latin typeface="Meiryo" pitchFamily="34" charset="0"/>
                <a:ea typeface="Meiryo" pitchFamily="34" charset="-122"/>
                <a:cs typeface="Meiryo" pitchFamily="34" charset="-120"/>
              </a:rPr>
              <a:t>1つのクラスタ ＝ 多数のホスト</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今日のゴール</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操作方法ではなく「何を解決する技術なのか」を持ち帰ってもらう</a:t>
            </a:r>
            <a:endParaRPr lang="en-US" sz="1350" dirty="0"/>
          </a:p>
        </p:txBody>
      </p:sp>
      <p:sp>
        <p:nvSpPr>
          <p:cNvPr id="4" name="Shape 2"/>
          <p:cNvSpPr/>
          <p:nvPr/>
        </p:nvSpPr>
        <p:spPr>
          <a:xfrm>
            <a:off x="640080" y="1874520"/>
            <a:ext cx="10881360" cy="1234440"/>
          </a:xfrm>
          <a:prstGeom prst="roundRect">
            <a:avLst>
              <a:gd name="adj" fmla="val 4444"/>
            </a:avLst>
          </a:prstGeom>
          <a:solidFill>
            <a:srgbClr val="F5F8FD"/>
          </a:solidFill>
          <a:ln w="12700">
            <a:solidFill>
              <a:srgbClr val="F5F8FD"/>
            </a:solidFill>
            <a:prstDash val="solid"/>
          </a:ln>
        </p:spPr>
      </p:sp>
      <p:sp>
        <p:nvSpPr>
          <p:cNvPr id="5" name="Shape 3"/>
          <p:cNvSpPr/>
          <p:nvPr/>
        </p:nvSpPr>
        <p:spPr>
          <a:xfrm>
            <a:off x="960120" y="2240280"/>
            <a:ext cx="502920" cy="502920"/>
          </a:xfrm>
          <a:prstGeom prst="ellipse">
            <a:avLst/>
          </a:prstGeom>
          <a:solidFill>
            <a:srgbClr val="326CE5"/>
          </a:solidFill>
          <a:ln/>
        </p:spPr>
      </p:sp>
      <p:sp>
        <p:nvSpPr>
          <p:cNvPr id="6" name="Text 4"/>
          <p:cNvSpPr/>
          <p:nvPr/>
        </p:nvSpPr>
        <p:spPr>
          <a:xfrm>
            <a:off x="960120" y="22402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737360" y="213055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ゴール</a:t>
            </a:r>
            <a:endParaRPr lang="en-US" sz="1800" dirty="0"/>
          </a:p>
        </p:txBody>
      </p:sp>
      <p:sp>
        <p:nvSpPr>
          <p:cNvPr id="8" name="Text 6"/>
          <p:cNvSpPr/>
          <p:nvPr/>
        </p:nvSpPr>
        <p:spPr>
          <a:xfrm>
            <a:off x="1737360" y="2514600"/>
            <a:ext cx="9509760" cy="365760"/>
          </a:xfrm>
          <a:prstGeom prst="rect">
            <a:avLst/>
          </a:prstGeom>
          <a:noFill/>
          <a:ln/>
        </p:spPr>
        <p:txBody>
          <a:bodyPr wrap="square" lIns="0" tIns="0" rIns="0" bIns="0" rtlCol="0" anchor="ctr"/>
          <a:lstStyle/>
          <a:p>
            <a:pPr marL="0" indent="0">
              <a:buNone/>
            </a:pPr>
            <a:r>
              <a:rPr lang="en-US" sz="1400" dirty="0">
                <a:solidFill>
                  <a:srgbClr val="5D6B85"/>
                </a:solidFill>
                <a:latin typeface="Meiryo" pitchFamily="34" charset="0"/>
                <a:ea typeface="Meiryo" pitchFamily="34" charset="-122"/>
                <a:cs typeface="Meiryo" pitchFamily="34" charset="-120"/>
              </a:rPr>
              <a:t>「Kubernetes(</a:t>
            </a:r>
            <a:r>
              <a:rPr lang="ja-JP" altLang="en-US" sz="1400" dirty="0">
                <a:solidFill>
                  <a:srgbClr val="5D6B85"/>
                </a:solidFill>
                <a:latin typeface="Meiryo" pitchFamily="34" charset="0"/>
                <a:ea typeface="Meiryo" pitchFamily="34" charset="-122"/>
                <a:cs typeface="Meiryo" pitchFamily="34" charset="-120"/>
              </a:rPr>
              <a:t>以降、</a:t>
            </a:r>
            <a:r>
              <a:rPr lang="en-US" sz="1400" dirty="0">
                <a:solidFill>
                  <a:srgbClr val="5D6B85"/>
                </a:solidFill>
                <a:latin typeface="Meiryo" pitchFamily="34" charset="0"/>
                <a:ea typeface="Meiryo" pitchFamily="34" charset="-122"/>
                <a:cs typeface="Meiryo" pitchFamily="34" charset="-120"/>
              </a:rPr>
              <a:t>K8s</a:t>
            </a:r>
            <a:r>
              <a:rPr lang="ja-JP" altLang="en-US" sz="1400" dirty="0">
                <a:solidFill>
                  <a:srgbClr val="5D6B85"/>
                </a:solidFill>
                <a:latin typeface="Meiryo" pitchFamily="34" charset="0"/>
                <a:ea typeface="Meiryo" pitchFamily="34" charset="-122"/>
                <a:cs typeface="Meiryo" pitchFamily="34" charset="-120"/>
              </a:rPr>
              <a:t>と略</a:t>
            </a:r>
            <a:r>
              <a:rPr lang="en-US" altLang="ja-JP" sz="1400" dirty="0">
                <a:solidFill>
                  <a:srgbClr val="5D6B85"/>
                </a:solidFill>
                <a:latin typeface="Meiryo" pitchFamily="34" charset="0"/>
                <a:ea typeface="Meiryo" pitchFamily="34" charset="-122"/>
                <a:cs typeface="Meiryo" pitchFamily="34" charset="-120"/>
              </a:rPr>
              <a:t>)</a:t>
            </a:r>
            <a:r>
              <a:rPr lang="en-US" sz="1400" dirty="0" err="1">
                <a:solidFill>
                  <a:srgbClr val="5D6B85"/>
                </a:solidFill>
                <a:latin typeface="Meiryo" pitchFamily="34" charset="0"/>
                <a:ea typeface="Meiryo" pitchFamily="34" charset="-122"/>
                <a:cs typeface="Meiryo" pitchFamily="34" charset="-120"/>
              </a:rPr>
              <a:t>は結局どこが嬉しいのか</a:t>
            </a:r>
            <a:r>
              <a:rPr lang="en-US" sz="1400" dirty="0">
                <a:solidFill>
                  <a:srgbClr val="5D6B85"/>
                </a:solidFill>
                <a:latin typeface="Meiryo" pitchFamily="34" charset="0"/>
                <a:ea typeface="Meiryo" pitchFamily="34" charset="-122"/>
                <a:cs typeface="Meiryo" pitchFamily="34" charset="-120"/>
              </a:rPr>
              <a:t>」</a:t>
            </a:r>
            <a:r>
              <a:rPr lang="ja-JP" altLang="en-US" sz="1400" dirty="0">
                <a:solidFill>
                  <a:srgbClr val="5D6B85"/>
                </a:solidFill>
                <a:latin typeface="Meiryo" pitchFamily="34" charset="0"/>
                <a:ea typeface="Meiryo" pitchFamily="34" charset="-122"/>
                <a:cs typeface="Meiryo" pitchFamily="34" charset="-120"/>
              </a:rPr>
              <a:t>が理解できる</a:t>
            </a:r>
            <a:endParaRPr lang="en-US" sz="1400" dirty="0"/>
          </a:p>
        </p:txBody>
      </p:sp>
      <p:sp>
        <p:nvSpPr>
          <p:cNvPr id="9" name="Shape 7"/>
          <p:cNvSpPr/>
          <p:nvPr/>
        </p:nvSpPr>
        <p:spPr>
          <a:xfrm>
            <a:off x="640080" y="3337560"/>
            <a:ext cx="10881360" cy="1234440"/>
          </a:xfrm>
          <a:prstGeom prst="roundRect">
            <a:avLst>
              <a:gd name="adj" fmla="val 4444"/>
            </a:avLst>
          </a:prstGeom>
          <a:solidFill>
            <a:srgbClr val="F5F8FD"/>
          </a:solidFill>
          <a:ln w="12700">
            <a:solidFill>
              <a:srgbClr val="F5F8FD"/>
            </a:solidFill>
            <a:prstDash val="solid"/>
          </a:ln>
        </p:spPr>
      </p:sp>
      <p:sp>
        <p:nvSpPr>
          <p:cNvPr id="10" name="Shape 8"/>
          <p:cNvSpPr/>
          <p:nvPr/>
        </p:nvSpPr>
        <p:spPr>
          <a:xfrm>
            <a:off x="960120" y="3703320"/>
            <a:ext cx="502920" cy="502920"/>
          </a:xfrm>
          <a:prstGeom prst="ellipse">
            <a:avLst/>
          </a:prstGeom>
          <a:solidFill>
            <a:srgbClr val="326CE5"/>
          </a:solidFill>
          <a:ln/>
        </p:spPr>
      </p:sp>
      <p:sp>
        <p:nvSpPr>
          <p:cNvPr id="11" name="Text 9"/>
          <p:cNvSpPr/>
          <p:nvPr/>
        </p:nvSpPr>
        <p:spPr>
          <a:xfrm>
            <a:off x="960120" y="370332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1737360" y="359359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想定する聞き手</a:t>
            </a:r>
            <a:endParaRPr lang="en-US" sz="1800" dirty="0"/>
          </a:p>
        </p:txBody>
      </p:sp>
      <p:sp>
        <p:nvSpPr>
          <p:cNvPr id="13" name="Text 11"/>
          <p:cNvSpPr/>
          <p:nvPr/>
        </p:nvSpPr>
        <p:spPr>
          <a:xfrm>
            <a:off x="1737360" y="3977640"/>
            <a:ext cx="9509760" cy="365760"/>
          </a:xfrm>
          <a:prstGeom prst="rect">
            <a:avLst/>
          </a:prstGeom>
          <a:noFill/>
          <a:ln/>
        </p:spPr>
        <p:txBody>
          <a:bodyPr wrap="square" lIns="0" tIns="0" rIns="0" bIns="0" rtlCol="0" anchor="ctr"/>
          <a:lstStyle/>
          <a:p>
            <a:pPr marL="0" indent="0">
              <a:buNone/>
            </a:pPr>
            <a:r>
              <a:rPr lang="en-US" sz="1400" dirty="0" err="1">
                <a:solidFill>
                  <a:srgbClr val="5D6B85"/>
                </a:solidFill>
                <a:latin typeface="Meiryo" pitchFamily="34" charset="0"/>
                <a:ea typeface="Meiryo" pitchFamily="34" charset="-122"/>
                <a:cs typeface="Meiryo" pitchFamily="34" charset="-120"/>
              </a:rPr>
              <a:t>Dockerでコンテナを動かした経験がある人</a:t>
            </a:r>
            <a:endParaRPr lang="en-US" sz="1400" dirty="0"/>
          </a:p>
        </p:txBody>
      </p:sp>
      <p:sp>
        <p:nvSpPr>
          <p:cNvPr id="14" name="Shape 12"/>
          <p:cNvSpPr/>
          <p:nvPr/>
        </p:nvSpPr>
        <p:spPr>
          <a:xfrm>
            <a:off x="640080" y="4800600"/>
            <a:ext cx="10881360" cy="1234440"/>
          </a:xfrm>
          <a:prstGeom prst="roundRect">
            <a:avLst>
              <a:gd name="adj" fmla="val 4444"/>
            </a:avLst>
          </a:prstGeom>
          <a:solidFill>
            <a:srgbClr val="F5F8FD"/>
          </a:solidFill>
          <a:ln w="12700">
            <a:solidFill>
              <a:srgbClr val="F5F8FD"/>
            </a:solidFill>
            <a:prstDash val="solid"/>
          </a:ln>
        </p:spPr>
      </p:sp>
      <p:sp>
        <p:nvSpPr>
          <p:cNvPr id="15" name="Shape 13"/>
          <p:cNvSpPr/>
          <p:nvPr/>
        </p:nvSpPr>
        <p:spPr>
          <a:xfrm>
            <a:off x="960120" y="5166360"/>
            <a:ext cx="502920" cy="502920"/>
          </a:xfrm>
          <a:prstGeom prst="ellipse">
            <a:avLst/>
          </a:prstGeom>
          <a:solidFill>
            <a:srgbClr val="326CE5"/>
          </a:solidFill>
          <a:ln/>
        </p:spPr>
      </p:sp>
      <p:sp>
        <p:nvSpPr>
          <p:cNvPr id="16" name="Text 14"/>
          <p:cNvSpPr/>
          <p:nvPr/>
        </p:nvSpPr>
        <p:spPr>
          <a:xfrm>
            <a:off x="960120" y="51663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1737360" y="5056632"/>
            <a:ext cx="9509760" cy="365760"/>
          </a:xfrm>
          <a:prstGeom prst="rect">
            <a:avLst/>
          </a:prstGeom>
          <a:noFill/>
          <a:ln/>
        </p:spPr>
        <p:txBody>
          <a:bodyPr wrap="square" lIns="0" tIns="0" rIns="0" bIns="0" rtlCol="0" anchor="ctr"/>
          <a:lstStyle/>
          <a:p>
            <a:pPr marL="0" indent="0">
              <a:buNone/>
            </a:pPr>
            <a:r>
              <a:rPr lang="en-US" sz="1800" b="1" dirty="0">
                <a:solidFill>
                  <a:srgbClr val="0F2350"/>
                </a:solidFill>
                <a:latin typeface="Meiryo" pitchFamily="34" charset="0"/>
                <a:ea typeface="Meiryo" pitchFamily="34" charset="-122"/>
                <a:cs typeface="Meiryo" pitchFamily="34" charset="-120"/>
              </a:rPr>
              <a:t>今日は話さないこと</a:t>
            </a:r>
            <a:endParaRPr lang="en-US" sz="1800" dirty="0"/>
          </a:p>
        </p:txBody>
      </p:sp>
      <p:sp>
        <p:nvSpPr>
          <p:cNvPr id="18" name="Text 16"/>
          <p:cNvSpPr/>
          <p:nvPr/>
        </p:nvSpPr>
        <p:spPr>
          <a:xfrm>
            <a:off x="1737360" y="5440680"/>
            <a:ext cx="9509760" cy="365760"/>
          </a:xfrm>
          <a:prstGeom prst="rect">
            <a:avLst/>
          </a:prstGeom>
          <a:noFill/>
          <a:ln/>
        </p:spPr>
        <p:txBody>
          <a:bodyPr wrap="square" lIns="0" tIns="0" rIns="0" bIns="0" rtlCol="0" anchor="ctr"/>
          <a:lstStyle/>
          <a:p>
            <a:pPr marL="0" indent="0">
              <a:buNone/>
            </a:pPr>
            <a:r>
              <a:rPr lang="en-US" sz="1400" dirty="0">
                <a:solidFill>
                  <a:srgbClr val="5D6B85"/>
                </a:solidFill>
                <a:latin typeface="Meiryo" pitchFamily="34" charset="0"/>
                <a:ea typeface="Meiryo" pitchFamily="34" charset="-122"/>
                <a:cs typeface="Meiryo" pitchFamily="34" charset="-120"/>
              </a:rPr>
              <a:t>YAMLの細かい書き方、個別リソースの詳細、コマンドの網羅的な解説</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Dockerの守備範囲</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前提：クライアントにWebサーバーを提供する。サービスとして止めずに動かし続けられるか</a:t>
            </a:r>
            <a:endParaRPr lang="en-US" sz="1350" dirty="0"/>
          </a:p>
        </p:txBody>
      </p:sp>
      <p:sp>
        <p:nvSpPr>
          <p:cNvPr id="4" name="Shape 2"/>
          <p:cNvSpPr/>
          <p:nvPr/>
        </p:nvSpPr>
        <p:spPr>
          <a:xfrm>
            <a:off x="640080" y="1783080"/>
            <a:ext cx="5257800" cy="4023360"/>
          </a:xfrm>
          <a:prstGeom prst="roundRect">
            <a:avLst>
              <a:gd name="adj" fmla="val 1364"/>
            </a:avLst>
          </a:prstGeom>
          <a:solidFill>
            <a:srgbClr val="F5F8FD"/>
          </a:solidFill>
          <a:ln w="12700">
            <a:solidFill>
              <a:srgbClr val="F5F8FD"/>
            </a:solidFill>
            <a:prstDash val="solid"/>
          </a:ln>
        </p:spPr>
        <p:txBody>
          <a:bodyPr/>
          <a:lstStyle/>
          <a:p>
            <a:endParaRPr lang="ja-JP" altLang="en-US"/>
          </a:p>
        </p:txBody>
      </p:sp>
      <p:sp>
        <p:nvSpPr>
          <p:cNvPr id="5" name="Text 3"/>
          <p:cNvSpPr/>
          <p:nvPr/>
        </p:nvSpPr>
        <p:spPr>
          <a:xfrm>
            <a:off x="960120" y="2011680"/>
            <a:ext cx="4663440" cy="411480"/>
          </a:xfrm>
          <a:prstGeom prst="rect">
            <a:avLst/>
          </a:prstGeom>
          <a:noFill/>
          <a:ln/>
        </p:spPr>
        <p:txBody>
          <a:bodyPr wrap="square" lIns="0" tIns="0" rIns="0" bIns="0" rtlCol="0" anchor="ctr"/>
          <a:lstStyle/>
          <a:p>
            <a:pPr marL="0" indent="0">
              <a:buNone/>
            </a:pPr>
            <a:r>
              <a:rPr lang="en-US" sz="2200" b="1" dirty="0">
                <a:solidFill>
                  <a:srgbClr val="0F2350"/>
                </a:solidFill>
                <a:latin typeface="Meiryo" pitchFamily="34" charset="0"/>
                <a:ea typeface="Meiryo" pitchFamily="34" charset="-122"/>
                <a:cs typeface="Meiryo" pitchFamily="34" charset="-120"/>
              </a:rPr>
              <a:t>Docker</a:t>
            </a:r>
            <a:endParaRPr lang="en-US" sz="2200" dirty="0"/>
          </a:p>
        </p:txBody>
      </p:sp>
      <p:sp>
        <p:nvSpPr>
          <p:cNvPr id="6" name="Text 4"/>
          <p:cNvSpPr/>
          <p:nvPr/>
        </p:nvSpPr>
        <p:spPr>
          <a:xfrm>
            <a:off x="960120" y="2468880"/>
            <a:ext cx="4663440" cy="685800"/>
          </a:xfrm>
          <a:prstGeom prst="rect">
            <a:avLst/>
          </a:prstGeom>
          <a:noFill/>
          <a:ln/>
        </p:spPr>
        <p:txBody>
          <a:bodyPr wrap="square" lIns="0" tIns="0" rIns="0" bIns="0" rtlCol="0" anchor="t"/>
          <a:lstStyle/>
          <a:p>
            <a:pPr marL="0" indent="0">
              <a:lnSpc>
                <a:spcPts val="2000"/>
              </a:lnSpc>
              <a:buNone/>
            </a:pPr>
            <a:r>
              <a:rPr lang="en-US" sz="1400" dirty="0">
                <a:solidFill>
                  <a:srgbClr val="1A2233"/>
                </a:solidFill>
                <a:latin typeface="Meiryo" pitchFamily="34" charset="0"/>
                <a:ea typeface="Meiryo" pitchFamily="34" charset="-122"/>
                <a:cs typeface="Meiryo" pitchFamily="34" charset="-120"/>
              </a:rPr>
              <a:t>1台のホスト（host）の上で、Webサーバーの</a:t>
            </a:r>
            <a:endParaRPr lang="en-US" sz="1400" dirty="0"/>
          </a:p>
          <a:p>
            <a:pPr marL="0" indent="0">
              <a:lnSpc>
                <a:spcPts val="2000"/>
              </a:lnSpc>
              <a:buNone/>
            </a:pPr>
            <a:r>
              <a:rPr lang="en-US" sz="1400" dirty="0">
                <a:solidFill>
                  <a:srgbClr val="1A2233"/>
                </a:solidFill>
                <a:latin typeface="Meiryo" pitchFamily="34" charset="0"/>
                <a:ea typeface="Meiryo" pitchFamily="34" charset="-122"/>
                <a:cs typeface="Meiryo" pitchFamily="34" charset="-120"/>
              </a:rPr>
              <a:t>コンテナ（container）を「どう動かすか」</a:t>
            </a:r>
            <a:endParaRPr lang="en-US" sz="1400" dirty="0"/>
          </a:p>
        </p:txBody>
      </p:sp>
      <p:sp>
        <p:nvSpPr>
          <p:cNvPr id="7" name="Shape 5"/>
          <p:cNvSpPr/>
          <p:nvPr/>
        </p:nvSpPr>
        <p:spPr>
          <a:xfrm>
            <a:off x="2331720" y="3291840"/>
            <a:ext cx="1874520" cy="1325880"/>
          </a:xfrm>
          <a:prstGeom prst="roundRect">
            <a:avLst>
              <a:gd name="adj" fmla="val 5517"/>
            </a:avLst>
          </a:prstGeom>
          <a:solidFill>
            <a:srgbClr val="FFFFFF"/>
          </a:solidFill>
          <a:ln w="15875">
            <a:solidFill>
              <a:srgbClr val="CFDEF8"/>
            </a:solidFill>
            <a:prstDash val="solid"/>
          </a:ln>
        </p:spPr>
        <p:txBody>
          <a:bodyPr/>
          <a:lstStyle/>
          <a:p>
            <a:endParaRPr lang="ja-JP" altLang="en-US"/>
          </a:p>
        </p:txBody>
      </p:sp>
      <p:sp>
        <p:nvSpPr>
          <p:cNvPr id="8" name="Shape 6"/>
          <p:cNvSpPr/>
          <p:nvPr/>
        </p:nvSpPr>
        <p:spPr>
          <a:xfrm>
            <a:off x="2496312" y="3708400"/>
            <a:ext cx="1545336" cy="274320"/>
          </a:xfrm>
          <a:prstGeom prst="roundRect">
            <a:avLst>
              <a:gd name="adj" fmla="val 33333"/>
            </a:avLst>
          </a:prstGeom>
          <a:solidFill>
            <a:srgbClr val="326CE5"/>
          </a:solidFill>
          <a:ln w="12700">
            <a:solidFill>
              <a:srgbClr val="326CE5"/>
            </a:solidFill>
            <a:prstDash val="solid"/>
          </a:ln>
        </p:spPr>
        <p:txBody>
          <a:bodyPr/>
          <a:lstStyle/>
          <a:p>
            <a:endParaRPr lang="ja-JP" altLang="en-US"/>
          </a:p>
        </p:txBody>
      </p:sp>
      <p:sp>
        <p:nvSpPr>
          <p:cNvPr id="9" name="Text 7"/>
          <p:cNvSpPr/>
          <p:nvPr/>
        </p:nvSpPr>
        <p:spPr>
          <a:xfrm>
            <a:off x="2496312" y="3708400"/>
            <a:ext cx="154533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container</a:t>
            </a:r>
            <a:endParaRPr lang="en-US" sz="900" dirty="0"/>
          </a:p>
        </p:txBody>
      </p:sp>
      <p:sp>
        <p:nvSpPr>
          <p:cNvPr id="12" name="Text 10"/>
          <p:cNvSpPr/>
          <p:nvPr/>
        </p:nvSpPr>
        <p:spPr>
          <a:xfrm>
            <a:off x="2331720" y="4306824"/>
            <a:ext cx="187452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host（1台）</a:t>
            </a:r>
            <a:endParaRPr lang="en-US" sz="900" dirty="0"/>
          </a:p>
        </p:txBody>
      </p:sp>
      <p:sp>
        <p:nvSpPr>
          <p:cNvPr id="13" name="Text 11"/>
          <p:cNvSpPr/>
          <p:nvPr/>
        </p:nvSpPr>
        <p:spPr>
          <a:xfrm>
            <a:off x="960120" y="4800600"/>
            <a:ext cx="4663440" cy="685800"/>
          </a:xfrm>
          <a:prstGeom prst="rect">
            <a:avLst/>
          </a:prstGeom>
          <a:noFill/>
          <a:ln/>
        </p:spPr>
        <p:txBody>
          <a:bodyPr wrap="square" lIns="0" tIns="0" rIns="0" bIns="0" rtlCol="0" anchor="t"/>
          <a:lstStyle/>
          <a:p>
            <a:pPr marL="0" indent="0">
              <a:lnSpc>
                <a:spcPts val="1900"/>
              </a:lnSpc>
              <a:buNone/>
            </a:pPr>
            <a:r>
              <a:rPr lang="en-US" sz="1300" dirty="0">
                <a:solidFill>
                  <a:srgbClr val="5D6B85"/>
                </a:solidFill>
                <a:latin typeface="Meiryo" pitchFamily="34" charset="0"/>
                <a:ea typeface="Meiryo" pitchFamily="34" charset="-122"/>
                <a:cs typeface="Meiryo" pitchFamily="34" charset="-120"/>
              </a:rPr>
              <a:t>docker run した瞬間は動く。1台なので、</a:t>
            </a:r>
            <a:endParaRPr lang="en-US" sz="1300" dirty="0"/>
          </a:p>
          <a:p>
            <a:pPr marL="0" indent="0">
              <a:lnSpc>
                <a:spcPts val="1900"/>
              </a:lnSpc>
              <a:buNone/>
            </a:pPr>
            <a:r>
              <a:rPr lang="en-US" sz="1300" dirty="0">
                <a:solidFill>
                  <a:srgbClr val="5D6B85"/>
                </a:solidFill>
                <a:latin typeface="Meiryo" pitchFamily="34" charset="0"/>
                <a:ea typeface="Meiryo" pitchFamily="34" charset="-122"/>
                <a:cs typeface="Meiryo" pitchFamily="34" charset="-120"/>
              </a:rPr>
              <a:t>落ちればサービスはそのまま止まる。</a:t>
            </a:r>
            <a:endParaRPr lang="en-US" sz="1300" dirty="0"/>
          </a:p>
        </p:txBody>
      </p:sp>
      <p:sp>
        <p:nvSpPr>
          <p:cNvPr id="14" name="Text 12"/>
          <p:cNvSpPr/>
          <p:nvPr/>
        </p:nvSpPr>
        <p:spPr>
          <a:xfrm>
            <a:off x="5989320" y="3566160"/>
            <a:ext cx="59436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5" name="Shape 13"/>
          <p:cNvSpPr/>
          <p:nvPr/>
        </p:nvSpPr>
        <p:spPr>
          <a:xfrm>
            <a:off x="6629400" y="1783080"/>
            <a:ext cx="4892040" cy="4023360"/>
          </a:xfrm>
          <a:prstGeom prst="roundRect">
            <a:avLst>
              <a:gd name="adj" fmla="val 1364"/>
            </a:avLst>
          </a:prstGeom>
          <a:solidFill>
            <a:srgbClr val="E8EEF9"/>
          </a:solidFill>
          <a:ln w="12700">
            <a:solidFill>
              <a:srgbClr val="E8EEF9"/>
            </a:solidFill>
            <a:prstDash val="solid"/>
          </a:ln>
        </p:spPr>
        <p:txBody>
          <a:bodyPr/>
          <a:lstStyle/>
          <a:p>
            <a:endParaRPr lang="ja-JP" altLang="en-US"/>
          </a:p>
        </p:txBody>
      </p:sp>
      <p:sp>
        <p:nvSpPr>
          <p:cNvPr id="16" name="Text 14"/>
          <p:cNvSpPr/>
          <p:nvPr/>
        </p:nvSpPr>
        <p:spPr>
          <a:xfrm>
            <a:off x="6949440" y="2011680"/>
            <a:ext cx="4251960" cy="411480"/>
          </a:xfrm>
          <a:prstGeom prst="rect">
            <a:avLst/>
          </a:prstGeom>
          <a:noFill/>
          <a:ln/>
        </p:spPr>
        <p:txBody>
          <a:bodyPr wrap="square" lIns="0" tIns="0" rIns="0" bIns="0" rtlCol="0" anchor="ctr"/>
          <a:lstStyle/>
          <a:p>
            <a:pPr marL="0" indent="0">
              <a:buNone/>
            </a:pPr>
            <a:r>
              <a:rPr lang="en-US" sz="2200" b="1" dirty="0">
                <a:solidFill>
                  <a:srgbClr val="326CE5"/>
                </a:solidFill>
                <a:latin typeface="Meiryo" pitchFamily="34" charset="0"/>
                <a:ea typeface="Meiryo" pitchFamily="34" charset="-122"/>
                <a:cs typeface="Meiryo" pitchFamily="34" charset="-120"/>
              </a:rPr>
              <a:t>Kubernetes</a:t>
            </a:r>
            <a:endParaRPr lang="en-US" sz="2200" dirty="0"/>
          </a:p>
        </p:txBody>
      </p:sp>
      <p:sp>
        <p:nvSpPr>
          <p:cNvPr id="17" name="Text 15"/>
          <p:cNvSpPr/>
          <p:nvPr/>
        </p:nvSpPr>
        <p:spPr>
          <a:xfrm>
            <a:off x="6949440" y="2468880"/>
            <a:ext cx="4251960" cy="685800"/>
          </a:xfrm>
          <a:prstGeom prst="rect">
            <a:avLst/>
          </a:prstGeom>
          <a:noFill/>
          <a:ln/>
        </p:spPr>
        <p:txBody>
          <a:bodyPr wrap="square" lIns="0" tIns="0" rIns="0" bIns="0" rtlCol="0" anchor="t"/>
          <a:lstStyle/>
          <a:p>
            <a:pPr marL="0" indent="0">
              <a:lnSpc>
                <a:spcPts val="2000"/>
              </a:lnSpc>
              <a:buNone/>
            </a:pPr>
            <a:r>
              <a:rPr lang="en-US" sz="1400" b="1" dirty="0" err="1">
                <a:solidFill>
                  <a:srgbClr val="0F2350"/>
                </a:solidFill>
                <a:latin typeface="Meiryo" pitchFamily="34" charset="0"/>
                <a:ea typeface="Meiryo" pitchFamily="34" charset="-122"/>
                <a:cs typeface="Meiryo" pitchFamily="34" charset="-120"/>
              </a:rPr>
              <a:t>複数台のホスト（node）に同じPodを</a:t>
            </a:r>
            <a:r>
              <a:rPr lang="ja-JP" altLang="en-US" sz="1400" b="1" dirty="0">
                <a:solidFill>
                  <a:srgbClr val="0F2350"/>
                </a:solidFill>
                <a:latin typeface="Meiryo" pitchFamily="34" charset="0"/>
                <a:ea typeface="Meiryo" pitchFamily="34" charset="-122"/>
                <a:cs typeface="Meiryo" pitchFamily="34" charset="-120"/>
              </a:rPr>
              <a:t>配置し</a:t>
            </a:r>
            <a:r>
              <a:rPr lang="en-US" sz="1400" b="1" dirty="0">
                <a:solidFill>
                  <a:srgbClr val="0F2350"/>
                </a:solidFill>
                <a:latin typeface="Meiryo" pitchFamily="34" charset="0"/>
                <a:ea typeface="Meiryo" pitchFamily="34" charset="-122"/>
                <a:cs typeface="Meiryo" pitchFamily="34" charset="-120"/>
              </a:rPr>
              <a:t>、</a:t>
            </a:r>
            <a:endParaRPr lang="en-US" sz="1400" dirty="0"/>
          </a:p>
          <a:p>
            <a:pPr marL="0" indent="0">
              <a:lnSpc>
                <a:spcPts val="2000"/>
              </a:lnSpc>
              <a:buNone/>
            </a:pPr>
            <a:r>
              <a:rPr lang="en-US" sz="1400" b="1" dirty="0">
                <a:solidFill>
                  <a:srgbClr val="0F2350"/>
                </a:solidFill>
                <a:latin typeface="Meiryo" pitchFamily="34" charset="0"/>
                <a:ea typeface="Meiryo" pitchFamily="34" charset="-122"/>
                <a:cs typeface="Meiryo" pitchFamily="34" charset="-120"/>
              </a:rPr>
              <a:t>冗長化して「どう動かし続けるか」</a:t>
            </a:r>
            <a:endParaRPr lang="en-US" sz="1400" dirty="0"/>
          </a:p>
        </p:txBody>
      </p:sp>
      <p:sp>
        <p:nvSpPr>
          <p:cNvPr id="18" name="Shape 16"/>
          <p:cNvSpPr/>
          <p:nvPr/>
        </p:nvSpPr>
        <p:spPr>
          <a:xfrm>
            <a:off x="7086600" y="3291840"/>
            <a:ext cx="1280160" cy="1325880"/>
          </a:xfrm>
          <a:prstGeom prst="roundRect">
            <a:avLst>
              <a:gd name="adj" fmla="val 5714"/>
            </a:avLst>
          </a:prstGeom>
          <a:solidFill>
            <a:srgbClr val="FFFFFF"/>
          </a:solidFill>
          <a:ln w="15875">
            <a:solidFill>
              <a:srgbClr val="CFDEF8"/>
            </a:solidFill>
            <a:prstDash val="solid"/>
          </a:ln>
        </p:spPr>
        <p:txBody>
          <a:bodyPr/>
          <a:lstStyle/>
          <a:p>
            <a:endParaRPr lang="ja-JP" altLang="en-US"/>
          </a:p>
        </p:txBody>
      </p:sp>
      <p:sp>
        <p:nvSpPr>
          <p:cNvPr id="19" name="Shape 17"/>
          <p:cNvSpPr/>
          <p:nvPr/>
        </p:nvSpPr>
        <p:spPr>
          <a:xfrm>
            <a:off x="7251192" y="3708400"/>
            <a:ext cx="950976" cy="274320"/>
          </a:xfrm>
          <a:prstGeom prst="roundRect">
            <a:avLst>
              <a:gd name="adj" fmla="val 33333"/>
            </a:avLst>
          </a:prstGeom>
          <a:solidFill>
            <a:srgbClr val="326CE5"/>
          </a:solidFill>
          <a:ln w="12700">
            <a:solidFill>
              <a:srgbClr val="326CE5"/>
            </a:solidFill>
            <a:prstDash val="solid"/>
          </a:ln>
        </p:spPr>
        <p:txBody>
          <a:bodyPr/>
          <a:lstStyle/>
          <a:p>
            <a:endParaRPr lang="ja-JP" altLang="en-US"/>
          </a:p>
        </p:txBody>
      </p:sp>
      <p:sp>
        <p:nvSpPr>
          <p:cNvPr id="20" name="Text 18"/>
          <p:cNvSpPr/>
          <p:nvPr/>
        </p:nvSpPr>
        <p:spPr>
          <a:xfrm>
            <a:off x="7251192" y="3708400"/>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3" name="Text 21"/>
          <p:cNvSpPr/>
          <p:nvPr/>
        </p:nvSpPr>
        <p:spPr>
          <a:xfrm>
            <a:off x="708660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24" name="Shape 22"/>
          <p:cNvSpPr/>
          <p:nvPr/>
        </p:nvSpPr>
        <p:spPr>
          <a:xfrm>
            <a:off x="8503920" y="3291840"/>
            <a:ext cx="1280160" cy="1325880"/>
          </a:xfrm>
          <a:prstGeom prst="roundRect">
            <a:avLst>
              <a:gd name="adj" fmla="val 5714"/>
            </a:avLst>
          </a:prstGeom>
          <a:solidFill>
            <a:srgbClr val="FFFFFF"/>
          </a:solidFill>
          <a:ln w="15875">
            <a:solidFill>
              <a:srgbClr val="CFDEF8"/>
            </a:solidFill>
            <a:prstDash val="solid"/>
          </a:ln>
        </p:spPr>
        <p:txBody>
          <a:bodyPr/>
          <a:lstStyle/>
          <a:p>
            <a:endParaRPr lang="ja-JP" altLang="en-US"/>
          </a:p>
        </p:txBody>
      </p:sp>
      <p:sp>
        <p:nvSpPr>
          <p:cNvPr id="25" name="Shape 23"/>
          <p:cNvSpPr/>
          <p:nvPr/>
        </p:nvSpPr>
        <p:spPr>
          <a:xfrm>
            <a:off x="8668512" y="3708400"/>
            <a:ext cx="950976" cy="274320"/>
          </a:xfrm>
          <a:prstGeom prst="roundRect">
            <a:avLst>
              <a:gd name="adj" fmla="val 33333"/>
            </a:avLst>
          </a:prstGeom>
          <a:solidFill>
            <a:srgbClr val="326CE5"/>
          </a:solidFill>
          <a:ln w="12700">
            <a:solidFill>
              <a:srgbClr val="326CE5"/>
            </a:solidFill>
            <a:prstDash val="solid"/>
          </a:ln>
        </p:spPr>
        <p:txBody>
          <a:bodyPr/>
          <a:lstStyle/>
          <a:p>
            <a:endParaRPr lang="ja-JP" altLang="en-US"/>
          </a:p>
        </p:txBody>
      </p:sp>
      <p:sp>
        <p:nvSpPr>
          <p:cNvPr id="26" name="Text 24"/>
          <p:cNvSpPr/>
          <p:nvPr/>
        </p:nvSpPr>
        <p:spPr>
          <a:xfrm>
            <a:off x="8668512" y="3708400"/>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9" name="Text 27"/>
          <p:cNvSpPr/>
          <p:nvPr/>
        </p:nvSpPr>
        <p:spPr>
          <a:xfrm>
            <a:off x="850392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30" name="Shape 28"/>
          <p:cNvSpPr/>
          <p:nvPr/>
        </p:nvSpPr>
        <p:spPr>
          <a:xfrm>
            <a:off x="9921240" y="3291840"/>
            <a:ext cx="1280160" cy="1325880"/>
          </a:xfrm>
          <a:prstGeom prst="roundRect">
            <a:avLst>
              <a:gd name="adj" fmla="val 5714"/>
            </a:avLst>
          </a:prstGeom>
          <a:solidFill>
            <a:srgbClr val="FFFFFF"/>
          </a:solidFill>
          <a:ln w="15875">
            <a:solidFill>
              <a:srgbClr val="CFDEF8"/>
            </a:solidFill>
            <a:prstDash val="solid"/>
          </a:ln>
        </p:spPr>
        <p:txBody>
          <a:bodyPr/>
          <a:lstStyle/>
          <a:p>
            <a:endParaRPr lang="ja-JP" altLang="en-US"/>
          </a:p>
        </p:txBody>
      </p:sp>
      <p:sp>
        <p:nvSpPr>
          <p:cNvPr id="31" name="Shape 29"/>
          <p:cNvSpPr/>
          <p:nvPr/>
        </p:nvSpPr>
        <p:spPr>
          <a:xfrm>
            <a:off x="10085832" y="3708400"/>
            <a:ext cx="950976" cy="274320"/>
          </a:xfrm>
          <a:prstGeom prst="roundRect">
            <a:avLst>
              <a:gd name="adj" fmla="val 33333"/>
            </a:avLst>
          </a:prstGeom>
          <a:solidFill>
            <a:srgbClr val="326CE5"/>
          </a:solidFill>
          <a:ln w="12700">
            <a:solidFill>
              <a:srgbClr val="326CE5"/>
            </a:solidFill>
            <a:prstDash val="solid"/>
          </a:ln>
        </p:spPr>
        <p:txBody>
          <a:bodyPr/>
          <a:lstStyle/>
          <a:p>
            <a:endParaRPr lang="ja-JP" altLang="en-US"/>
          </a:p>
        </p:txBody>
      </p:sp>
      <p:sp>
        <p:nvSpPr>
          <p:cNvPr id="32" name="Text 30"/>
          <p:cNvSpPr/>
          <p:nvPr/>
        </p:nvSpPr>
        <p:spPr>
          <a:xfrm>
            <a:off x="10085832" y="3708400"/>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5" name="Text 33"/>
          <p:cNvSpPr/>
          <p:nvPr/>
        </p:nvSpPr>
        <p:spPr>
          <a:xfrm>
            <a:off x="9921240" y="430682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a:t>
            </a:r>
            <a:endParaRPr lang="en-US" sz="900" dirty="0"/>
          </a:p>
        </p:txBody>
      </p:sp>
      <p:sp>
        <p:nvSpPr>
          <p:cNvPr id="36" name="Text 34"/>
          <p:cNvSpPr/>
          <p:nvPr/>
        </p:nvSpPr>
        <p:spPr>
          <a:xfrm>
            <a:off x="6949440" y="4800600"/>
            <a:ext cx="4251960" cy="685800"/>
          </a:xfrm>
          <a:prstGeom prst="rect">
            <a:avLst/>
          </a:prstGeom>
          <a:noFill/>
          <a:ln/>
        </p:spPr>
        <p:txBody>
          <a:bodyPr wrap="square" lIns="0" tIns="0" rIns="0" bIns="0" rtlCol="0" anchor="t"/>
          <a:lstStyle/>
          <a:p>
            <a:pPr marL="0" indent="0">
              <a:lnSpc>
                <a:spcPts val="1900"/>
              </a:lnSpc>
              <a:buNone/>
            </a:pPr>
            <a:r>
              <a:rPr lang="en-US" sz="1300" dirty="0">
                <a:solidFill>
                  <a:srgbClr val="0F2350"/>
                </a:solidFill>
                <a:latin typeface="Meiryo" pitchFamily="34" charset="0"/>
                <a:ea typeface="Meiryo" pitchFamily="34" charset="-122"/>
                <a:cs typeface="Meiryo" pitchFamily="34" charset="-120"/>
              </a:rPr>
              <a:t>1つ落ちても他のPodが受ける。混んだら増やす。</a:t>
            </a:r>
            <a:endParaRPr lang="en-US" sz="1300" dirty="0"/>
          </a:p>
          <a:p>
            <a:pPr marL="0" indent="0">
              <a:lnSpc>
                <a:spcPts val="1900"/>
              </a:lnSpc>
              <a:buNone/>
            </a:pPr>
            <a:r>
              <a:rPr lang="en-US" sz="1300" dirty="0">
                <a:solidFill>
                  <a:srgbClr val="0F2350"/>
                </a:solidFill>
                <a:latin typeface="Meiryo" pitchFamily="34" charset="0"/>
                <a:ea typeface="Meiryo" pitchFamily="34" charset="-122"/>
                <a:cs typeface="Meiryo" pitchFamily="34" charset="-120"/>
              </a:rPr>
              <a:t>── 今日の話はここから先。</a:t>
            </a:r>
            <a:endParaRPr lang="en-US" sz="1300" dirty="0"/>
          </a:p>
        </p:txBody>
      </p:sp>
      <p:sp>
        <p:nvSpPr>
          <p:cNvPr id="120" name="Text Mapping"/>
          <p:cNvSpPr txBox="1"/>
          <p:nvPr/>
        </p:nvSpPr>
        <p:spPr>
          <a:xfrm>
            <a:off x="635000" y="6019800"/>
            <a:ext cx="10883900" cy="330200"/>
          </a:xfrm>
          <a:prstGeom prst="rect">
            <a:avLst/>
          </a:prstGeom>
          <a:noFill/>
        </p:spPr>
        <p:txBody>
          <a:bodyPr wrap="square" lIns="0" tIns="0" rIns="0" bIns="0" anchor="ctr">
            <a:noAutofit/>
          </a:bodyPr>
          <a:lstStyle/>
          <a:p>
            <a:pPr marL="0" indent="0">
              <a:buNone/>
            </a:pPr>
            <a:r>
              <a:rPr lang="en-US" sz="1200" dirty="0">
                <a:solidFill>
                  <a:srgbClr val="5D6B85"/>
                </a:solidFill>
                <a:latin typeface="Meiryo" pitchFamily="34" charset="0"/>
                <a:ea typeface="Meiryo" pitchFamily="34" charset="-122"/>
                <a:cs typeface="Meiryo" pitchFamily="34" charset="-120"/>
              </a:rPr>
              <a:t>用語の対応： container → Pod（1つ以上のコンテナをまとめた最小実行単位） ／ host → node</a:t>
            </a:r>
          </a:p>
        </p:txBody>
      </p:sp>
    </p:spTree>
    <p:extLst>
      <p:ext uri="{BB962C8B-B14F-4D97-AF65-F5344CB8AC3E}">
        <p14:creationId xmlns:p14="http://schemas.microsoft.com/office/powerpoint/2010/main" val="4050343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K8sが生まれた背景</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何が課題だったのか ── Google社内基盤「Borg」の系譜</a:t>
            </a:r>
            <a:endParaRPr lang="en-US" sz="1350" dirty="0"/>
          </a:p>
        </p:txBody>
      </p:sp>
      <p:sp>
        <p:nvSpPr>
          <p:cNvPr id="4" name="Shape 2"/>
          <p:cNvSpPr/>
          <p:nvPr/>
        </p:nvSpPr>
        <p:spPr>
          <a:xfrm>
            <a:off x="640080" y="1783080"/>
            <a:ext cx="3794760" cy="4023360"/>
          </a:xfrm>
          <a:prstGeom prst="roundRect">
            <a:avLst>
              <a:gd name="adj" fmla="val 1446"/>
            </a:avLst>
          </a:prstGeom>
          <a:solidFill>
            <a:srgbClr val="0F2350"/>
          </a:solidFill>
          <a:ln w="12700">
            <a:solidFill>
              <a:srgbClr val="0F2350"/>
            </a:solidFill>
            <a:prstDash val="solid"/>
          </a:ln>
        </p:spPr>
      </p:sp>
      <p:sp>
        <p:nvSpPr>
          <p:cNvPr id="5" name="Text 3"/>
          <p:cNvSpPr/>
          <p:nvPr/>
        </p:nvSpPr>
        <p:spPr>
          <a:xfrm>
            <a:off x="914400" y="2148840"/>
            <a:ext cx="3246120" cy="822960"/>
          </a:xfrm>
          <a:prstGeom prst="rect">
            <a:avLst/>
          </a:prstGeom>
          <a:noFill/>
          <a:ln/>
        </p:spPr>
        <p:txBody>
          <a:bodyPr wrap="square" lIns="0" tIns="0" rIns="0" bIns="0" rtlCol="0" anchor="ctr"/>
          <a:lstStyle/>
          <a:p>
            <a:pPr marL="0" indent="0">
              <a:buNone/>
            </a:pPr>
            <a:r>
              <a:rPr lang="en-US" sz="4400" b="1" dirty="0">
                <a:solidFill>
                  <a:srgbClr val="FFFFFF"/>
                </a:solidFill>
                <a:latin typeface="Meiryo" pitchFamily="34" charset="0"/>
                <a:ea typeface="Meiryo" pitchFamily="34" charset="-122"/>
                <a:cs typeface="Meiryo" pitchFamily="34" charset="-120"/>
              </a:rPr>
              <a:t>Borg</a:t>
            </a:r>
            <a:endParaRPr lang="en-US" sz="4400" dirty="0"/>
          </a:p>
        </p:txBody>
      </p:sp>
      <p:sp>
        <p:nvSpPr>
          <p:cNvPr id="6" name="Text 4"/>
          <p:cNvSpPr/>
          <p:nvPr/>
        </p:nvSpPr>
        <p:spPr>
          <a:xfrm>
            <a:off x="914400" y="3017520"/>
            <a:ext cx="3246120" cy="731520"/>
          </a:xfrm>
          <a:prstGeom prst="rect">
            <a:avLst/>
          </a:prstGeom>
          <a:noFill/>
          <a:ln/>
        </p:spPr>
        <p:txBody>
          <a:bodyPr wrap="square" lIns="0" tIns="0" rIns="0" bIns="0" rtlCol="0" anchor="t"/>
          <a:lstStyle/>
          <a:p>
            <a:pPr marL="0" indent="0">
              <a:lnSpc>
                <a:spcPts val="1900"/>
              </a:lnSpc>
              <a:buNone/>
            </a:pPr>
            <a:r>
              <a:rPr lang="en-US" sz="1300" dirty="0">
                <a:solidFill>
                  <a:srgbClr val="CFDEF8"/>
                </a:solidFill>
                <a:latin typeface="Meiryo" pitchFamily="34" charset="0"/>
                <a:ea typeface="Meiryo" pitchFamily="34" charset="-122"/>
                <a:cs typeface="Meiryo" pitchFamily="34" charset="-120"/>
              </a:rPr>
              <a:t>Kubernetesの原型となった</a:t>
            </a:r>
            <a:endParaRPr lang="en-US" sz="1300" dirty="0"/>
          </a:p>
          <a:p>
            <a:pPr marL="0" indent="0">
              <a:lnSpc>
                <a:spcPts val="1900"/>
              </a:lnSpc>
              <a:buNone/>
            </a:pPr>
            <a:r>
              <a:rPr lang="en-US" sz="1300" dirty="0">
                <a:solidFill>
                  <a:srgbClr val="CFDEF8"/>
                </a:solidFill>
                <a:latin typeface="Meiryo" pitchFamily="34" charset="0"/>
                <a:ea typeface="Meiryo" pitchFamily="34" charset="-122"/>
                <a:cs typeface="Meiryo" pitchFamily="34" charset="-120"/>
              </a:rPr>
              <a:t>Google社内のクラスタ管理基盤</a:t>
            </a:r>
            <a:endParaRPr lang="en-US" sz="1300" dirty="0"/>
          </a:p>
        </p:txBody>
      </p:sp>
      <p:sp>
        <p:nvSpPr>
          <p:cNvPr id="7" name="Text 5"/>
          <p:cNvSpPr/>
          <p:nvPr/>
        </p:nvSpPr>
        <p:spPr>
          <a:xfrm>
            <a:off x="914400" y="4160520"/>
            <a:ext cx="3246120" cy="548640"/>
          </a:xfrm>
          <a:prstGeom prst="rect">
            <a:avLst/>
          </a:prstGeom>
          <a:noFill/>
          <a:ln/>
        </p:spPr>
        <p:txBody>
          <a:bodyPr wrap="square" lIns="0" tIns="0" rIns="0" bIns="0" rtlCol="0" anchor="ctr"/>
          <a:lstStyle/>
          <a:p>
            <a:pPr marL="0" indent="0">
              <a:buNone/>
            </a:pPr>
            <a:r>
              <a:rPr lang="en-US" sz="3000" b="1" dirty="0">
                <a:solidFill>
                  <a:srgbClr val="326CE5"/>
                </a:solidFill>
                <a:latin typeface="Meiryo" pitchFamily="34" charset="0"/>
                <a:ea typeface="Meiryo" pitchFamily="34" charset="-122"/>
                <a:cs typeface="Meiryo" pitchFamily="34" charset="-120"/>
              </a:rPr>
              <a:t>2015</a:t>
            </a:r>
            <a:endParaRPr lang="en-US" sz="3000" dirty="0"/>
          </a:p>
        </p:txBody>
      </p:sp>
      <p:sp>
        <p:nvSpPr>
          <p:cNvPr id="8" name="Text 6"/>
          <p:cNvSpPr/>
          <p:nvPr/>
        </p:nvSpPr>
        <p:spPr>
          <a:xfrm>
            <a:off x="914400" y="4709160"/>
            <a:ext cx="3246120" cy="320040"/>
          </a:xfrm>
          <a:prstGeom prst="rect">
            <a:avLst/>
          </a:prstGeom>
          <a:noFill/>
          <a:ln/>
        </p:spPr>
        <p:txBody>
          <a:bodyPr wrap="square" lIns="0" tIns="0" rIns="0" bIns="0" rtlCol="0" anchor="ctr"/>
          <a:lstStyle/>
          <a:p>
            <a:pPr marL="0" indent="0">
              <a:buNone/>
            </a:pPr>
            <a:r>
              <a:rPr lang="en-US" sz="1200" dirty="0">
                <a:solidFill>
                  <a:srgbClr val="CFDEF8"/>
                </a:solidFill>
                <a:latin typeface="Meiryo" pitchFamily="34" charset="0"/>
                <a:ea typeface="Meiryo" pitchFamily="34" charset="-122"/>
                <a:cs typeface="Meiryo" pitchFamily="34" charset="-120"/>
              </a:rPr>
              <a:t>論文が公開された年</a:t>
            </a:r>
            <a:endParaRPr lang="en-US" sz="1200" dirty="0"/>
          </a:p>
        </p:txBody>
      </p:sp>
      <p:sp>
        <p:nvSpPr>
          <p:cNvPr id="9" name="Shape 7"/>
          <p:cNvSpPr/>
          <p:nvPr/>
        </p:nvSpPr>
        <p:spPr>
          <a:xfrm>
            <a:off x="4800600" y="1783080"/>
            <a:ext cx="6720840" cy="868680"/>
          </a:xfrm>
          <a:prstGeom prst="roundRect">
            <a:avLst>
              <a:gd name="adj" fmla="val 6316"/>
            </a:avLst>
          </a:prstGeom>
          <a:solidFill>
            <a:srgbClr val="F5F8FD"/>
          </a:solidFill>
          <a:ln w="12700">
            <a:solidFill>
              <a:srgbClr val="F5F8FD"/>
            </a:solidFill>
            <a:prstDash val="solid"/>
          </a:ln>
        </p:spPr>
      </p:sp>
      <p:sp>
        <p:nvSpPr>
          <p:cNvPr id="10" name="Shape 8"/>
          <p:cNvSpPr/>
          <p:nvPr/>
        </p:nvSpPr>
        <p:spPr>
          <a:xfrm>
            <a:off x="5074920" y="1984248"/>
            <a:ext cx="457200" cy="457200"/>
          </a:xfrm>
          <a:prstGeom prst="ellipse">
            <a:avLst/>
          </a:prstGeom>
          <a:solidFill>
            <a:srgbClr val="326CE5"/>
          </a:solidFill>
          <a:ln/>
        </p:spPr>
      </p:sp>
      <p:sp>
        <p:nvSpPr>
          <p:cNvPr id="11" name="Text 9"/>
          <p:cNvSpPr/>
          <p:nvPr/>
        </p:nvSpPr>
        <p:spPr>
          <a:xfrm>
            <a:off x="5074920" y="198424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10"/>
          <p:cNvSpPr/>
          <p:nvPr/>
        </p:nvSpPr>
        <p:spPr>
          <a:xfrm>
            <a:off x="5715000" y="178308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大量のサービスを、大量の安価なマシン群の上で動かす必要があった</a:t>
            </a:r>
            <a:endParaRPr lang="en-US" sz="1400" dirty="0"/>
          </a:p>
        </p:txBody>
      </p:sp>
      <p:sp>
        <p:nvSpPr>
          <p:cNvPr id="13" name="Shape 11"/>
          <p:cNvSpPr/>
          <p:nvPr/>
        </p:nvSpPr>
        <p:spPr>
          <a:xfrm>
            <a:off x="4800600" y="2834640"/>
            <a:ext cx="6720840" cy="868680"/>
          </a:xfrm>
          <a:prstGeom prst="roundRect">
            <a:avLst>
              <a:gd name="adj" fmla="val 6316"/>
            </a:avLst>
          </a:prstGeom>
          <a:solidFill>
            <a:srgbClr val="F5F8FD"/>
          </a:solidFill>
          <a:ln w="12700">
            <a:solidFill>
              <a:srgbClr val="F5F8FD"/>
            </a:solidFill>
            <a:prstDash val="solid"/>
          </a:ln>
        </p:spPr>
      </p:sp>
      <p:sp>
        <p:nvSpPr>
          <p:cNvPr id="14" name="Shape 12"/>
          <p:cNvSpPr/>
          <p:nvPr/>
        </p:nvSpPr>
        <p:spPr>
          <a:xfrm>
            <a:off x="5074920" y="3035808"/>
            <a:ext cx="457200" cy="457200"/>
          </a:xfrm>
          <a:prstGeom prst="ellipse">
            <a:avLst/>
          </a:prstGeom>
          <a:solidFill>
            <a:srgbClr val="326CE5"/>
          </a:solidFill>
          <a:ln/>
        </p:spPr>
      </p:sp>
      <p:sp>
        <p:nvSpPr>
          <p:cNvPr id="15" name="Text 13"/>
          <p:cNvSpPr/>
          <p:nvPr/>
        </p:nvSpPr>
        <p:spPr>
          <a:xfrm>
            <a:off x="5074920" y="303580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4"/>
          <p:cNvSpPr/>
          <p:nvPr/>
        </p:nvSpPr>
        <p:spPr>
          <a:xfrm>
            <a:off x="5715000" y="283464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1台1台に高い堅牢性・保守性を求めるのは、コスト的に非現実的</a:t>
            </a:r>
            <a:endParaRPr lang="en-US" sz="1400" dirty="0"/>
          </a:p>
        </p:txBody>
      </p:sp>
      <p:sp>
        <p:nvSpPr>
          <p:cNvPr id="17" name="Shape 15"/>
          <p:cNvSpPr/>
          <p:nvPr/>
        </p:nvSpPr>
        <p:spPr>
          <a:xfrm>
            <a:off x="4800600" y="3886200"/>
            <a:ext cx="6720840" cy="868680"/>
          </a:xfrm>
          <a:prstGeom prst="roundRect">
            <a:avLst>
              <a:gd name="adj" fmla="val 6316"/>
            </a:avLst>
          </a:prstGeom>
          <a:solidFill>
            <a:srgbClr val="F5F8FD"/>
          </a:solidFill>
          <a:ln w="12700">
            <a:solidFill>
              <a:srgbClr val="F5F8FD"/>
            </a:solidFill>
            <a:prstDash val="solid"/>
          </a:ln>
        </p:spPr>
      </p:sp>
      <p:sp>
        <p:nvSpPr>
          <p:cNvPr id="18" name="Shape 16"/>
          <p:cNvSpPr/>
          <p:nvPr/>
        </p:nvSpPr>
        <p:spPr>
          <a:xfrm>
            <a:off x="5074920" y="4087368"/>
            <a:ext cx="457200" cy="457200"/>
          </a:xfrm>
          <a:prstGeom prst="ellipse">
            <a:avLst/>
          </a:prstGeom>
          <a:solidFill>
            <a:srgbClr val="326CE5"/>
          </a:solidFill>
          <a:ln/>
        </p:spPr>
      </p:sp>
      <p:sp>
        <p:nvSpPr>
          <p:cNvPr id="19" name="Text 17"/>
          <p:cNvSpPr/>
          <p:nvPr/>
        </p:nvSpPr>
        <p:spPr>
          <a:xfrm>
            <a:off x="5074920" y="40873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8"/>
          <p:cNvSpPr/>
          <p:nvPr/>
        </p:nvSpPr>
        <p:spPr>
          <a:xfrm>
            <a:off x="5715000" y="3886200"/>
            <a:ext cx="5577840" cy="868680"/>
          </a:xfrm>
          <a:prstGeom prst="rect">
            <a:avLst/>
          </a:prstGeom>
          <a:noFill/>
          <a:ln/>
        </p:spPr>
        <p:txBody>
          <a:bodyPr wrap="square" lIns="0" tIns="0" rIns="0" bIns="0" rtlCol="0" anchor="ctr"/>
          <a:lstStyle/>
          <a:p>
            <a:pPr marL="0" indent="0">
              <a:buNone/>
            </a:pPr>
            <a:r>
              <a:rPr lang="en-US" sz="1400" dirty="0">
                <a:solidFill>
                  <a:srgbClr val="1A2233"/>
                </a:solidFill>
                <a:latin typeface="Meiryo" pitchFamily="34" charset="0"/>
                <a:ea typeface="Meiryo" pitchFamily="34" charset="-122"/>
                <a:cs typeface="Meiryo" pitchFamily="34" charset="-120"/>
              </a:rPr>
              <a:t>サービスの需要は絶えず増減する → 台数を柔軟に増減させたい</a:t>
            </a:r>
            <a:endParaRPr lang="en-US" sz="1400" dirty="0"/>
          </a:p>
        </p:txBody>
      </p:sp>
      <p:sp>
        <p:nvSpPr>
          <p:cNvPr id="21" name="Shape 19"/>
          <p:cNvSpPr/>
          <p:nvPr/>
        </p:nvSpPr>
        <p:spPr>
          <a:xfrm>
            <a:off x="4800600" y="4937760"/>
            <a:ext cx="6720840" cy="868680"/>
          </a:xfrm>
          <a:prstGeom prst="roundRect">
            <a:avLst>
              <a:gd name="adj" fmla="val 6316"/>
            </a:avLst>
          </a:prstGeom>
          <a:solidFill>
            <a:srgbClr val="E8EEF9"/>
          </a:solidFill>
          <a:ln w="12700">
            <a:solidFill>
              <a:srgbClr val="E8EEF9"/>
            </a:solidFill>
            <a:prstDash val="solid"/>
          </a:ln>
        </p:spPr>
      </p:sp>
      <p:sp>
        <p:nvSpPr>
          <p:cNvPr id="22" name="Text 20"/>
          <p:cNvSpPr/>
          <p:nvPr/>
        </p:nvSpPr>
        <p:spPr>
          <a:xfrm>
            <a:off x="5074920" y="4937760"/>
            <a:ext cx="6172200" cy="868680"/>
          </a:xfrm>
          <a:prstGeom prst="rect">
            <a:avLst/>
          </a:prstGeom>
          <a:noFill/>
          <a:ln/>
        </p:spPr>
        <p:txBody>
          <a:bodyPr wrap="square" lIns="0" tIns="0" rIns="0" bIns="0" rtlCol="0" anchor="ctr"/>
          <a:lstStyle/>
          <a:p>
            <a:pPr marL="0" indent="0">
              <a:buNone/>
            </a:pPr>
            <a:r>
              <a:rPr lang="en-US" sz="1400" b="1" dirty="0">
                <a:solidFill>
                  <a:srgbClr val="0F2350"/>
                </a:solidFill>
                <a:latin typeface="Meiryo" pitchFamily="34" charset="0"/>
                <a:ea typeface="Meiryo" pitchFamily="34" charset="-122"/>
                <a:cs typeface="Meiryo" pitchFamily="34" charset="-120"/>
              </a:rPr>
              <a:t>「高信頼な1台」から「壊れて当然の多数」へ、という前提の転換</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K8sが目指したもの</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課題への回答としてのコンセプト ── 信頼性をどこに置くか、そして台数でどう支えるか</a:t>
            </a:r>
            <a:endParaRPr lang="en-US" sz="1350" dirty="0"/>
          </a:p>
        </p:txBody>
      </p:sp>
      <p:sp>
        <p:nvSpPr>
          <p:cNvPr id="4" name="Shape 2"/>
          <p:cNvSpPr/>
          <p:nvPr/>
        </p:nvSpPr>
        <p:spPr>
          <a:xfrm>
            <a:off x="640080" y="1828800"/>
            <a:ext cx="4846320" cy="2286000"/>
          </a:xfrm>
          <a:prstGeom prst="roundRect">
            <a:avLst>
              <a:gd name="adj" fmla="val 2400"/>
            </a:avLst>
          </a:prstGeom>
          <a:solidFill>
            <a:srgbClr val="F5F8FD"/>
          </a:solidFill>
          <a:ln w="12700">
            <a:solidFill>
              <a:srgbClr val="F5F8FD"/>
            </a:solidFill>
            <a:prstDash val="solid"/>
          </a:ln>
        </p:spPr>
        <p:txBody>
          <a:bodyPr/>
          <a:lstStyle/>
          <a:p>
            <a:endParaRPr lang="ja-JP" altLang="en-US"/>
          </a:p>
        </p:txBody>
      </p:sp>
      <p:sp>
        <p:nvSpPr>
          <p:cNvPr id="5" name="Text 3"/>
          <p:cNvSpPr/>
          <p:nvPr/>
        </p:nvSpPr>
        <p:spPr>
          <a:xfrm>
            <a:off x="960120" y="2057400"/>
            <a:ext cx="4206240" cy="320040"/>
          </a:xfrm>
          <a:prstGeom prst="rect">
            <a:avLst/>
          </a:prstGeom>
          <a:noFill/>
          <a:ln/>
        </p:spPr>
        <p:txBody>
          <a:bodyPr wrap="square" lIns="0" tIns="0" rIns="0" bIns="0" rtlCol="0" anchor="ctr"/>
          <a:lstStyle/>
          <a:p>
            <a:pPr marL="0" indent="0">
              <a:buNone/>
            </a:pPr>
            <a:r>
              <a:rPr lang="en-US" sz="1300" b="1" dirty="0">
                <a:solidFill>
                  <a:srgbClr val="5D6B85"/>
                </a:solidFill>
                <a:latin typeface="Meiryo" pitchFamily="34" charset="0"/>
                <a:ea typeface="Meiryo" pitchFamily="34" charset="-122"/>
                <a:cs typeface="Meiryo" pitchFamily="34" charset="-120"/>
              </a:rPr>
              <a:t>従来</a:t>
            </a:r>
            <a:endParaRPr lang="en-US" sz="1300" dirty="0"/>
          </a:p>
        </p:txBody>
      </p:sp>
      <p:sp>
        <p:nvSpPr>
          <p:cNvPr id="6" name="Text 4"/>
          <p:cNvSpPr/>
          <p:nvPr/>
        </p:nvSpPr>
        <p:spPr>
          <a:xfrm>
            <a:off x="960120" y="2423160"/>
            <a:ext cx="4206240" cy="777240"/>
          </a:xfrm>
          <a:prstGeom prst="rect">
            <a:avLst/>
          </a:prstGeom>
          <a:noFill/>
          <a:ln/>
        </p:spPr>
        <p:txBody>
          <a:bodyPr wrap="square" lIns="0" tIns="0" rIns="0" bIns="0" rtlCol="0" anchor="t"/>
          <a:lstStyle/>
          <a:p>
            <a:pPr marL="0" indent="0">
              <a:lnSpc>
                <a:spcPts val="2800"/>
              </a:lnSpc>
              <a:buNone/>
            </a:pPr>
            <a:r>
              <a:rPr lang="en-US" sz="2100" b="1" dirty="0">
                <a:solidFill>
                  <a:srgbClr val="5D6B85"/>
                </a:solidFill>
                <a:latin typeface="Meiryo" pitchFamily="34" charset="0"/>
                <a:ea typeface="Meiryo" pitchFamily="34" charset="-122"/>
                <a:cs typeface="Meiryo" pitchFamily="34" charset="-120"/>
              </a:rPr>
              <a:t>「落ちないサーバ」を作る</a:t>
            </a:r>
            <a:endParaRPr lang="en-US" sz="2100" dirty="0"/>
          </a:p>
        </p:txBody>
      </p:sp>
      <p:sp>
        <p:nvSpPr>
          <p:cNvPr id="7" name="Text 5"/>
          <p:cNvSpPr/>
          <p:nvPr/>
        </p:nvSpPr>
        <p:spPr>
          <a:xfrm>
            <a:off x="960120" y="3291840"/>
            <a:ext cx="4206240" cy="640080"/>
          </a:xfrm>
          <a:prstGeom prst="rect">
            <a:avLst/>
          </a:prstGeom>
          <a:noFill/>
          <a:ln/>
        </p:spPr>
        <p:txBody>
          <a:bodyPr wrap="square" lIns="0" tIns="0" rIns="0" bIns="0" rtlCol="0" anchor="t"/>
          <a:lstStyle/>
          <a:p>
            <a:pPr marL="0" indent="0">
              <a:lnSpc>
                <a:spcPts val="1900"/>
              </a:lnSpc>
              <a:buNone/>
            </a:pPr>
            <a:r>
              <a:rPr lang="en-US" sz="1300" dirty="0">
                <a:solidFill>
                  <a:srgbClr val="5D6B85"/>
                </a:solidFill>
                <a:latin typeface="Meiryo" pitchFamily="34" charset="0"/>
                <a:ea typeface="Meiryo" pitchFamily="34" charset="-122"/>
                <a:cs typeface="Meiryo" pitchFamily="34" charset="-120"/>
              </a:rPr>
              <a:t>信頼性はハードウェア側で担保する。</a:t>
            </a:r>
            <a:endParaRPr lang="en-US" sz="1300" dirty="0"/>
          </a:p>
          <a:p>
            <a:pPr marL="0" indent="0">
              <a:lnSpc>
                <a:spcPts val="1900"/>
              </a:lnSpc>
              <a:buNone/>
            </a:pPr>
            <a:r>
              <a:rPr lang="en-US" sz="1300" dirty="0">
                <a:solidFill>
                  <a:srgbClr val="5D6B85"/>
                </a:solidFill>
                <a:latin typeface="Meiryo" pitchFamily="34" charset="0"/>
                <a:ea typeface="Meiryo" pitchFamily="34" charset="-122"/>
                <a:cs typeface="Meiryo" pitchFamily="34" charset="-120"/>
              </a:rPr>
              <a:t>冗長電源・RAID・手厚い保守体制。</a:t>
            </a:r>
            <a:endParaRPr lang="en-US" sz="1300" dirty="0"/>
          </a:p>
        </p:txBody>
      </p:sp>
      <p:sp>
        <p:nvSpPr>
          <p:cNvPr id="8" name="Text 6"/>
          <p:cNvSpPr/>
          <p:nvPr/>
        </p:nvSpPr>
        <p:spPr>
          <a:xfrm>
            <a:off x="5577840" y="2743200"/>
            <a:ext cx="822960" cy="548640"/>
          </a:xfrm>
          <a:prstGeom prst="rect">
            <a:avLst/>
          </a:prstGeom>
          <a:noFill/>
          <a:ln/>
        </p:spPr>
        <p:txBody>
          <a:bodyPr wrap="square" lIns="0" tIns="0" rIns="0" bIns="0" rtlCol="0" anchor="ctr"/>
          <a:lstStyle/>
          <a:p>
            <a:pPr marL="0" indent="0" algn="ctr">
              <a:buNone/>
            </a:pPr>
            <a:r>
              <a:rPr lang="en-US" sz="3200" b="1" dirty="0">
                <a:solidFill>
                  <a:srgbClr val="326CE5"/>
                </a:solidFill>
                <a:latin typeface="Meiryo" pitchFamily="34" charset="0"/>
                <a:ea typeface="Meiryo" pitchFamily="34" charset="-122"/>
                <a:cs typeface="Meiryo" pitchFamily="34" charset="-120"/>
              </a:rPr>
              <a:t>→</a:t>
            </a:r>
            <a:endParaRPr lang="en-US" sz="3200" dirty="0"/>
          </a:p>
        </p:txBody>
      </p:sp>
      <p:sp>
        <p:nvSpPr>
          <p:cNvPr id="9" name="Shape 7"/>
          <p:cNvSpPr/>
          <p:nvPr/>
        </p:nvSpPr>
        <p:spPr>
          <a:xfrm>
            <a:off x="6537960" y="1828800"/>
            <a:ext cx="4983480" cy="2286000"/>
          </a:xfrm>
          <a:prstGeom prst="roundRect">
            <a:avLst>
              <a:gd name="adj" fmla="val 2400"/>
            </a:avLst>
          </a:prstGeom>
          <a:solidFill>
            <a:srgbClr val="326CE5"/>
          </a:solidFill>
          <a:ln w="12700">
            <a:solidFill>
              <a:srgbClr val="326CE5"/>
            </a:solidFill>
            <a:prstDash val="solid"/>
          </a:ln>
        </p:spPr>
        <p:txBody>
          <a:bodyPr/>
          <a:lstStyle/>
          <a:p>
            <a:endParaRPr lang="ja-JP" altLang="en-US"/>
          </a:p>
        </p:txBody>
      </p:sp>
      <p:sp>
        <p:nvSpPr>
          <p:cNvPr id="10" name="Text 8"/>
          <p:cNvSpPr/>
          <p:nvPr/>
        </p:nvSpPr>
        <p:spPr>
          <a:xfrm>
            <a:off x="6858000" y="2057400"/>
            <a:ext cx="4343400" cy="320040"/>
          </a:xfrm>
          <a:prstGeom prst="rect">
            <a:avLst/>
          </a:prstGeom>
          <a:noFill/>
          <a:ln/>
        </p:spPr>
        <p:txBody>
          <a:bodyPr wrap="square" lIns="0" tIns="0" rIns="0" bIns="0" rtlCol="0" anchor="ctr"/>
          <a:lstStyle/>
          <a:p>
            <a:pPr marL="0" indent="0">
              <a:buNone/>
            </a:pPr>
            <a:r>
              <a:rPr lang="en-US" sz="1300" b="1" dirty="0">
                <a:solidFill>
                  <a:srgbClr val="D6E5FF"/>
                </a:solidFill>
                <a:latin typeface="Meiryo" pitchFamily="34" charset="0"/>
                <a:ea typeface="Meiryo" pitchFamily="34" charset="-122"/>
                <a:cs typeface="Meiryo" pitchFamily="34" charset="-120"/>
              </a:rPr>
              <a:t>Kubernetes</a:t>
            </a:r>
            <a:endParaRPr lang="en-US" sz="1300" dirty="0"/>
          </a:p>
        </p:txBody>
      </p:sp>
      <p:sp>
        <p:nvSpPr>
          <p:cNvPr id="11" name="Text 9"/>
          <p:cNvSpPr/>
          <p:nvPr/>
        </p:nvSpPr>
        <p:spPr>
          <a:xfrm>
            <a:off x="6858000" y="2423160"/>
            <a:ext cx="4343400" cy="777240"/>
          </a:xfrm>
          <a:prstGeom prst="rect">
            <a:avLst/>
          </a:prstGeom>
          <a:noFill/>
          <a:ln/>
        </p:spPr>
        <p:txBody>
          <a:bodyPr wrap="square" lIns="0" tIns="0" rIns="0" bIns="0" rtlCol="0" anchor="t"/>
          <a:lstStyle/>
          <a:p>
            <a:pPr marL="0" indent="0">
              <a:lnSpc>
                <a:spcPts val="2800"/>
              </a:lnSpc>
              <a:buNone/>
            </a:pPr>
            <a:r>
              <a:rPr lang="en-US" sz="2100" b="1" dirty="0">
                <a:solidFill>
                  <a:srgbClr val="FFFFFF"/>
                </a:solidFill>
                <a:latin typeface="Meiryo" pitchFamily="34" charset="0"/>
                <a:ea typeface="Meiryo" pitchFamily="34" charset="-122"/>
                <a:cs typeface="Meiryo" pitchFamily="34" charset="-120"/>
              </a:rPr>
              <a:t>「落ちても気づかれない</a:t>
            </a:r>
            <a:endParaRPr lang="en-US" sz="2100" dirty="0"/>
          </a:p>
          <a:p>
            <a:pPr marL="0" indent="0">
              <a:lnSpc>
                <a:spcPts val="2800"/>
              </a:lnSpc>
              <a:buNone/>
            </a:pPr>
            <a:r>
              <a:rPr lang="en-US" sz="2100" b="1" dirty="0">
                <a:solidFill>
                  <a:srgbClr val="FFFFFF"/>
                </a:solidFill>
                <a:latin typeface="Meiryo" pitchFamily="34" charset="0"/>
                <a:ea typeface="Meiryo" pitchFamily="34" charset="-122"/>
                <a:cs typeface="Meiryo" pitchFamily="34" charset="-120"/>
              </a:rPr>
              <a:t>システム」を作る</a:t>
            </a:r>
            <a:endParaRPr lang="en-US" sz="2100" dirty="0"/>
          </a:p>
        </p:txBody>
      </p:sp>
      <p:sp>
        <p:nvSpPr>
          <p:cNvPr id="12" name="Text 10"/>
          <p:cNvSpPr/>
          <p:nvPr/>
        </p:nvSpPr>
        <p:spPr>
          <a:xfrm>
            <a:off x="6858000" y="3291840"/>
            <a:ext cx="4343400" cy="640080"/>
          </a:xfrm>
          <a:prstGeom prst="rect">
            <a:avLst/>
          </a:prstGeom>
          <a:noFill/>
          <a:ln/>
        </p:spPr>
        <p:txBody>
          <a:bodyPr wrap="square" lIns="0" tIns="0" rIns="0" bIns="0" rtlCol="0" anchor="t"/>
          <a:lstStyle/>
          <a:p>
            <a:pPr marL="0" indent="0">
              <a:lnSpc>
                <a:spcPts val="1900"/>
              </a:lnSpc>
              <a:buNone/>
            </a:pPr>
            <a:r>
              <a:rPr lang="en-US" sz="1300" dirty="0">
                <a:solidFill>
                  <a:srgbClr val="E4EDFF"/>
                </a:solidFill>
                <a:latin typeface="Meiryo" pitchFamily="34" charset="0"/>
                <a:ea typeface="Meiryo" pitchFamily="34" charset="-122"/>
                <a:cs typeface="Meiryo" pitchFamily="34" charset="-120"/>
              </a:rPr>
              <a:t>信頼性はソフトウェア（制御ループ）側で担保する。</a:t>
            </a:r>
            <a:endParaRPr lang="en-US" sz="1300" dirty="0"/>
          </a:p>
          <a:p>
            <a:pPr marL="0" indent="0">
              <a:lnSpc>
                <a:spcPts val="1900"/>
              </a:lnSpc>
              <a:buNone/>
            </a:pPr>
            <a:r>
              <a:rPr lang="en-US" sz="1300" dirty="0">
                <a:solidFill>
                  <a:srgbClr val="E4EDFF"/>
                </a:solidFill>
                <a:latin typeface="Meiryo" pitchFamily="34" charset="0"/>
                <a:ea typeface="Meiryo" pitchFamily="34" charset="-122"/>
                <a:cs typeface="Meiryo" pitchFamily="34" charset="-120"/>
              </a:rPr>
              <a:t>1台1台は使い捨てでよい。</a:t>
            </a:r>
            <a:endParaRPr lang="en-US" sz="1300" dirty="0"/>
          </a:p>
        </p:txBody>
      </p:sp>
      <p:sp>
        <p:nvSpPr>
          <p:cNvPr id="13" name="Shape 11"/>
          <p:cNvSpPr/>
          <p:nvPr/>
        </p:nvSpPr>
        <p:spPr>
          <a:xfrm>
            <a:off x="640080" y="4480560"/>
            <a:ext cx="10881360" cy="1280160"/>
          </a:xfrm>
          <a:prstGeom prst="roundRect">
            <a:avLst>
              <a:gd name="adj" fmla="val 4286"/>
            </a:avLst>
          </a:prstGeom>
          <a:solidFill>
            <a:srgbClr val="E8EEF9"/>
          </a:solidFill>
          <a:ln w="12700">
            <a:solidFill>
              <a:srgbClr val="E8EEF9"/>
            </a:solidFill>
            <a:prstDash val="solid"/>
          </a:ln>
        </p:spPr>
        <p:txBody>
          <a:bodyPr/>
          <a:lstStyle/>
          <a:p>
            <a:endParaRPr lang="ja-JP" altLang="en-US"/>
          </a:p>
        </p:txBody>
      </p:sp>
      <p:sp>
        <p:nvSpPr>
          <p:cNvPr id="14" name="Shape 12"/>
          <p:cNvSpPr/>
          <p:nvPr/>
        </p:nvSpPr>
        <p:spPr>
          <a:xfrm>
            <a:off x="960120" y="4892040"/>
            <a:ext cx="457200" cy="457200"/>
          </a:xfrm>
          <a:prstGeom prst="ellipse">
            <a:avLst/>
          </a:prstGeom>
          <a:solidFill>
            <a:srgbClr val="326CE5"/>
          </a:solidFill>
          <a:ln/>
        </p:spPr>
        <p:txBody>
          <a:bodyPr/>
          <a:lstStyle/>
          <a:p>
            <a:endParaRPr lang="ja-JP" altLang="en-US"/>
          </a:p>
        </p:txBody>
      </p:sp>
      <p:sp>
        <p:nvSpPr>
          <p:cNvPr id="15" name="Text 13"/>
          <p:cNvSpPr/>
          <p:nvPr/>
        </p:nvSpPr>
        <p:spPr>
          <a:xfrm>
            <a:off x="960120" y="48920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6" name="Text 14"/>
          <p:cNvSpPr/>
          <p:nvPr/>
        </p:nvSpPr>
        <p:spPr>
          <a:xfrm>
            <a:off x="1600200" y="4663440"/>
            <a:ext cx="9601200" cy="36576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同じ仕組みが、そのままスケールアウトになる</a:t>
            </a:r>
            <a:endParaRPr lang="en-US" sz="1700" dirty="0"/>
          </a:p>
        </p:txBody>
      </p:sp>
      <p:sp>
        <p:nvSpPr>
          <p:cNvPr id="17" name="Text 15"/>
          <p:cNvSpPr/>
          <p:nvPr/>
        </p:nvSpPr>
        <p:spPr>
          <a:xfrm>
            <a:off x="1600200" y="5074920"/>
            <a:ext cx="9601200" cy="457200"/>
          </a:xfrm>
          <a:prstGeom prst="rect">
            <a:avLst/>
          </a:prstGeom>
          <a:noFill/>
          <a:ln/>
        </p:spPr>
        <p:txBody>
          <a:bodyPr wrap="square" lIns="0" tIns="0" rIns="0" bIns="0" rtlCol="0" anchor="ctr"/>
          <a:lstStyle/>
          <a:p>
            <a:pPr marL="0" indent="0">
              <a:lnSpc>
                <a:spcPts val="1900"/>
              </a:lnSpc>
              <a:buNone/>
            </a:pPr>
            <a:r>
              <a:rPr lang="en-US" sz="1400" dirty="0">
                <a:solidFill>
                  <a:srgbClr val="1A2233"/>
                </a:solidFill>
                <a:latin typeface="Meiryo" pitchFamily="34" charset="0"/>
                <a:ea typeface="Meiryo" pitchFamily="34" charset="-122"/>
                <a:cs typeface="Meiryo" pitchFamily="34" charset="-120"/>
              </a:rPr>
              <a:t>1台1台は使い捨てで、台数で支える。だから増やせば冗長性も処理能力も上がり、減らせばコストが下がる。</a:t>
            </a:r>
            <a:endParaRPr lang="en-US" sz="1400" dirty="0"/>
          </a:p>
        </p:txBody>
      </p:sp>
    </p:spTree>
    <p:extLst>
      <p:ext uri="{BB962C8B-B14F-4D97-AF65-F5344CB8AC3E}">
        <p14:creationId xmlns:p14="http://schemas.microsoft.com/office/powerpoint/2010/main" val="3045258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K8sは何をしているのか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「複数台のホストで、多数のコンテナを動かし続ける」ための中心メカニズム</a:t>
            </a:r>
            <a:endParaRPr lang="en-US" sz="1350" dirty="0"/>
          </a:p>
        </p:txBody>
      </p:sp>
      <p:sp>
        <p:nvSpPr>
          <p:cNvPr id="4" name="Shape 2"/>
          <p:cNvSpPr/>
          <p:nvPr/>
        </p:nvSpPr>
        <p:spPr>
          <a:xfrm>
            <a:off x="640080" y="1691640"/>
            <a:ext cx="10881360" cy="914400"/>
          </a:xfrm>
          <a:prstGeom prst="roundRect">
            <a:avLst>
              <a:gd name="adj" fmla="val 6000"/>
            </a:avLst>
          </a:prstGeom>
          <a:solidFill>
            <a:srgbClr val="E8EEF9"/>
          </a:solidFill>
          <a:ln w="12700">
            <a:solidFill>
              <a:srgbClr val="E8EEF9"/>
            </a:solidFill>
            <a:prstDash val="solid"/>
          </a:ln>
        </p:spPr>
      </p:sp>
      <p:sp>
        <p:nvSpPr>
          <p:cNvPr id="5" name="Text 3"/>
          <p:cNvSpPr/>
          <p:nvPr/>
        </p:nvSpPr>
        <p:spPr>
          <a:xfrm>
            <a:off x="960120" y="1691640"/>
            <a:ext cx="10241280" cy="914400"/>
          </a:xfrm>
          <a:prstGeom prst="rect">
            <a:avLst/>
          </a:prstGeom>
          <a:noFill/>
          <a:ln/>
        </p:spPr>
        <p:txBody>
          <a:bodyPr wrap="square" lIns="0" tIns="0" rIns="0" bIns="0" rtlCol="0" anchor="ctr"/>
          <a:lstStyle/>
          <a:p>
            <a:pPr marL="0" indent="0">
              <a:buNone/>
            </a:pPr>
            <a:r>
              <a:rPr lang="en-US" sz="1600" b="1" dirty="0">
                <a:solidFill>
                  <a:srgbClr val="326CE5"/>
                </a:solidFill>
                <a:latin typeface="Meiryo" pitchFamily="34" charset="0"/>
                <a:ea typeface="Meiryo" pitchFamily="34" charset="-122"/>
                <a:cs typeface="Meiryo" pitchFamily="34" charset="-120"/>
              </a:rPr>
              <a:t>Reconciliation Loop（調整ループ）</a:t>
            </a:r>
            <a:r>
              <a:rPr lang="en-US" sz="1500" dirty="0">
                <a:solidFill>
                  <a:srgbClr val="0F2350"/>
                </a:solidFill>
                <a:latin typeface="Meiryo" pitchFamily="34" charset="0"/>
                <a:ea typeface="Meiryo" pitchFamily="34" charset="-122"/>
                <a:cs typeface="Meiryo" pitchFamily="34" charset="-120"/>
              </a:rPr>
              <a:t>　現在の状態を継続的に観測し、あるべき状態（Desired State）に近づけ続ける制御の仕組み</a:t>
            </a:r>
            <a:endParaRPr lang="en-US" sz="1600" dirty="0"/>
          </a:p>
        </p:txBody>
      </p:sp>
      <p:sp>
        <p:nvSpPr>
          <p:cNvPr id="6" name="Shape 4"/>
          <p:cNvSpPr/>
          <p:nvPr/>
        </p:nvSpPr>
        <p:spPr>
          <a:xfrm>
            <a:off x="1783080" y="2880360"/>
            <a:ext cx="1463040" cy="1463040"/>
          </a:xfrm>
          <a:prstGeom prst="ellipse">
            <a:avLst/>
          </a:prstGeom>
          <a:solidFill>
            <a:srgbClr val="FFFFFF"/>
          </a:solidFill>
          <a:ln w="31750">
            <a:solidFill>
              <a:srgbClr val="326CE5"/>
            </a:solidFill>
            <a:prstDash val="solid"/>
          </a:ln>
        </p:spPr>
      </p:sp>
      <p:sp>
        <p:nvSpPr>
          <p:cNvPr id="7" name="Text 5"/>
          <p:cNvSpPr/>
          <p:nvPr/>
        </p:nvSpPr>
        <p:spPr>
          <a:xfrm>
            <a:off x="178308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観測</a:t>
            </a:r>
            <a:endParaRPr lang="en-US" sz="2000" dirty="0"/>
          </a:p>
        </p:txBody>
      </p:sp>
      <p:sp>
        <p:nvSpPr>
          <p:cNvPr id="8" name="Text 6"/>
          <p:cNvSpPr/>
          <p:nvPr/>
        </p:nvSpPr>
        <p:spPr>
          <a:xfrm>
            <a:off x="128016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現実はいまどうなっているか</a:t>
            </a:r>
            <a:endParaRPr lang="en-US" sz="1200" dirty="0"/>
          </a:p>
        </p:txBody>
      </p:sp>
      <p:sp>
        <p:nvSpPr>
          <p:cNvPr id="9" name="Text 7"/>
          <p:cNvSpPr/>
          <p:nvPr/>
        </p:nvSpPr>
        <p:spPr>
          <a:xfrm>
            <a:off x="3474720" y="3337560"/>
            <a:ext cx="77724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0" name="Shape 8"/>
          <p:cNvSpPr/>
          <p:nvPr/>
        </p:nvSpPr>
        <p:spPr>
          <a:xfrm>
            <a:off x="5394960" y="2880360"/>
            <a:ext cx="1463040" cy="1463040"/>
          </a:xfrm>
          <a:prstGeom prst="ellipse">
            <a:avLst/>
          </a:prstGeom>
          <a:solidFill>
            <a:srgbClr val="FFFFFF"/>
          </a:solidFill>
          <a:ln w="31750">
            <a:solidFill>
              <a:srgbClr val="326CE5"/>
            </a:solidFill>
            <a:prstDash val="solid"/>
          </a:ln>
        </p:spPr>
      </p:sp>
      <p:sp>
        <p:nvSpPr>
          <p:cNvPr id="11" name="Text 9"/>
          <p:cNvSpPr/>
          <p:nvPr/>
        </p:nvSpPr>
        <p:spPr>
          <a:xfrm>
            <a:off x="539496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比較</a:t>
            </a:r>
            <a:endParaRPr lang="en-US" sz="2000" dirty="0"/>
          </a:p>
        </p:txBody>
      </p:sp>
      <p:sp>
        <p:nvSpPr>
          <p:cNvPr id="12" name="Text 10"/>
          <p:cNvSpPr/>
          <p:nvPr/>
        </p:nvSpPr>
        <p:spPr>
          <a:xfrm>
            <a:off x="489204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あるべき状態との差分は何か</a:t>
            </a:r>
            <a:endParaRPr lang="en-US" sz="1200" dirty="0"/>
          </a:p>
        </p:txBody>
      </p:sp>
      <p:sp>
        <p:nvSpPr>
          <p:cNvPr id="13" name="Text 11"/>
          <p:cNvSpPr/>
          <p:nvPr/>
        </p:nvSpPr>
        <p:spPr>
          <a:xfrm>
            <a:off x="7086600" y="3337560"/>
            <a:ext cx="777240" cy="548640"/>
          </a:xfrm>
          <a:prstGeom prst="rect">
            <a:avLst/>
          </a:prstGeom>
          <a:noFill/>
          <a:ln/>
        </p:spPr>
        <p:txBody>
          <a:bodyPr wrap="square" lIns="0" tIns="0" rIns="0" bIns="0" rtlCol="0" anchor="ctr"/>
          <a:lstStyle/>
          <a:p>
            <a:pPr marL="0" indent="0" algn="ctr">
              <a:buNone/>
            </a:pPr>
            <a:r>
              <a:rPr lang="en-US" sz="3000" b="1" dirty="0">
                <a:solidFill>
                  <a:srgbClr val="326CE5"/>
                </a:solidFill>
                <a:latin typeface="Meiryo" pitchFamily="34" charset="0"/>
                <a:ea typeface="Meiryo" pitchFamily="34" charset="-122"/>
                <a:cs typeface="Meiryo" pitchFamily="34" charset="-120"/>
              </a:rPr>
              <a:t>→</a:t>
            </a:r>
            <a:endParaRPr lang="en-US" sz="3000" dirty="0"/>
          </a:p>
        </p:txBody>
      </p:sp>
      <p:sp>
        <p:nvSpPr>
          <p:cNvPr id="14" name="Shape 12"/>
          <p:cNvSpPr/>
          <p:nvPr/>
        </p:nvSpPr>
        <p:spPr>
          <a:xfrm>
            <a:off x="9006840" y="2880360"/>
            <a:ext cx="1463040" cy="1463040"/>
          </a:xfrm>
          <a:prstGeom prst="ellipse">
            <a:avLst/>
          </a:prstGeom>
          <a:solidFill>
            <a:srgbClr val="FFFFFF"/>
          </a:solidFill>
          <a:ln w="31750">
            <a:solidFill>
              <a:srgbClr val="326CE5"/>
            </a:solidFill>
            <a:prstDash val="solid"/>
          </a:ln>
        </p:spPr>
      </p:sp>
      <p:sp>
        <p:nvSpPr>
          <p:cNvPr id="15" name="Text 13"/>
          <p:cNvSpPr/>
          <p:nvPr/>
        </p:nvSpPr>
        <p:spPr>
          <a:xfrm>
            <a:off x="9006840" y="2880360"/>
            <a:ext cx="1463040" cy="1463040"/>
          </a:xfrm>
          <a:prstGeom prst="rect">
            <a:avLst/>
          </a:prstGeom>
          <a:noFill/>
          <a:ln/>
        </p:spPr>
        <p:txBody>
          <a:bodyPr wrap="square" lIns="0" tIns="0" rIns="0" bIns="0" rtlCol="0" anchor="ctr"/>
          <a:lstStyle/>
          <a:p>
            <a:pPr marL="0" indent="0" algn="ctr">
              <a:buNone/>
            </a:pPr>
            <a:r>
              <a:rPr lang="en-US" sz="2000" b="1" dirty="0">
                <a:solidFill>
                  <a:srgbClr val="0F2350"/>
                </a:solidFill>
                <a:latin typeface="Meiryo" pitchFamily="34" charset="0"/>
                <a:ea typeface="Meiryo" pitchFamily="34" charset="-122"/>
                <a:cs typeface="Meiryo" pitchFamily="34" charset="-120"/>
              </a:rPr>
              <a:t>修正</a:t>
            </a:r>
            <a:endParaRPr lang="en-US" sz="2000" dirty="0"/>
          </a:p>
        </p:txBody>
      </p:sp>
      <p:sp>
        <p:nvSpPr>
          <p:cNvPr id="16" name="Text 14"/>
          <p:cNvSpPr/>
          <p:nvPr/>
        </p:nvSpPr>
        <p:spPr>
          <a:xfrm>
            <a:off x="8503920" y="4434840"/>
            <a:ext cx="2468880" cy="36576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その差分を埋める</a:t>
            </a:r>
            <a:endParaRPr lang="en-US" sz="1200" dirty="0"/>
          </a:p>
        </p:txBody>
      </p:sp>
      <p:sp>
        <p:nvSpPr>
          <p:cNvPr id="17" name="Text 15"/>
          <p:cNvSpPr/>
          <p:nvPr/>
        </p:nvSpPr>
        <p:spPr>
          <a:xfrm>
            <a:off x="640080" y="4937760"/>
            <a:ext cx="10881360" cy="365760"/>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この3ステップを、止まることなく繰り返し続ける</a:t>
            </a:r>
            <a:endParaRPr lang="en-US" sz="1400" dirty="0"/>
          </a:p>
        </p:txBody>
      </p:sp>
      <p:sp>
        <p:nvSpPr>
          <p:cNvPr id="18" name="Shape 16"/>
          <p:cNvSpPr/>
          <p:nvPr/>
        </p:nvSpPr>
        <p:spPr>
          <a:xfrm>
            <a:off x="2898648" y="5440680"/>
            <a:ext cx="2011680" cy="502920"/>
          </a:xfrm>
          <a:prstGeom prst="roundRect">
            <a:avLst>
              <a:gd name="adj" fmla="val 10909"/>
            </a:avLst>
          </a:prstGeom>
          <a:solidFill>
            <a:srgbClr val="F5F8FD"/>
          </a:solidFill>
          <a:ln w="12700">
            <a:solidFill>
              <a:srgbClr val="F5F8FD"/>
            </a:solidFill>
            <a:prstDash val="solid"/>
          </a:ln>
        </p:spPr>
      </p:sp>
      <p:sp>
        <p:nvSpPr>
          <p:cNvPr id="19" name="Text 17"/>
          <p:cNvSpPr/>
          <p:nvPr/>
        </p:nvSpPr>
        <p:spPr>
          <a:xfrm>
            <a:off x="289864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自己修復</a:t>
            </a:r>
            <a:endParaRPr lang="en-US" sz="1300" dirty="0"/>
          </a:p>
        </p:txBody>
      </p:sp>
      <p:sp>
        <p:nvSpPr>
          <p:cNvPr id="20" name="Shape 18"/>
          <p:cNvSpPr/>
          <p:nvPr/>
        </p:nvSpPr>
        <p:spPr>
          <a:xfrm>
            <a:off x="5093208" y="5440680"/>
            <a:ext cx="2011680" cy="502920"/>
          </a:xfrm>
          <a:prstGeom prst="roundRect">
            <a:avLst>
              <a:gd name="adj" fmla="val 10909"/>
            </a:avLst>
          </a:prstGeom>
          <a:solidFill>
            <a:srgbClr val="F5F8FD"/>
          </a:solidFill>
          <a:ln w="12700">
            <a:solidFill>
              <a:srgbClr val="F5F8FD"/>
            </a:solidFill>
            <a:prstDash val="solid"/>
          </a:ln>
        </p:spPr>
      </p:sp>
      <p:sp>
        <p:nvSpPr>
          <p:cNvPr id="21" name="Text 19"/>
          <p:cNvSpPr/>
          <p:nvPr/>
        </p:nvSpPr>
        <p:spPr>
          <a:xfrm>
            <a:off x="509320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自動スケール</a:t>
            </a:r>
            <a:endParaRPr lang="en-US" sz="1300" dirty="0"/>
          </a:p>
        </p:txBody>
      </p:sp>
      <p:sp>
        <p:nvSpPr>
          <p:cNvPr id="22" name="Shape 20"/>
          <p:cNvSpPr/>
          <p:nvPr/>
        </p:nvSpPr>
        <p:spPr>
          <a:xfrm>
            <a:off x="7287768" y="5440680"/>
            <a:ext cx="2011680" cy="502920"/>
          </a:xfrm>
          <a:prstGeom prst="roundRect">
            <a:avLst>
              <a:gd name="adj" fmla="val 10909"/>
            </a:avLst>
          </a:prstGeom>
          <a:solidFill>
            <a:srgbClr val="F5F8FD"/>
          </a:solidFill>
          <a:ln w="12700">
            <a:solidFill>
              <a:srgbClr val="F5F8FD"/>
            </a:solidFill>
            <a:prstDash val="solid"/>
          </a:ln>
        </p:spPr>
      </p:sp>
      <p:sp>
        <p:nvSpPr>
          <p:cNvPr id="23" name="Text 21"/>
          <p:cNvSpPr/>
          <p:nvPr/>
        </p:nvSpPr>
        <p:spPr>
          <a:xfrm>
            <a:off x="7287768" y="5440680"/>
            <a:ext cx="2011680" cy="502920"/>
          </a:xfrm>
          <a:prstGeom prst="rect">
            <a:avLst/>
          </a:prstGeom>
          <a:noFill/>
          <a:ln/>
        </p:spPr>
        <p:txBody>
          <a:bodyPr wrap="square" lIns="0" tIns="0" rIns="0" bIns="0" rtlCol="0" anchor="ctr"/>
          <a:lstStyle/>
          <a:p>
            <a:pPr marL="0" indent="0" algn="ctr">
              <a:buNone/>
            </a:pPr>
            <a:r>
              <a:rPr lang="en-US" sz="1300" b="1" dirty="0">
                <a:solidFill>
                  <a:srgbClr val="0F2350"/>
                </a:solidFill>
                <a:latin typeface="Meiryo" pitchFamily="34" charset="0"/>
                <a:ea typeface="Meiryo" pitchFamily="34" charset="-122"/>
                <a:cs typeface="Meiryo" pitchFamily="34" charset="-120"/>
              </a:rPr>
              <a:t>自動デプロイ</a:t>
            </a:r>
            <a:endParaRPr lang="en-US" sz="1300" dirty="0"/>
          </a:p>
        </p:txBody>
      </p:sp>
      <p:sp>
        <p:nvSpPr>
          <p:cNvPr id="24" name="Text 22"/>
          <p:cNvSpPr/>
          <p:nvPr/>
        </p:nvSpPr>
        <p:spPr>
          <a:xfrm>
            <a:off x="640080" y="5989320"/>
            <a:ext cx="10881360" cy="32004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これらはすべて、この同じ仕組みの上に乗っている</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では、誰がループを回しているのか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K8sのアーキテクチャ ── 登場人物は4つだけ覚えれば足りる</a:t>
            </a:r>
            <a:endParaRPr lang="en-US" sz="1350" dirty="0"/>
          </a:p>
        </p:txBody>
      </p:sp>
      <p:sp>
        <p:nvSpPr>
          <p:cNvPr id="4" name="Shape 2"/>
          <p:cNvSpPr/>
          <p:nvPr/>
        </p:nvSpPr>
        <p:spPr>
          <a:xfrm>
            <a:off x="640080" y="1737360"/>
            <a:ext cx="5943600" cy="3246120"/>
          </a:xfrm>
          <a:prstGeom prst="roundRect">
            <a:avLst>
              <a:gd name="adj" fmla="val 1408"/>
            </a:avLst>
          </a:prstGeom>
          <a:solidFill>
            <a:srgbClr val="F5F8FD"/>
          </a:solidFill>
          <a:ln w="19050">
            <a:solidFill>
              <a:srgbClr val="326CE5"/>
            </a:solidFill>
            <a:prstDash val="dash"/>
          </a:ln>
        </p:spPr>
      </p:sp>
      <p:sp>
        <p:nvSpPr>
          <p:cNvPr id="5" name="Text 3"/>
          <p:cNvSpPr/>
          <p:nvPr/>
        </p:nvSpPr>
        <p:spPr>
          <a:xfrm>
            <a:off x="914400" y="1828800"/>
            <a:ext cx="3657600" cy="320040"/>
          </a:xfrm>
          <a:prstGeom prst="rect">
            <a:avLst/>
          </a:prstGeom>
          <a:noFill/>
          <a:ln/>
        </p:spPr>
        <p:txBody>
          <a:bodyPr wrap="square" lIns="0" tIns="0" rIns="0" bIns="0" rtlCol="0" anchor="ctr"/>
          <a:lstStyle/>
          <a:p>
            <a:pPr marL="0" indent="0">
              <a:buNone/>
            </a:pPr>
            <a:r>
              <a:rPr lang="en-US" sz="1200" b="1" dirty="0">
                <a:solidFill>
                  <a:srgbClr val="326CE5"/>
                </a:solidFill>
                <a:latin typeface="Meiryo" pitchFamily="34" charset="0"/>
                <a:ea typeface="Meiryo" pitchFamily="34" charset="-122"/>
                <a:cs typeface="Meiryo" pitchFamily="34" charset="-120"/>
              </a:rPr>
              <a:t>コントロールプレーン</a:t>
            </a:r>
            <a:endParaRPr lang="en-US" sz="1200" dirty="0"/>
          </a:p>
        </p:txBody>
      </p:sp>
      <p:sp>
        <p:nvSpPr>
          <p:cNvPr id="6" name="Shape 4"/>
          <p:cNvSpPr/>
          <p:nvPr/>
        </p:nvSpPr>
        <p:spPr>
          <a:xfrm>
            <a:off x="914400" y="2240280"/>
            <a:ext cx="5394960" cy="868680"/>
          </a:xfrm>
          <a:prstGeom prst="roundRect">
            <a:avLst>
              <a:gd name="adj" fmla="val 8421"/>
            </a:avLst>
          </a:prstGeom>
          <a:solidFill>
            <a:srgbClr val="0F2350"/>
          </a:solidFill>
          <a:ln w="15875">
            <a:solidFill>
              <a:srgbClr val="0F2350"/>
            </a:solidFill>
            <a:prstDash val="solid"/>
          </a:ln>
        </p:spPr>
      </p:sp>
      <p:sp>
        <p:nvSpPr>
          <p:cNvPr id="7" name="Text 5"/>
          <p:cNvSpPr/>
          <p:nvPr/>
        </p:nvSpPr>
        <p:spPr>
          <a:xfrm>
            <a:off x="914400" y="2350008"/>
            <a:ext cx="539496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Meiryo" pitchFamily="34" charset="0"/>
                <a:ea typeface="Meiryo" pitchFamily="34" charset="-122"/>
                <a:cs typeface="Meiryo" pitchFamily="34" charset="-120"/>
              </a:rPr>
              <a:t>API Server</a:t>
            </a:r>
            <a:endParaRPr lang="en-US" sz="1400" dirty="0"/>
          </a:p>
        </p:txBody>
      </p:sp>
      <p:sp>
        <p:nvSpPr>
          <p:cNvPr id="8" name="Text 6"/>
          <p:cNvSpPr/>
          <p:nvPr/>
        </p:nvSpPr>
        <p:spPr>
          <a:xfrm>
            <a:off x="1024128" y="2642616"/>
            <a:ext cx="5175504" cy="374904"/>
          </a:xfrm>
          <a:prstGeom prst="rect">
            <a:avLst/>
          </a:prstGeom>
          <a:noFill/>
          <a:ln/>
        </p:spPr>
        <p:txBody>
          <a:bodyPr wrap="square" lIns="0" tIns="0" rIns="0" bIns="0" rtlCol="0" anchor="t"/>
          <a:lstStyle/>
          <a:p>
            <a:pPr marL="0" indent="0" algn="ctr">
              <a:lnSpc>
                <a:spcPts val="1400"/>
              </a:lnSpc>
              <a:buNone/>
            </a:pPr>
            <a:r>
              <a:rPr lang="en-US" sz="1050" dirty="0">
                <a:solidFill>
                  <a:srgbClr val="CFDEF8"/>
                </a:solidFill>
                <a:latin typeface="Meiryo" pitchFamily="34" charset="0"/>
                <a:ea typeface="Meiryo" pitchFamily="34" charset="-122"/>
                <a:cs typeface="Meiryo" pitchFamily="34" charset="-120"/>
              </a:rPr>
              <a:t>あるべき状態の受付窓口 ／ 保管場所</a:t>
            </a:r>
            <a:endParaRPr lang="en-US" sz="1050" dirty="0"/>
          </a:p>
        </p:txBody>
      </p:sp>
      <p:sp>
        <p:nvSpPr>
          <p:cNvPr id="9" name="Shape 7"/>
          <p:cNvSpPr/>
          <p:nvPr/>
        </p:nvSpPr>
        <p:spPr>
          <a:xfrm>
            <a:off x="914400" y="3291840"/>
            <a:ext cx="2606040" cy="1463040"/>
          </a:xfrm>
          <a:prstGeom prst="roundRect">
            <a:avLst>
              <a:gd name="adj" fmla="val 5000"/>
            </a:avLst>
          </a:prstGeom>
          <a:solidFill>
            <a:srgbClr val="FFFFFF"/>
          </a:solidFill>
          <a:ln w="25400">
            <a:solidFill>
              <a:srgbClr val="326CE5"/>
            </a:solidFill>
            <a:prstDash val="solid"/>
          </a:ln>
        </p:spPr>
      </p:sp>
      <p:sp>
        <p:nvSpPr>
          <p:cNvPr id="10" name="Text 8"/>
          <p:cNvSpPr/>
          <p:nvPr/>
        </p:nvSpPr>
        <p:spPr>
          <a:xfrm>
            <a:off x="914400" y="3401568"/>
            <a:ext cx="2606040" cy="310896"/>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Controller</a:t>
            </a:r>
            <a:endParaRPr lang="en-US" sz="1400" dirty="0"/>
          </a:p>
        </p:txBody>
      </p:sp>
      <p:sp>
        <p:nvSpPr>
          <p:cNvPr id="11" name="Text 9"/>
          <p:cNvSpPr/>
          <p:nvPr/>
        </p:nvSpPr>
        <p:spPr>
          <a:xfrm>
            <a:off x="1024128" y="3694176"/>
            <a:ext cx="2386584" cy="969264"/>
          </a:xfrm>
          <a:prstGeom prst="rect">
            <a:avLst/>
          </a:prstGeom>
          <a:noFill/>
          <a:ln/>
        </p:spPr>
        <p:txBody>
          <a:bodyPr wrap="square" lIns="0" tIns="0" rIns="0" bIns="0" rtlCol="0" anchor="t"/>
          <a:lstStyle/>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差分を見張って</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埋め続ける</a:t>
            </a:r>
            <a:endParaRPr lang="en-US" sz="1050" dirty="0"/>
          </a:p>
          <a:p>
            <a:pPr marL="0" indent="0" algn="ctr">
              <a:lnSpc>
                <a:spcPts val="1400"/>
              </a:lnSpc>
              <a:buNone/>
            </a:pP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 ループの主役</a:t>
            </a:r>
            <a:endParaRPr lang="en-US" sz="1050" dirty="0"/>
          </a:p>
        </p:txBody>
      </p:sp>
      <p:sp>
        <p:nvSpPr>
          <p:cNvPr id="12" name="Shape 10"/>
          <p:cNvSpPr/>
          <p:nvPr/>
        </p:nvSpPr>
        <p:spPr>
          <a:xfrm>
            <a:off x="3703320" y="3291840"/>
            <a:ext cx="2606040" cy="1463040"/>
          </a:xfrm>
          <a:prstGeom prst="roundRect">
            <a:avLst>
              <a:gd name="adj" fmla="val 5000"/>
            </a:avLst>
          </a:prstGeom>
          <a:solidFill>
            <a:srgbClr val="FFFFFF"/>
          </a:solidFill>
          <a:ln w="15875">
            <a:solidFill>
              <a:srgbClr val="CFDEF8"/>
            </a:solidFill>
            <a:prstDash val="solid"/>
          </a:ln>
        </p:spPr>
      </p:sp>
      <p:sp>
        <p:nvSpPr>
          <p:cNvPr id="13" name="Text 11"/>
          <p:cNvSpPr/>
          <p:nvPr/>
        </p:nvSpPr>
        <p:spPr>
          <a:xfrm>
            <a:off x="3703320" y="3401568"/>
            <a:ext cx="2606040" cy="310896"/>
          </a:xfrm>
          <a:prstGeom prst="rect">
            <a:avLst/>
          </a:prstGeom>
          <a:noFill/>
          <a:ln/>
        </p:spPr>
        <p:txBody>
          <a:bodyPr wrap="square" lIns="0" tIns="0" rIns="0" bIns="0" rtlCol="0" anchor="ctr"/>
          <a:lstStyle/>
          <a:p>
            <a:pPr marL="0" indent="0" algn="ctr">
              <a:buNone/>
            </a:pPr>
            <a:r>
              <a:rPr lang="en-US" sz="1400" b="1" dirty="0">
                <a:solidFill>
                  <a:srgbClr val="0F2350"/>
                </a:solidFill>
                <a:latin typeface="Meiryo" pitchFamily="34" charset="0"/>
                <a:ea typeface="Meiryo" pitchFamily="34" charset="-122"/>
                <a:cs typeface="Meiryo" pitchFamily="34" charset="-120"/>
              </a:rPr>
              <a:t>Scheduler</a:t>
            </a:r>
            <a:endParaRPr lang="en-US" sz="1400" dirty="0"/>
          </a:p>
        </p:txBody>
      </p:sp>
      <p:sp>
        <p:nvSpPr>
          <p:cNvPr id="14" name="Text 12"/>
          <p:cNvSpPr/>
          <p:nvPr/>
        </p:nvSpPr>
        <p:spPr>
          <a:xfrm>
            <a:off x="3813048" y="3694176"/>
            <a:ext cx="2386584" cy="969264"/>
          </a:xfrm>
          <a:prstGeom prst="rect">
            <a:avLst/>
          </a:prstGeom>
          <a:noFill/>
          <a:ln/>
        </p:spPr>
        <p:txBody>
          <a:bodyPr wrap="square" lIns="0" tIns="0" rIns="0" bIns="0" rtlCol="0" anchor="t"/>
          <a:lstStyle/>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新しいPodを</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どのノードに</a:t>
            </a:r>
            <a:endParaRPr lang="en-US" sz="1050" dirty="0"/>
          </a:p>
          <a:p>
            <a:pPr marL="0" indent="0" algn="ctr">
              <a:lnSpc>
                <a:spcPts val="1400"/>
              </a:lnSpc>
              <a:buNone/>
            </a:pPr>
            <a:r>
              <a:rPr lang="en-US" sz="1050" dirty="0">
                <a:solidFill>
                  <a:srgbClr val="5D6B85"/>
                </a:solidFill>
                <a:latin typeface="Meiryo" pitchFamily="34" charset="0"/>
                <a:ea typeface="Meiryo" pitchFamily="34" charset="-122"/>
                <a:cs typeface="Meiryo" pitchFamily="34" charset="-120"/>
              </a:rPr>
              <a:t>置くか決める</a:t>
            </a:r>
            <a:endParaRPr lang="en-US" sz="1050" dirty="0"/>
          </a:p>
        </p:txBody>
      </p:sp>
      <p:sp>
        <p:nvSpPr>
          <p:cNvPr id="15" name="Text 13"/>
          <p:cNvSpPr/>
          <p:nvPr/>
        </p:nvSpPr>
        <p:spPr>
          <a:xfrm>
            <a:off x="6583680" y="2926080"/>
            <a:ext cx="685800" cy="457200"/>
          </a:xfrm>
          <a:prstGeom prst="rect">
            <a:avLst/>
          </a:prstGeom>
          <a:noFill/>
          <a:ln/>
        </p:spPr>
        <p:txBody>
          <a:bodyPr wrap="square" lIns="0" tIns="0" rIns="0" bIns="0" rtlCol="0" anchor="ctr"/>
          <a:lstStyle/>
          <a:p>
            <a:pPr marL="0" indent="0" algn="ctr">
              <a:buNone/>
            </a:pPr>
            <a:r>
              <a:rPr lang="en-US" sz="2400" b="1" dirty="0">
                <a:solidFill>
                  <a:srgbClr val="326CE5"/>
                </a:solidFill>
                <a:latin typeface="Meiryo" pitchFamily="34" charset="0"/>
                <a:ea typeface="Meiryo" pitchFamily="34" charset="-122"/>
                <a:cs typeface="Meiryo" pitchFamily="34" charset="-120"/>
              </a:rPr>
              <a:t>→</a:t>
            </a:r>
            <a:endParaRPr lang="en-US" sz="2400" dirty="0"/>
          </a:p>
        </p:txBody>
      </p:sp>
      <p:sp>
        <p:nvSpPr>
          <p:cNvPr id="16" name="Shape 14"/>
          <p:cNvSpPr/>
          <p:nvPr/>
        </p:nvSpPr>
        <p:spPr>
          <a:xfrm>
            <a:off x="7269480" y="1737360"/>
            <a:ext cx="4251960" cy="3246120"/>
          </a:xfrm>
          <a:prstGeom prst="roundRect">
            <a:avLst>
              <a:gd name="adj" fmla="val 1408"/>
            </a:avLst>
          </a:prstGeom>
          <a:solidFill>
            <a:srgbClr val="F5F8FD"/>
          </a:solidFill>
          <a:ln w="19050">
            <a:solidFill>
              <a:srgbClr val="CFDEF8"/>
            </a:solidFill>
            <a:prstDash val="solid"/>
          </a:ln>
        </p:spPr>
      </p:sp>
      <p:sp>
        <p:nvSpPr>
          <p:cNvPr id="17" name="Text 15"/>
          <p:cNvSpPr/>
          <p:nvPr/>
        </p:nvSpPr>
        <p:spPr>
          <a:xfrm>
            <a:off x="7543800" y="1828800"/>
            <a:ext cx="3657600" cy="320040"/>
          </a:xfrm>
          <a:prstGeom prst="rect">
            <a:avLst/>
          </a:prstGeom>
          <a:noFill/>
          <a:ln/>
        </p:spPr>
        <p:txBody>
          <a:bodyPr wrap="square" lIns="0" tIns="0" rIns="0" bIns="0" rtlCol="0" anchor="ctr"/>
          <a:lstStyle/>
          <a:p>
            <a:pPr marL="0" indent="0">
              <a:buNone/>
            </a:pPr>
            <a:r>
              <a:rPr lang="en-US" sz="1200" b="1" dirty="0">
                <a:solidFill>
                  <a:srgbClr val="5D6B85"/>
                </a:solidFill>
                <a:latin typeface="Meiryo" pitchFamily="34" charset="0"/>
                <a:ea typeface="Meiryo" pitchFamily="34" charset="-122"/>
                <a:cs typeface="Meiryo" pitchFamily="34" charset="-120"/>
              </a:rPr>
              <a:t>ワーカーノード</a:t>
            </a:r>
            <a:endParaRPr lang="en-US" sz="1200" dirty="0"/>
          </a:p>
        </p:txBody>
      </p:sp>
      <p:sp>
        <p:nvSpPr>
          <p:cNvPr id="18" name="Shape 16"/>
          <p:cNvSpPr/>
          <p:nvPr/>
        </p:nvSpPr>
        <p:spPr>
          <a:xfrm>
            <a:off x="7543800" y="2240280"/>
            <a:ext cx="1143000" cy="2377440"/>
          </a:xfrm>
          <a:prstGeom prst="roundRect">
            <a:avLst>
              <a:gd name="adj" fmla="val 6400"/>
            </a:avLst>
          </a:prstGeom>
          <a:solidFill>
            <a:srgbClr val="FFFFFF"/>
          </a:solidFill>
          <a:ln w="15875">
            <a:solidFill>
              <a:srgbClr val="CFDEF8"/>
            </a:solidFill>
            <a:prstDash val="solid"/>
          </a:ln>
        </p:spPr>
      </p:sp>
      <p:sp>
        <p:nvSpPr>
          <p:cNvPr id="19" name="Shape 17"/>
          <p:cNvSpPr/>
          <p:nvPr/>
        </p:nvSpPr>
        <p:spPr>
          <a:xfrm>
            <a:off x="7680960" y="2395728"/>
            <a:ext cx="868680" cy="384048"/>
          </a:xfrm>
          <a:prstGeom prst="roundRect">
            <a:avLst>
              <a:gd name="adj" fmla="val 19048"/>
            </a:avLst>
          </a:prstGeom>
          <a:solidFill>
            <a:srgbClr val="E8EEF9"/>
          </a:solidFill>
          <a:ln/>
        </p:spPr>
      </p:sp>
      <p:sp>
        <p:nvSpPr>
          <p:cNvPr id="20" name="Text 18"/>
          <p:cNvSpPr/>
          <p:nvPr/>
        </p:nvSpPr>
        <p:spPr>
          <a:xfrm>
            <a:off x="76809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21" name="Shape 19"/>
          <p:cNvSpPr/>
          <p:nvPr/>
        </p:nvSpPr>
        <p:spPr>
          <a:xfrm>
            <a:off x="7680960" y="2926080"/>
            <a:ext cx="868680" cy="384048"/>
          </a:xfrm>
          <a:prstGeom prst="roundRect">
            <a:avLst>
              <a:gd name="adj" fmla="val 23810"/>
            </a:avLst>
          </a:prstGeom>
          <a:solidFill>
            <a:srgbClr val="326CE5"/>
          </a:solidFill>
          <a:ln/>
        </p:spPr>
      </p:sp>
      <p:sp>
        <p:nvSpPr>
          <p:cNvPr id="22" name="Text 20"/>
          <p:cNvSpPr/>
          <p:nvPr/>
        </p:nvSpPr>
        <p:spPr>
          <a:xfrm>
            <a:off x="76809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23" name="Shape 21"/>
          <p:cNvSpPr/>
          <p:nvPr/>
        </p:nvSpPr>
        <p:spPr>
          <a:xfrm>
            <a:off x="7680960" y="3401568"/>
            <a:ext cx="868680" cy="384048"/>
          </a:xfrm>
          <a:prstGeom prst="roundRect">
            <a:avLst>
              <a:gd name="adj" fmla="val 23810"/>
            </a:avLst>
          </a:prstGeom>
          <a:solidFill>
            <a:srgbClr val="326CE5"/>
          </a:solidFill>
          <a:ln/>
        </p:spPr>
      </p:sp>
      <p:sp>
        <p:nvSpPr>
          <p:cNvPr id="24" name="Text 22"/>
          <p:cNvSpPr/>
          <p:nvPr/>
        </p:nvSpPr>
        <p:spPr>
          <a:xfrm>
            <a:off x="76809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25" name="Text 23"/>
          <p:cNvSpPr/>
          <p:nvPr/>
        </p:nvSpPr>
        <p:spPr>
          <a:xfrm>
            <a:off x="75438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26" name="Shape 24"/>
          <p:cNvSpPr/>
          <p:nvPr/>
        </p:nvSpPr>
        <p:spPr>
          <a:xfrm>
            <a:off x="8915400" y="2240280"/>
            <a:ext cx="1143000" cy="2377440"/>
          </a:xfrm>
          <a:prstGeom prst="roundRect">
            <a:avLst>
              <a:gd name="adj" fmla="val 6400"/>
            </a:avLst>
          </a:prstGeom>
          <a:solidFill>
            <a:srgbClr val="FFFFFF"/>
          </a:solidFill>
          <a:ln w="15875">
            <a:solidFill>
              <a:srgbClr val="CFDEF8"/>
            </a:solidFill>
            <a:prstDash val="solid"/>
          </a:ln>
        </p:spPr>
      </p:sp>
      <p:sp>
        <p:nvSpPr>
          <p:cNvPr id="27" name="Shape 25"/>
          <p:cNvSpPr/>
          <p:nvPr/>
        </p:nvSpPr>
        <p:spPr>
          <a:xfrm>
            <a:off x="9052560" y="2395728"/>
            <a:ext cx="868680" cy="384048"/>
          </a:xfrm>
          <a:prstGeom prst="roundRect">
            <a:avLst>
              <a:gd name="adj" fmla="val 19048"/>
            </a:avLst>
          </a:prstGeom>
          <a:solidFill>
            <a:srgbClr val="E8EEF9"/>
          </a:solidFill>
          <a:ln/>
        </p:spPr>
      </p:sp>
      <p:sp>
        <p:nvSpPr>
          <p:cNvPr id="28" name="Text 26"/>
          <p:cNvSpPr/>
          <p:nvPr/>
        </p:nvSpPr>
        <p:spPr>
          <a:xfrm>
            <a:off x="90525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29" name="Shape 27"/>
          <p:cNvSpPr/>
          <p:nvPr/>
        </p:nvSpPr>
        <p:spPr>
          <a:xfrm>
            <a:off x="9052560" y="2926080"/>
            <a:ext cx="868680" cy="384048"/>
          </a:xfrm>
          <a:prstGeom prst="roundRect">
            <a:avLst>
              <a:gd name="adj" fmla="val 23810"/>
            </a:avLst>
          </a:prstGeom>
          <a:solidFill>
            <a:srgbClr val="326CE5"/>
          </a:solidFill>
          <a:ln/>
        </p:spPr>
      </p:sp>
      <p:sp>
        <p:nvSpPr>
          <p:cNvPr id="30" name="Text 28"/>
          <p:cNvSpPr/>
          <p:nvPr/>
        </p:nvSpPr>
        <p:spPr>
          <a:xfrm>
            <a:off x="90525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1" name="Shape 29"/>
          <p:cNvSpPr/>
          <p:nvPr/>
        </p:nvSpPr>
        <p:spPr>
          <a:xfrm>
            <a:off x="9052560" y="3401568"/>
            <a:ext cx="868680" cy="384048"/>
          </a:xfrm>
          <a:prstGeom prst="roundRect">
            <a:avLst>
              <a:gd name="adj" fmla="val 23810"/>
            </a:avLst>
          </a:prstGeom>
          <a:solidFill>
            <a:srgbClr val="326CE5"/>
          </a:solidFill>
          <a:ln/>
        </p:spPr>
      </p:sp>
      <p:sp>
        <p:nvSpPr>
          <p:cNvPr id="32" name="Text 30"/>
          <p:cNvSpPr/>
          <p:nvPr/>
        </p:nvSpPr>
        <p:spPr>
          <a:xfrm>
            <a:off x="90525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3" name="Text 31"/>
          <p:cNvSpPr/>
          <p:nvPr/>
        </p:nvSpPr>
        <p:spPr>
          <a:xfrm>
            <a:off x="89154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4" name="Shape 32"/>
          <p:cNvSpPr/>
          <p:nvPr/>
        </p:nvSpPr>
        <p:spPr>
          <a:xfrm>
            <a:off x="10287000" y="2240280"/>
            <a:ext cx="1143000" cy="2377440"/>
          </a:xfrm>
          <a:prstGeom prst="roundRect">
            <a:avLst>
              <a:gd name="adj" fmla="val 6400"/>
            </a:avLst>
          </a:prstGeom>
          <a:solidFill>
            <a:srgbClr val="FFFFFF"/>
          </a:solidFill>
          <a:ln w="15875">
            <a:solidFill>
              <a:srgbClr val="CFDEF8"/>
            </a:solidFill>
            <a:prstDash val="solid"/>
          </a:ln>
        </p:spPr>
      </p:sp>
      <p:sp>
        <p:nvSpPr>
          <p:cNvPr id="35" name="Shape 33"/>
          <p:cNvSpPr/>
          <p:nvPr/>
        </p:nvSpPr>
        <p:spPr>
          <a:xfrm>
            <a:off x="10424160" y="2395728"/>
            <a:ext cx="868680" cy="384048"/>
          </a:xfrm>
          <a:prstGeom prst="roundRect">
            <a:avLst>
              <a:gd name="adj" fmla="val 19048"/>
            </a:avLst>
          </a:prstGeom>
          <a:solidFill>
            <a:srgbClr val="E8EEF9"/>
          </a:solidFill>
          <a:ln/>
        </p:spPr>
      </p:sp>
      <p:sp>
        <p:nvSpPr>
          <p:cNvPr id="36" name="Text 34"/>
          <p:cNvSpPr/>
          <p:nvPr/>
        </p:nvSpPr>
        <p:spPr>
          <a:xfrm>
            <a:off x="10424160" y="2395728"/>
            <a:ext cx="868680" cy="384048"/>
          </a:xfrm>
          <a:prstGeom prst="rect">
            <a:avLst/>
          </a:prstGeom>
          <a:noFill/>
          <a:ln/>
        </p:spPr>
        <p:txBody>
          <a:bodyPr wrap="square" lIns="0" tIns="0" rIns="0" bIns="0" rtlCol="0" anchor="ctr"/>
          <a:lstStyle/>
          <a:p>
            <a:pPr marL="0" indent="0" algn="ctr">
              <a:buNone/>
            </a:pPr>
            <a:r>
              <a:rPr lang="en-US" sz="850" b="1" dirty="0">
                <a:solidFill>
                  <a:srgbClr val="0F2350"/>
                </a:solidFill>
                <a:latin typeface="Meiryo" pitchFamily="34" charset="0"/>
                <a:ea typeface="Meiryo" pitchFamily="34" charset="-122"/>
                <a:cs typeface="Meiryo" pitchFamily="34" charset="-120"/>
              </a:rPr>
              <a:t>kubelet</a:t>
            </a:r>
            <a:endParaRPr lang="en-US" sz="850" dirty="0"/>
          </a:p>
        </p:txBody>
      </p:sp>
      <p:sp>
        <p:nvSpPr>
          <p:cNvPr id="37" name="Shape 35"/>
          <p:cNvSpPr/>
          <p:nvPr/>
        </p:nvSpPr>
        <p:spPr>
          <a:xfrm>
            <a:off x="10424160" y="2926080"/>
            <a:ext cx="868680" cy="384048"/>
          </a:xfrm>
          <a:prstGeom prst="roundRect">
            <a:avLst>
              <a:gd name="adj" fmla="val 23810"/>
            </a:avLst>
          </a:prstGeom>
          <a:solidFill>
            <a:srgbClr val="326CE5"/>
          </a:solidFill>
          <a:ln/>
        </p:spPr>
      </p:sp>
      <p:sp>
        <p:nvSpPr>
          <p:cNvPr id="38" name="Text 36"/>
          <p:cNvSpPr/>
          <p:nvPr/>
        </p:nvSpPr>
        <p:spPr>
          <a:xfrm>
            <a:off x="10424160" y="2926080"/>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39" name="Shape 37"/>
          <p:cNvSpPr/>
          <p:nvPr/>
        </p:nvSpPr>
        <p:spPr>
          <a:xfrm>
            <a:off x="10424160" y="3401568"/>
            <a:ext cx="868680" cy="384048"/>
          </a:xfrm>
          <a:prstGeom prst="roundRect">
            <a:avLst>
              <a:gd name="adj" fmla="val 23810"/>
            </a:avLst>
          </a:prstGeom>
          <a:solidFill>
            <a:srgbClr val="326CE5"/>
          </a:solidFill>
          <a:ln/>
        </p:spPr>
      </p:sp>
      <p:sp>
        <p:nvSpPr>
          <p:cNvPr id="40" name="Text 38"/>
          <p:cNvSpPr/>
          <p:nvPr/>
        </p:nvSpPr>
        <p:spPr>
          <a:xfrm>
            <a:off x="10424160" y="3401568"/>
            <a:ext cx="868680"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pitchFamily="34" charset="0"/>
                <a:ea typeface="Meiryo" pitchFamily="34" charset="-122"/>
                <a:cs typeface="Meiryo" pitchFamily="34" charset="-120"/>
              </a:rPr>
              <a:t>Pod</a:t>
            </a:r>
            <a:endParaRPr lang="en-US" sz="850" dirty="0"/>
          </a:p>
        </p:txBody>
      </p:sp>
      <p:sp>
        <p:nvSpPr>
          <p:cNvPr id="41" name="Text 39"/>
          <p:cNvSpPr/>
          <p:nvPr/>
        </p:nvSpPr>
        <p:spPr>
          <a:xfrm>
            <a:off x="10287000" y="4206240"/>
            <a:ext cx="1143000" cy="320040"/>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42" name="Text 40"/>
          <p:cNvSpPr/>
          <p:nvPr/>
        </p:nvSpPr>
        <p:spPr>
          <a:xfrm>
            <a:off x="7543800" y="4572000"/>
            <a:ext cx="3749040" cy="320040"/>
          </a:xfrm>
          <a:prstGeom prst="rect">
            <a:avLst/>
          </a:prstGeom>
          <a:noFill/>
          <a:ln/>
        </p:spPr>
        <p:txBody>
          <a:bodyPr wrap="square" lIns="0" tIns="0" rIns="0" bIns="0" rtlCol="0" anchor="ctr"/>
          <a:lstStyle/>
          <a:p>
            <a:pPr marL="0" indent="0" algn="ctr">
              <a:buNone/>
            </a:pPr>
            <a:r>
              <a:rPr lang="en-US" sz="1000" dirty="0">
                <a:solidFill>
                  <a:srgbClr val="5D6B85"/>
                </a:solidFill>
                <a:latin typeface="Meiryo" pitchFamily="34" charset="0"/>
                <a:ea typeface="Meiryo" pitchFamily="34" charset="-122"/>
                <a:cs typeface="Meiryo" pitchFamily="34" charset="-120"/>
              </a:rPr>
              <a:t>kubelet：各ノードで実際にコンテナを動かす担当</a:t>
            </a:r>
            <a:endParaRPr lang="en-US" sz="1000" dirty="0"/>
          </a:p>
        </p:txBody>
      </p:sp>
      <p:sp>
        <p:nvSpPr>
          <p:cNvPr id="43" name="Shape 41"/>
          <p:cNvSpPr/>
          <p:nvPr/>
        </p:nvSpPr>
        <p:spPr>
          <a:xfrm>
            <a:off x="640080" y="5166360"/>
            <a:ext cx="10881360" cy="960120"/>
          </a:xfrm>
          <a:prstGeom prst="roundRect">
            <a:avLst>
              <a:gd name="adj" fmla="val 5714"/>
            </a:avLst>
          </a:prstGeom>
          <a:solidFill>
            <a:srgbClr val="E8EEF9"/>
          </a:solidFill>
          <a:ln w="12700">
            <a:solidFill>
              <a:srgbClr val="E8EEF9"/>
            </a:solidFill>
            <a:prstDash val="solid"/>
          </a:ln>
        </p:spPr>
      </p:sp>
      <p:sp>
        <p:nvSpPr>
          <p:cNvPr id="44" name="Text 42"/>
          <p:cNvSpPr/>
          <p:nvPr/>
        </p:nvSpPr>
        <p:spPr>
          <a:xfrm>
            <a:off x="960120" y="5166360"/>
            <a:ext cx="10241280" cy="96012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前のページのループを実際に回しているのが Controller。私たちは API Server に「あるべき状態」を預けるだけでよい。</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私たちが書くのは「あるべき状態」だけ</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Deploymentのmanifest ── 手順は一行も書かれていない</a:t>
            </a:r>
            <a:endParaRPr lang="en-US" sz="1350" dirty="0"/>
          </a:p>
        </p:txBody>
      </p:sp>
      <p:sp>
        <p:nvSpPr>
          <p:cNvPr id="4" name="Shape 2"/>
          <p:cNvSpPr/>
          <p:nvPr/>
        </p:nvSpPr>
        <p:spPr>
          <a:xfrm>
            <a:off x="640080" y="1737360"/>
            <a:ext cx="6035040" cy="4114800"/>
          </a:xfrm>
          <a:prstGeom prst="roundRect">
            <a:avLst>
              <a:gd name="adj" fmla="val 1778"/>
            </a:avLst>
          </a:prstGeom>
          <a:solidFill>
            <a:srgbClr val="0F2350"/>
          </a:solidFill>
          <a:ln/>
        </p:spPr>
      </p:sp>
      <p:sp>
        <p:nvSpPr>
          <p:cNvPr id="5" name="Text 3"/>
          <p:cNvSpPr/>
          <p:nvPr/>
        </p:nvSpPr>
        <p:spPr>
          <a:xfrm>
            <a:off x="960120" y="2057400"/>
            <a:ext cx="5394960" cy="3520440"/>
          </a:xfrm>
          <a:prstGeom prst="rect">
            <a:avLst/>
          </a:prstGeom>
          <a:noFill/>
          <a:ln/>
        </p:spPr>
        <p:txBody>
          <a:bodyPr wrap="square" lIns="0" tIns="0" rIns="0" bIns="0" rtlCol="0" anchor="t"/>
          <a:lstStyle/>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apiVersion: apps/v1</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kind: Deployment</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metadata:</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name: demo-web</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spec:</a:t>
            </a:r>
            <a:endParaRPr lang="en-US" sz="1350" dirty="0"/>
          </a:p>
          <a:p>
            <a:pPr marL="0" indent="0">
              <a:lnSpc>
                <a:spcPts val="2200"/>
              </a:lnSpc>
              <a:buNone/>
            </a:pPr>
            <a:r>
              <a:rPr lang="en-US" sz="1350" b="1" dirty="0">
                <a:solidFill>
                  <a:srgbClr val="FFD479"/>
                </a:solidFill>
                <a:latin typeface="Courier New" pitchFamily="34" charset="0"/>
                <a:ea typeface="Courier New" pitchFamily="34" charset="-122"/>
                <a:cs typeface="Courier New" pitchFamily="34" charset="-120"/>
              </a:rPr>
              <a:t>  replicas: 3</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template:</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spec:</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containers:</a:t>
            </a:r>
            <a:endParaRPr lang="en-US" sz="1350" dirty="0"/>
          </a:p>
          <a:p>
            <a:pPr marL="0" indent="0">
              <a:lnSpc>
                <a:spcPts val="2200"/>
              </a:lnSpc>
              <a:buNone/>
            </a:pPr>
            <a:r>
              <a:rPr lang="en-US" sz="1350" dirty="0">
                <a:solidFill>
                  <a:srgbClr val="9FB6DC"/>
                </a:solidFill>
                <a:latin typeface="Courier New" pitchFamily="34" charset="0"/>
                <a:ea typeface="Courier New" pitchFamily="34" charset="-122"/>
                <a:cs typeface="Courier New" pitchFamily="34" charset="-120"/>
              </a:rPr>
              <a:t>        - name: web</a:t>
            </a:r>
            <a:endParaRPr lang="en-US" sz="1350" dirty="0"/>
          </a:p>
          <a:p>
            <a:pPr marL="0" indent="0">
              <a:lnSpc>
                <a:spcPts val="2200"/>
              </a:lnSpc>
              <a:buNone/>
            </a:pPr>
            <a:r>
              <a:rPr lang="en-US" sz="1350" b="1" dirty="0">
                <a:solidFill>
                  <a:srgbClr val="FFD479"/>
                </a:solidFill>
                <a:latin typeface="Courier New" pitchFamily="34" charset="0"/>
                <a:ea typeface="Courier New" pitchFamily="34" charset="-122"/>
                <a:cs typeface="Courier New" pitchFamily="34" charset="-120"/>
              </a:rPr>
              <a:t>          image: nginx:1.27-alpine</a:t>
            </a:r>
            <a:endParaRPr lang="en-US" sz="1350" dirty="0"/>
          </a:p>
        </p:txBody>
      </p:sp>
      <p:sp>
        <p:nvSpPr>
          <p:cNvPr id="6" name="Shape 4"/>
          <p:cNvSpPr/>
          <p:nvPr/>
        </p:nvSpPr>
        <p:spPr>
          <a:xfrm>
            <a:off x="7040880" y="1737360"/>
            <a:ext cx="4480560" cy="868680"/>
          </a:xfrm>
          <a:prstGeom prst="roundRect">
            <a:avLst>
              <a:gd name="adj" fmla="val 6316"/>
            </a:avLst>
          </a:prstGeom>
          <a:solidFill>
            <a:srgbClr val="E8EEF9"/>
          </a:solidFill>
          <a:ln w="12700">
            <a:solidFill>
              <a:srgbClr val="E8EEF9"/>
            </a:solidFill>
            <a:prstDash val="solid"/>
          </a:ln>
        </p:spPr>
      </p:sp>
      <p:sp>
        <p:nvSpPr>
          <p:cNvPr id="7" name="Text 5"/>
          <p:cNvSpPr/>
          <p:nvPr/>
        </p:nvSpPr>
        <p:spPr>
          <a:xfrm>
            <a:off x="7315200" y="1847088"/>
            <a:ext cx="3931920" cy="320040"/>
          </a:xfrm>
          <a:prstGeom prst="rect">
            <a:avLst/>
          </a:prstGeom>
          <a:noFill/>
          <a:ln/>
        </p:spPr>
        <p:txBody>
          <a:bodyPr wrap="square" lIns="0" tIns="0" rIns="0" bIns="0" rtlCol="0" anchor="ctr"/>
          <a:lstStyle/>
          <a:p>
            <a:pPr marL="0" indent="0">
              <a:buNone/>
            </a:pPr>
            <a:r>
              <a:rPr lang="en-US" sz="1200" b="1" dirty="0">
                <a:solidFill>
                  <a:srgbClr val="326CE5"/>
                </a:solidFill>
                <a:latin typeface="Courier New" pitchFamily="34" charset="0"/>
                <a:ea typeface="Courier New" pitchFamily="34" charset="-122"/>
                <a:cs typeface="Courier New" pitchFamily="34" charset="-120"/>
              </a:rPr>
              <a:t>replicas: 3</a:t>
            </a:r>
            <a:endParaRPr lang="en-US" sz="1200" dirty="0"/>
          </a:p>
        </p:txBody>
      </p:sp>
      <p:sp>
        <p:nvSpPr>
          <p:cNvPr id="8" name="Text 6"/>
          <p:cNvSpPr/>
          <p:nvPr/>
        </p:nvSpPr>
        <p:spPr>
          <a:xfrm>
            <a:off x="7315200" y="2167128"/>
            <a:ext cx="3931920" cy="320040"/>
          </a:xfrm>
          <a:prstGeom prst="rect">
            <a:avLst/>
          </a:prstGeom>
          <a:noFill/>
          <a:ln/>
        </p:spPr>
        <p:txBody>
          <a:bodyPr wrap="square" lIns="0" tIns="0" rIns="0" bIns="0" rtlCol="0" anchor="ctr"/>
          <a:lstStyle/>
          <a:p>
            <a:pPr marL="0" indent="0">
              <a:buNone/>
            </a:pPr>
            <a:r>
              <a:rPr lang="en-US" sz="1300" dirty="0">
                <a:solidFill>
                  <a:srgbClr val="0F2350"/>
                </a:solidFill>
                <a:latin typeface="Meiryo" pitchFamily="34" charset="0"/>
                <a:ea typeface="Meiryo" pitchFamily="34" charset="-122"/>
                <a:cs typeface="Meiryo" pitchFamily="34" charset="-120"/>
              </a:rPr>
              <a:t>「3つ動いていてほしい」</a:t>
            </a:r>
            <a:endParaRPr lang="en-US" sz="1300" dirty="0"/>
          </a:p>
        </p:txBody>
      </p:sp>
      <p:sp>
        <p:nvSpPr>
          <p:cNvPr id="9" name="Shape 7"/>
          <p:cNvSpPr/>
          <p:nvPr/>
        </p:nvSpPr>
        <p:spPr>
          <a:xfrm>
            <a:off x="7040880" y="2743200"/>
            <a:ext cx="4480560" cy="868680"/>
          </a:xfrm>
          <a:prstGeom prst="roundRect">
            <a:avLst>
              <a:gd name="adj" fmla="val 6316"/>
            </a:avLst>
          </a:prstGeom>
          <a:solidFill>
            <a:srgbClr val="E8EEF9"/>
          </a:solidFill>
          <a:ln w="12700">
            <a:solidFill>
              <a:srgbClr val="E8EEF9"/>
            </a:solidFill>
            <a:prstDash val="solid"/>
          </a:ln>
        </p:spPr>
      </p:sp>
      <p:sp>
        <p:nvSpPr>
          <p:cNvPr id="10" name="Text 8"/>
          <p:cNvSpPr/>
          <p:nvPr/>
        </p:nvSpPr>
        <p:spPr>
          <a:xfrm>
            <a:off x="7315200" y="2852928"/>
            <a:ext cx="3931920" cy="320040"/>
          </a:xfrm>
          <a:prstGeom prst="rect">
            <a:avLst/>
          </a:prstGeom>
          <a:noFill/>
          <a:ln/>
        </p:spPr>
        <p:txBody>
          <a:bodyPr wrap="square" lIns="0" tIns="0" rIns="0" bIns="0" rtlCol="0" anchor="ctr"/>
          <a:lstStyle/>
          <a:p>
            <a:pPr marL="0" indent="0">
              <a:buNone/>
            </a:pPr>
            <a:r>
              <a:rPr lang="en-US" sz="1200" b="1" dirty="0">
                <a:solidFill>
                  <a:srgbClr val="326CE5"/>
                </a:solidFill>
                <a:latin typeface="Courier New" pitchFamily="34" charset="0"/>
                <a:ea typeface="Courier New" pitchFamily="34" charset="-122"/>
                <a:cs typeface="Courier New" pitchFamily="34" charset="-120"/>
              </a:rPr>
              <a:t>image: ...</a:t>
            </a:r>
            <a:endParaRPr lang="en-US" sz="1200" dirty="0"/>
          </a:p>
        </p:txBody>
      </p:sp>
      <p:sp>
        <p:nvSpPr>
          <p:cNvPr id="11" name="Text 9"/>
          <p:cNvSpPr/>
          <p:nvPr/>
        </p:nvSpPr>
        <p:spPr>
          <a:xfrm>
            <a:off x="7315200" y="3172968"/>
            <a:ext cx="3931920" cy="320040"/>
          </a:xfrm>
          <a:prstGeom prst="rect">
            <a:avLst/>
          </a:prstGeom>
          <a:noFill/>
          <a:ln/>
        </p:spPr>
        <p:txBody>
          <a:bodyPr wrap="square" lIns="0" tIns="0" rIns="0" bIns="0" rtlCol="0" anchor="ctr"/>
          <a:lstStyle/>
          <a:p>
            <a:pPr marL="0" indent="0">
              <a:buNone/>
            </a:pPr>
            <a:r>
              <a:rPr lang="en-US" sz="1300" dirty="0">
                <a:solidFill>
                  <a:srgbClr val="0F2350"/>
                </a:solidFill>
                <a:latin typeface="Meiryo" pitchFamily="34" charset="0"/>
                <a:ea typeface="Meiryo" pitchFamily="34" charset="-122"/>
                <a:cs typeface="Meiryo" pitchFamily="34" charset="-120"/>
              </a:rPr>
              <a:t>「これを動かしてほしい」</a:t>
            </a:r>
            <a:endParaRPr lang="en-US" sz="1300" dirty="0"/>
          </a:p>
        </p:txBody>
      </p:sp>
      <p:sp>
        <p:nvSpPr>
          <p:cNvPr id="12" name="Shape 10"/>
          <p:cNvSpPr/>
          <p:nvPr/>
        </p:nvSpPr>
        <p:spPr>
          <a:xfrm>
            <a:off x="7040880" y="3794760"/>
            <a:ext cx="4480560" cy="2057400"/>
          </a:xfrm>
          <a:prstGeom prst="roundRect">
            <a:avLst>
              <a:gd name="adj" fmla="val 2667"/>
            </a:avLst>
          </a:prstGeom>
          <a:solidFill>
            <a:srgbClr val="FDF3E2"/>
          </a:solidFill>
          <a:ln w="12700">
            <a:solidFill>
              <a:srgbClr val="E8C68A"/>
            </a:solidFill>
            <a:prstDash val="solid"/>
          </a:ln>
        </p:spPr>
      </p:sp>
      <p:sp>
        <p:nvSpPr>
          <p:cNvPr id="13" name="Text 11"/>
          <p:cNvSpPr/>
          <p:nvPr/>
        </p:nvSpPr>
        <p:spPr>
          <a:xfrm>
            <a:off x="7315200" y="3931920"/>
            <a:ext cx="3931920" cy="320040"/>
          </a:xfrm>
          <a:prstGeom prst="rect">
            <a:avLst/>
          </a:prstGeom>
          <a:noFill/>
          <a:ln/>
        </p:spPr>
        <p:txBody>
          <a:bodyPr wrap="square" lIns="0" tIns="0" rIns="0" bIns="0" rtlCol="0" anchor="ctr"/>
          <a:lstStyle/>
          <a:p>
            <a:pPr marL="0" indent="0">
              <a:buNone/>
            </a:pPr>
            <a:r>
              <a:rPr lang="en-US" sz="1300" b="1" dirty="0">
                <a:solidFill>
                  <a:srgbClr val="B26B00"/>
                </a:solidFill>
                <a:latin typeface="Meiryo" pitchFamily="34" charset="0"/>
                <a:ea typeface="Meiryo" pitchFamily="34" charset="-122"/>
                <a:cs typeface="Meiryo" pitchFamily="34" charset="-120"/>
              </a:rPr>
              <a:t>書かれていないこと</a:t>
            </a:r>
            <a:endParaRPr lang="en-US" sz="1300" dirty="0"/>
          </a:p>
        </p:txBody>
      </p:sp>
      <p:sp>
        <p:nvSpPr>
          <p:cNvPr id="14" name="Text 12"/>
          <p:cNvSpPr/>
          <p:nvPr/>
        </p:nvSpPr>
        <p:spPr>
          <a:xfrm>
            <a:off x="7315200" y="4297680"/>
            <a:ext cx="3931920" cy="1417320"/>
          </a:xfrm>
          <a:prstGeom prst="rect">
            <a:avLst/>
          </a:prstGeom>
          <a:noFill/>
          <a:ln/>
        </p:spPr>
        <p:txBody>
          <a:bodyPr wrap="square" lIns="0" tIns="0" rIns="0" bIns="0" rtlCol="0" anchor="t"/>
          <a:lstStyle/>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どのノードに置くか</a:t>
            </a:r>
            <a:endParaRPr lang="en-US" sz="1200" dirty="0"/>
          </a:p>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落ちたらどう復旧するか</a:t>
            </a:r>
            <a:endParaRPr lang="en-US" sz="1200" dirty="0"/>
          </a:p>
          <a:p>
            <a:pPr marL="342900" indent="-342900">
              <a:lnSpc>
                <a:spcPts val="1700"/>
              </a:lnSpc>
              <a:spcAft>
                <a:spcPts val="500"/>
              </a:spcAft>
              <a:buSzPct val="100000"/>
              <a:buChar char="•"/>
            </a:pPr>
            <a:r>
              <a:rPr lang="en-US" sz="1200" dirty="0">
                <a:solidFill>
                  <a:srgbClr val="1A2233"/>
                </a:solidFill>
                <a:latin typeface="Meiryo" pitchFamily="34" charset="0"/>
                <a:ea typeface="Meiryo" pitchFamily="34" charset="-122"/>
                <a:cs typeface="Meiryo" pitchFamily="34" charset="-120"/>
              </a:rPr>
              <a:t>増やすとき何をするか</a:t>
            </a:r>
            <a:endParaRPr lang="en-US" sz="1200" dirty="0"/>
          </a:p>
          <a:p>
            <a:pPr marL="0" indent="0">
              <a:lnSpc>
                <a:spcPts val="1700"/>
              </a:lnSpc>
              <a:spcAft>
                <a:spcPts val="500"/>
              </a:spcAft>
              <a:buNone/>
            </a:pPr>
            <a:r>
              <a:rPr lang="en-US" sz="1200" dirty="0">
                <a:solidFill>
                  <a:srgbClr val="1A2233"/>
                </a:solidFill>
                <a:latin typeface="Meiryo" pitchFamily="34" charset="0"/>
                <a:ea typeface="Meiryo" pitchFamily="34" charset="-122"/>
                <a:cs typeface="Meiryo" pitchFamily="34" charset="-120"/>
              </a:rPr>
              <a:t>── 全部Controllerの仕事</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具体例①：Podを消しても復活する</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Reconciliation Loop が一番わかりやすく見える瞬間</a:t>
            </a:r>
            <a:endParaRPr lang="en-US" sz="1350" dirty="0"/>
          </a:p>
        </p:txBody>
      </p:sp>
      <p:sp>
        <p:nvSpPr>
          <p:cNvPr id="4" name="Shape 2"/>
          <p:cNvSpPr/>
          <p:nvPr/>
        </p:nvSpPr>
        <p:spPr>
          <a:xfrm>
            <a:off x="640080" y="1737360"/>
            <a:ext cx="5212080" cy="548640"/>
          </a:xfrm>
          <a:prstGeom prst="roundRect">
            <a:avLst>
              <a:gd name="adj" fmla="val 13333"/>
            </a:avLst>
          </a:prstGeom>
          <a:solidFill>
            <a:srgbClr val="0F2350"/>
          </a:solidFill>
          <a:ln/>
        </p:spPr>
      </p:sp>
      <p:sp>
        <p:nvSpPr>
          <p:cNvPr id="5" name="Text 3"/>
          <p:cNvSpPr/>
          <p:nvPr/>
        </p:nvSpPr>
        <p:spPr>
          <a:xfrm>
            <a:off x="822960" y="1737360"/>
            <a:ext cx="4846320" cy="548640"/>
          </a:xfrm>
          <a:prstGeom prst="rect">
            <a:avLst/>
          </a:prstGeom>
          <a:noFill/>
          <a:ln/>
        </p:spPr>
        <p:txBody>
          <a:bodyPr wrap="square" lIns="0" tIns="0" rIns="0" bIns="0" rtlCol="0" anchor="ctr"/>
          <a:lstStyle/>
          <a:p>
            <a:pPr marL="0" indent="0">
              <a:buNone/>
            </a:pPr>
            <a:r>
              <a:rPr lang="en-US" sz="1300" dirty="0">
                <a:solidFill>
                  <a:srgbClr val="A8D5FF"/>
                </a:solidFill>
                <a:latin typeface="Courier New" pitchFamily="34" charset="0"/>
                <a:ea typeface="Courier New" pitchFamily="34" charset="-122"/>
                <a:cs typeface="Courier New" pitchFamily="34" charset="-120"/>
              </a:rPr>
              <a:t>$ kubectl delete pod &lt;pod名&gt;</a:t>
            </a:r>
            <a:endParaRPr lang="en-US" sz="1300" dirty="0"/>
          </a:p>
        </p:txBody>
      </p:sp>
      <p:sp>
        <p:nvSpPr>
          <p:cNvPr id="6" name="Shape 4"/>
          <p:cNvSpPr/>
          <p:nvPr/>
        </p:nvSpPr>
        <p:spPr>
          <a:xfrm>
            <a:off x="640080" y="2514600"/>
            <a:ext cx="5212080" cy="868680"/>
          </a:xfrm>
          <a:prstGeom prst="roundRect">
            <a:avLst>
              <a:gd name="adj" fmla="val 6316"/>
            </a:avLst>
          </a:prstGeom>
          <a:solidFill>
            <a:srgbClr val="F5F8FD"/>
          </a:solidFill>
          <a:ln w="12700">
            <a:solidFill>
              <a:srgbClr val="F5F8FD"/>
            </a:solidFill>
            <a:prstDash val="solid"/>
          </a:ln>
        </p:spPr>
      </p:sp>
      <p:sp>
        <p:nvSpPr>
          <p:cNvPr id="7" name="Text 5"/>
          <p:cNvSpPr/>
          <p:nvPr/>
        </p:nvSpPr>
        <p:spPr>
          <a:xfrm>
            <a:off x="914400" y="262432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お題</a:t>
            </a:r>
            <a:endParaRPr lang="en-US" sz="1300" dirty="0"/>
          </a:p>
        </p:txBody>
      </p:sp>
      <p:sp>
        <p:nvSpPr>
          <p:cNvPr id="8" name="Text 6"/>
          <p:cNvSpPr/>
          <p:nvPr/>
        </p:nvSpPr>
        <p:spPr>
          <a:xfrm>
            <a:off x="914400" y="2926080"/>
            <a:ext cx="4663440" cy="32004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Deploymentの一部として動いているPodを1つ削除する</a:t>
            </a:r>
            <a:endParaRPr lang="en-US" sz="1300" dirty="0"/>
          </a:p>
        </p:txBody>
      </p:sp>
      <p:sp>
        <p:nvSpPr>
          <p:cNvPr id="9" name="Shape 7"/>
          <p:cNvSpPr/>
          <p:nvPr/>
        </p:nvSpPr>
        <p:spPr>
          <a:xfrm>
            <a:off x="640080" y="3566160"/>
            <a:ext cx="5212080" cy="868680"/>
          </a:xfrm>
          <a:prstGeom prst="roundRect">
            <a:avLst>
              <a:gd name="adj" fmla="val 6316"/>
            </a:avLst>
          </a:prstGeom>
          <a:solidFill>
            <a:srgbClr val="F5F8FD"/>
          </a:solidFill>
          <a:ln w="12700">
            <a:solidFill>
              <a:srgbClr val="F5F8FD"/>
            </a:solidFill>
            <a:prstDash val="solid"/>
          </a:ln>
        </p:spPr>
      </p:sp>
      <p:sp>
        <p:nvSpPr>
          <p:cNvPr id="10" name="Text 8"/>
          <p:cNvSpPr/>
          <p:nvPr/>
        </p:nvSpPr>
        <p:spPr>
          <a:xfrm>
            <a:off x="914400" y="367588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結果</a:t>
            </a:r>
            <a:endParaRPr lang="en-US" sz="1300" dirty="0"/>
          </a:p>
        </p:txBody>
      </p:sp>
      <p:sp>
        <p:nvSpPr>
          <p:cNvPr id="11" name="Text 9"/>
          <p:cNvSpPr/>
          <p:nvPr/>
        </p:nvSpPr>
        <p:spPr>
          <a:xfrm>
            <a:off x="914400" y="3977640"/>
            <a:ext cx="4663440" cy="32004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代わりのPodが、勝手に再作成されて戻ってくる</a:t>
            </a:r>
            <a:endParaRPr lang="en-US" sz="1300" dirty="0"/>
          </a:p>
        </p:txBody>
      </p:sp>
      <p:sp>
        <p:nvSpPr>
          <p:cNvPr id="12" name="Shape 10"/>
          <p:cNvSpPr/>
          <p:nvPr/>
        </p:nvSpPr>
        <p:spPr>
          <a:xfrm>
            <a:off x="640080" y="4617720"/>
            <a:ext cx="5212080" cy="1371600"/>
          </a:xfrm>
          <a:prstGeom prst="roundRect">
            <a:avLst>
              <a:gd name="adj" fmla="val 4000"/>
            </a:avLst>
          </a:prstGeom>
          <a:solidFill>
            <a:srgbClr val="E8EEF9"/>
          </a:solidFill>
          <a:ln w="12700">
            <a:solidFill>
              <a:srgbClr val="E8EEF9"/>
            </a:solidFill>
            <a:prstDash val="solid"/>
          </a:ln>
        </p:spPr>
      </p:sp>
      <p:sp>
        <p:nvSpPr>
          <p:cNvPr id="13" name="Text 11"/>
          <p:cNvSpPr/>
          <p:nvPr/>
        </p:nvSpPr>
        <p:spPr>
          <a:xfrm>
            <a:off x="914400" y="4727448"/>
            <a:ext cx="4663440" cy="301752"/>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なぜ？</a:t>
            </a:r>
            <a:endParaRPr lang="en-US" sz="1300" dirty="0"/>
          </a:p>
        </p:txBody>
      </p:sp>
      <p:sp>
        <p:nvSpPr>
          <p:cNvPr id="14" name="Text 12"/>
          <p:cNvSpPr/>
          <p:nvPr/>
        </p:nvSpPr>
        <p:spPr>
          <a:xfrm>
            <a:off x="914400" y="5029200"/>
            <a:ext cx="4663440" cy="822960"/>
          </a:xfrm>
          <a:prstGeom prst="rect">
            <a:avLst/>
          </a:prstGeom>
          <a:noFill/>
          <a:ln/>
        </p:spPr>
        <p:txBody>
          <a:bodyPr wrap="square" lIns="0" tIns="0" rIns="0" bIns="0" rtlCol="0" anchor="t"/>
          <a:lstStyle/>
          <a:p>
            <a:pPr marL="0" indent="0">
              <a:lnSpc>
                <a:spcPts val="1900"/>
              </a:lnSpc>
              <a:buNone/>
            </a:pPr>
            <a:r>
              <a:rPr lang="en-US" sz="1300" dirty="0">
                <a:solidFill>
                  <a:srgbClr val="1A2233"/>
                </a:solidFill>
                <a:latin typeface="Meiryo" pitchFamily="34" charset="0"/>
                <a:ea typeface="Meiryo" pitchFamily="34" charset="-122"/>
                <a:cs typeface="Meiryo" pitchFamily="34" charset="-120"/>
              </a:rPr>
              <a:t>Deploymentは「レプリカ数はこれだけ」というあるべき状態を持っている。Controllerは常にその差分を監視し、埋めているから。</a:t>
            </a:r>
            <a:endParaRPr lang="en-US" sz="1300" dirty="0"/>
          </a:p>
        </p:txBody>
      </p:sp>
      <p:sp>
        <p:nvSpPr>
          <p:cNvPr id="15" name="Shape 13"/>
          <p:cNvSpPr/>
          <p:nvPr/>
        </p:nvSpPr>
        <p:spPr>
          <a:xfrm>
            <a:off x="6172200" y="1737360"/>
            <a:ext cx="5349240" cy="4297680"/>
          </a:xfrm>
          <a:prstGeom prst="roundRect">
            <a:avLst>
              <a:gd name="adj" fmla="val 1277"/>
            </a:avLst>
          </a:prstGeom>
          <a:solidFill>
            <a:srgbClr val="F5F8FD"/>
          </a:solidFill>
          <a:ln w="12700">
            <a:solidFill>
              <a:srgbClr val="F5F8FD"/>
            </a:solidFill>
            <a:prstDash val="solid"/>
          </a:ln>
        </p:spPr>
      </p:sp>
      <p:sp>
        <p:nvSpPr>
          <p:cNvPr id="16" name="Shape 14"/>
          <p:cNvSpPr/>
          <p:nvPr/>
        </p:nvSpPr>
        <p:spPr>
          <a:xfrm>
            <a:off x="6492240" y="1965960"/>
            <a:ext cx="4709160" cy="685800"/>
          </a:xfrm>
          <a:prstGeom prst="roundRect">
            <a:avLst>
              <a:gd name="adj" fmla="val 10667"/>
            </a:avLst>
          </a:prstGeom>
          <a:solidFill>
            <a:srgbClr val="0F2350"/>
          </a:solidFill>
          <a:ln/>
        </p:spPr>
      </p:sp>
      <p:sp>
        <p:nvSpPr>
          <p:cNvPr id="17" name="Text 15"/>
          <p:cNvSpPr/>
          <p:nvPr/>
        </p:nvSpPr>
        <p:spPr>
          <a:xfrm>
            <a:off x="6492240" y="1965960"/>
            <a:ext cx="4709160"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Meiryo" pitchFamily="34" charset="0"/>
                <a:ea typeface="Meiryo" pitchFamily="34" charset="-122"/>
                <a:cs typeface="Meiryo" pitchFamily="34" charset="-120"/>
              </a:rPr>
              <a:t>Deployment ／ あるべき状態：replicas = 3</a:t>
            </a:r>
            <a:endParaRPr lang="en-US" sz="1300" dirty="0"/>
          </a:p>
        </p:txBody>
      </p:sp>
      <p:sp>
        <p:nvSpPr>
          <p:cNvPr id="18" name="Text 16"/>
          <p:cNvSpPr/>
          <p:nvPr/>
        </p:nvSpPr>
        <p:spPr>
          <a:xfrm>
            <a:off x="8366760" y="2697480"/>
            <a:ext cx="960120" cy="365760"/>
          </a:xfrm>
          <a:prstGeom prst="rect">
            <a:avLst/>
          </a:prstGeom>
          <a:noFill/>
          <a:ln/>
        </p:spPr>
        <p:txBody>
          <a:bodyPr wrap="square" lIns="0" tIns="0" rIns="0" bIns="0" rtlCol="0" anchor="ctr"/>
          <a:lstStyle/>
          <a:p>
            <a:pPr marL="0" indent="0" algn="ctr">
              <a:buNone/>
            </a:pPr>
            <a:r>
              <a:rPr lang="en-US" sz="2000" b="1" dirty="0">
                <a:solidFill>
                  <a:srgbClr val="5D6B85"/>
                </a:solidFill>
                <a:latin typeface="Meiryo" pitchFamily="34" charset="0"/>
                <a:ea typeface="Meiryo" pitchFamily="34" charset="-122"/>
                <a:cs typeface="Meiryo" pitchFamily="34" charset="-120"/>
              </a:rPr>
              <a:t>↓</a:t>
            </a:r>
            <a:endParaRPr lang="en-US" sz="2000" dirty="0"/>
          </a:p>
        </p:txBody>
      </p:sp>
      <p:sp>
        <p:nvSpPr>
          <p:cNvPr id="19" name="Shape 17"/>
          <p:cNvSpPr/>
          <p:nvPr/>
        </p:nvSpPr>
        <p:spPr>
          <a:xfrm>
            <a:off x="6629400" y="3108960"/>
            <a:ext cx="1554480" cy="914400"/>
          </a:xfrm>
          <a:prstGeom prst="roundRect">
            <a:avLst>
              <a:gd name="adj" fmla="val 8000"/>
            </a:avLst>
          </a:prstGeom>
          <a:solidFill>
            <a:srgbClr val="FFFFFF"/>
          </a:solidFill>
          <a:ln w="15875">
            <a:solidFill>
              <a:srgbClr val="CFDEF8"/>
            </a:solidFill>
            <a:prstDash val="solid"/>
          </a:ln>
        </p:spPr>
      </p:sp>
      <p:sp>
        <p:nvSpPr>
          <p:cNvPr id="20" name="Shape 18"/>
          <p:cNvSpPr/>
          <p:nvPr/>
        </p:nvSpPr>
        <p:spPr>
          <a:xfrm>
            <a:off x="6793992" y="3255264"/>
            <a:ext cx="1225296" cy="274320"/>
          </a:xfrm>
          <a:prstGeom prst="roundRect">
            <a:avLst>
              <a:gd name="adj" fmla="val 33333"/>
            </a:avLst>
          </a:prstGeom>
          <a:solidFill>
            <a:srgbClr val="326CE5"/>
          </a:solidFill>
          <a:ln w="12700">
            <a:solidFill>
              <a:srgbClr val="326CE5"/>
            </a:solidFill>
            <a:prstDash val="solid"/>
          </a:ln>
        </p:spPr>
      </p:sp>
      <p:sp>
        <p:nvSpPr>
          <p:cNvPr id="21" name="Text 19"/>
          <p:cNvSpPr/>
          <p:nvPr/>
        </p:nvSpPr>
        <p:spPr>
          <a:xfrm>
            <a:off x="6793992" y="325526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2" name="Text 20"/>
          <p:cNvSpPr/>
          <p:nvPr/>
        </p:nvSpPr>
        <p:spPr>
          <a:xfrm>
            <a:off x="6629400"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23" name="Shape 21"/>
          <p:cNvSpPr/>
          <p:nvPr/>
        </p:nvSpPr>
        <p:spPr>
          <a:xfrm>
            <a:off x="8284464" y="3108960"/>
            <a:ext cx="1554480" cy="914400"/>
          </a:xfrm>
          <a:prstGeom prst="roundRect">
            <a:avLst>
              <a:gd name="adj" fmla="val 8000"/>
            </a:avLst>
          </a:prstGeom>
          <a:solidFill>
            <a:srgbClr val="FFFFFF"/>
          </a:solidFill>
          <a:ln w="15875">
            <a:solidFill>
              <a:srgbClr val="CFDEF8"/>
            </a:solidFill>
            <a:prstDash val="solid"/>
          </a:ln>
        </p:spPr>
      </p:sp>
      <p:sp>
        <p:nvSpPr>
          <p:cNvPr id="24" name="Shape 22"/>
          <p:cNvSpPr/>
          <p:nvPr/>
        </p:nvSpPr>
        <p:spPr>
          <a:xfrm>
            <a:off x="8449056" y="3255264"/>
            <a:ext cx="1225296" cy="274320"/>
          </a:xfrm>
          <a:prstGeom prst="roundRect">
            <a:avLst>
              <a:gd name="adj" fmla="val 33333"/>
            </a:avLst>
          </a:prstGeom>
          <a:solidFill>
            <a:srgbClr val="FFFFFF"/>
          </a:solidFill>
          <a:ln w="12700">
            <a:solidFill>
              <a:srgbClr val="5D6B85"/>
            </a:solidFill>
            <a:prstDash val="solid"/>
          </a:ln>
        </p:spPr>
      </p:sp>
      <p:sp>
        <p:nvSpPr>
          <p:cNvPr id="25" name="Text 23"/>
          <p:cNvSpPr/>
          <p:nvPr/>
        </p:nvSpPr>
        <p:spPr>
          <a:xfrm>
            <a:off x="8449056" y="3255264"/>
            <a:ext cx="1225296" cy="274320"/>
          </a:xfrm>
          <a:prstGeom prst="rect">
            <a:avLst/>
          </a:prstGeom>
          <a:noFill/>
          <a:ln/>
        </p:spPr>
        <p:txBody>
          <a:bodyPr wrap="square" lIns="0" tIns="0" rIns="0" bIns="0" rtlCol="0" anchor="ctr"/>
          <a:lstStyle/>
          <a:p>
            <a:pPr marL="0" indent="0" algn="ctr">
              <a:buNone/>
            </a:pPr>
            <a:r>
              <a:rPr lang="en-US" sz="900" b="1" dirty="0">
                <a:solidFill>
                  <a:srgbClr val="5D6B85"/>
                </a:solidFill>
                <a:latin typeface="Meiryo" pitchFamily="34" charset="0"/>
                <a:ea typeface="Meiryo" pitchFamily="34" charset="-122"/>
                <a:cs typeface="Meiryo" pitchFamily="34" charset="-120"/>
              </a:rPr>
              <a:t>Pod（削除）</a:t>
            </a:r>
            <a:endParaRPr lang="en-US" sz="900" dirty="0"/>
          </a:p>
        </p:txBody>
      </p:sp>
      <p:sp>
        <p:nvSpPr>
          <p:cNvPr id="26" name="Text 24"/>
          <p:cNvSpPr/>
          <p:nvPr/>
        </p:nvSpPr>
        <p:spPr>
          <a:xfrm>
            <a:off x="8284464"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27" name="Shape 25"/>
          <p:cNvSpPr/>
          <p:nvPr/>
        </p:nvSpPr>
        <p:spPr>
          <a:xfrm>
            <a:off x="9939528" y="3108960"/>
            <a:ext cx="1554480" cy="914400"/>
          </a:xfrm>
          <a:prstGeom prst="roundRect">
            <a:avLst>
              <a:gd name="adj" fmla="val 8000"/>
            </a:avLst>
          </a:prstGeom>
          <a:solidFill>
            <a:srgbClr val="FFFFFF"/>
          </a:solidFill>
          <a:ln w="15875">
            <a:solidFill>
              <a:srgbClr val="CFDEF8"/>
            </a:solidFill>
            <a:prstDash val="solid"/>
          </a:ln>
        </p:spPr>
      </p:sp>
      <p:sp>
        <p:nvSpPr>
          <p:cNvPr id="28" name="Shape 26"/>
          <p:cNvSpPr/>
          <p:nvPr/>
        </p:nvSpPr>
        <p:spPr>
          <a:xfrm>
            <a:off x="10104120" y="3255264"/>
            <a:ext cx="1225296" cy="274320"/>
          </a:xfrm>
          <a:prstGeom prst="roundRect">
            <a:avLst>
              <a:gd name="adj" fmla="val 33333"/>
            </a:avLst>
          </a:prstGeom>
          <a:solidFill>
            <a:srgbClr val="326CE5"/>
          </a:solidFill>
          <a:ln w="12700">
            <a:solidFill>
              <a:srgbClr val="326CE5"/>
            </a:solidFill>
            <a:prstDash val="solid"/>
          </a:ln>
        </p:spPr>
      </p:sp>
      <p:sp>
        <p:nvSpPr>
          <p:cNvPr id="29" name="Text 27"/>
          <p:cNvSpPr/>
          <p:nvPr/>
        </p:nvSpPr>
        <p:spPr>
          <a:xfrm>
            <a:off x="10104120" y="325526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0" name="Text 28"/>
          <p:cNvSpPr/>
          <p:nvPr/>
        </p:nvSpPr>
        <p:spPr>
          <a:xfrm>
            <a:off x="9939528" y="371246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31" name="Text 29"/>
          <p:cNvSpPr/>
          <p:nvPr/>
        </p:nvSpPr>
        <p:spPr>
          <a:xfrm>
            <a:off x="6492240" y="4160520"/>
            <a:ext cx="4709160" cy="365760"/>
          </a:xfrm>
          <a:prstGeom prst="rect">
            <a:avLst/>
          </a:prstGeom>
          <a:noFill/>
          <a:ln/>
        </p:spPr>
        <p:txBody>
          <a:bodyPr wrap="square" lIns="0" tIns="0" rIns="0" bIns="0" rtlCol="0" anchor="ctr"/>
          <a:lstStyle/>
          <a:p>
            <a:pPr marL="0" indent="0" algn="ctr">
              <a:buNone/>
            </a:pPr>
            <a:r>
              <a:rPr lang="en-US" sz="1200" b="1" dirty="0">
                <a:solidFill>
                  <a:srgbClr val="5D6B85"/>
                </a:solidFill>
                <a:latin typeface="Meiryo" pitchFamily="34" charset="0"/>
                <a:ea typeface="Meiryo" pitchFamily="34" charset="-122"/>
                <a:cs typeface="Meiryo" pitchFamily="34" charset="-120"/>
              </a:rPr>
              <a:t>↓　Controllerが差分を検知</a:t>
            </a:r>
            <a:endParaRPr lang="en-US" sz="1200" dirty="0"/>
          </a:p>
        </p:txBody>
      </p:sp>
      <p:sp>
        <p:nvSpPr>
          <p:cNvPr id="32" name="Shape 30"/>
          <p:cNvSpPr/>
          <p:nvPr/>
        </p:nvSpPr>
        <p:spPr>
          <a:xfrm>
            <a:off x="8284464" y="4617720"/>
            <a:ext cx="1554480" cy="914400"/>
          </a:xfrm>
          <a:prstGeom prst="roundRect">
            <a:avLst>
              <a:gd name="adj" fmla="val 8000"/>
            </a:avLst>
          </a:prstGeom>
          <a:solidFill>
            <a:srgbClr val="FFFFFF"/>
          </a:solidFill>
          <a:ln w="15875">
            <a:solidFill>
              <a:srgbClr val="CFDEF8"/>
            </a:solidFill>
            <a:prstDash val="solid"/>
          </a:ln>
        </p:spPr>
      </p:sp>
      <p:sp>
        <p:nvSpPr>
          <p:cNvPr id="33" name="Shape 31"/>
          <p:cNvSpPr/>
          <p:nvPr/>
        </p:nvSpPr>
        <p:spPr>
          <a:xfrm>
            <a:off x="8449056" y="4764024"/>
            <a:ext cx="1225296" cy="274320"/>
          </a:xfrm>
          <a:prstGeom prst="roundRect">
            <a:avLst>
              <a:gd name="adj" fmla="val 33333"/>
            </a:avLst>
          </a:prstGeom>
          <a:solidFill>
            <a:srgbClr val="326CE5"/>
          </a:solidFill>
          <a:ln w="12700">
            <a:solidFill>
              <a:srgbClr val="326CE5"/>
            </a:solidFill>
            <a:prstDash val="solid"/>
          </a:ln>
        </p:spPr>
      </p:sp>
      <p:sp>
        <p:nvSpPr>
          <p:cNvPr id="34" name="Text 32"/>
          <p:cNvSpPr/>
          <p:nvPr/>
        </p:nvSpPr>
        <p:spPr>
          <a:xfrm>
            <a:off x="8449056" y="4764024"/>
            <a:ext cx="122529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新しいPod</a:t>
            </a:r>
            <a:endParaRPr lang="en-US" sz="900" dirty="0"/>
          </a:p>
        </p:txBody>
      </p:sp>
      <p:sp>
        <p:nvSpPr>
          <p:cNvPr id="35" name="Text 33"/>
          <p:cNvSpPr/>
          <p:nvPr/>
        </p:nvSpPr>
        <p:spPr>
          <a:xfrm>
            <a:off x="8284464" y="5221224"/>
            <a:ext cx="155448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6" name="Text 34"/>
          <p:cNvSpPr/>
          <p:nvPr/>
        </p:nvSpPr>
        <p:spPr>
          <a:xfrm>
            <a:off x="6492240" y="5623560"/>
            <a:ext cx="4709160" cy="320040"/>
          </a:xfrm>
          <a:prstGeom prst="rect">
            <a:avLst/>
          </a:prstGeom>
          <a:noFill/>
          <a:ln/>
        </p:spPr>
        <p:txBody>
          <a:bodyPr wrap="square" lIns="0" tIns="0" rIns="0" bIns="0" rtlCol="0" anchor="ctr"/>
          <a:lstStyle/>
          <a:p>
            <a:pPr marL="0" indent="0" algn="ctr">
              <a:buNone/>
            </a:pPr>
            <a:r>
              <a:rPr lang="en-US" sz="1100" dirty="0">
                <a:solidFill>
                  <a:srgbClr val="5D6B85"/>
                </a:solidFill>
                <a:latin typeface="Meiryo" pitchFamily="34" charset="0"/>
                <a:ea typeface="Meiryo" pitchFamily="34" charset="-122"/>
                <a:cs typeface="Meiryo" pitchFamily="34" charset="-120"/>
              </a:rPr>
              <a:t>※ 名前は元と違う。生き返ったのではなく「作られた」</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具体例②：スケールアウト</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レプリカ数を変えるだけで、Pod数がノードを跨いで追従する</a:t>
            </a:r>
            <a:endParaRPr lang="en-US" sz="1350" dirty="0"/>
          </a:p>
        </p:txBody>
      </p:sp>
      <p:sp>
        <p:nvSpPr>
          <p:cNvPr id="4" name="Shape 2"/>
          <p:cNvSpPr/>
          <p:nvPr/>
        </p:nvSpPr>
        <p:spPr>
          <a:xfrm>
            <a:off x="640080" y="1691640"/>
            <a:ext cx="5120640" cy="548640"/>
          </a:xfrm>
          <a:prstGeom prst="roundRect">
            <a:avLst>
              <a:gd name="adj" fmla="val 13333"/>
            </a:avLst>
          </a:prstGeom>
          <a:solidFill>
            <a:srgbClr val="0F2350"/>
          </a:solidFill>
          <a:ln/>
        </p:spPr>
      </p:sp>
      <p:sp>
        <p:nvSpPr>
          <p:cNvPr id="5" name="Text 3"/>
          <p:cNvSpPr/>
          <p:nvPr/>
        </p:nvSpPr>
        <p:spPr>
          <a:xfrm>
            <a:off x="822960" y="1691640"/>
            <a:ext cx="4754880" cy="548640"/>
          </a:xfrm>
          <a:prstGeom prst="rect">
            <a:avLst/>
          </a:prstGeom>
          <a:noFill/>
          <a:ln/>
        </p:spPr>
        <p:txBody>
          <a:bodyPr wrap="square" lIns="0" tIns="0" rIns="0" bIns="0" rtlCol="0" anchor="ctr"/>
          <a:lstStyle/>
          <a:p>
            <a:pPr marL="0" indent="0">
              <a:buNone/>
            </a:pPr>
            <a:r>
              <a:rPr lang="en-US" sz="1300" dirty="0">
                <a:solidFill>
                  <a:srgbClr val="A8D5FF"/>
                </a:solidFill>
                <a:latin typeface="Courier New" pitchFamily="34" charset="0"/>
                <a:ea typeface="Courier New" pitchFamily="34" charset="-122"/>
                <a:cs typeface="Courier New" pitchFamily="34" charset="-120"/>
              </a:rPr>
              <a:t>$ kubectl scale deploy &lt;名前&gt; --replicas=6</a:t>
            </a:r>
            <a:endParaRPr lang="en-US" sz="1300" dirty="0"/>
          </a:p>
        </p:txBody>
      </p:sp>
      <p:sp>
        <p:nvSpPr>
          <p:cNvPr id="6" name="Text 4"/>
          <p:cNvSpPr/>
          <p:nvPr/>
        </p:nvSpPr>
        <p:spPr>
          <a:xfrm>
            <a:off x="6035040" y="1691640"/>
            <a:ext cx="5486400" cy="548640"/>
          </a:xfrm>
          <a:prstGeom prst="rect">
            <a:avLst/>
          </a:prstGeom>
          <a:noFill/>
          <a:ln/>
        </p:spPr>
        <p:txBody>
          <a:bodyPr wrap="square" lIns="0" tIns="0" rIns="0" bIns="0" rtlCol="0" anchor="ctr"/>
          <a:lstStyle/>
          <a:p>
            <a:pPr marL="0" indent="0">
              <a:buNone/>
            </a:pPr>
            <a:r>
              <a:rPr lang="en-US" sz="1400" b="1" dirty="0">
                <a:solidFill>
                  <a:srgbClr val="0F2350"/>
                </a:solidFill>
                <a:latin typeface="Meiryo" pitchFamily="34" charset="0"/>
                <a:ea typeface="Meiryo" pitchFamily="34" charset="-122"/>
                <a:cs typeface="Meiryo" pitchFamily="34" charset="-120"/>
              </a:rPr>
              <a:t>増やす「数」を指示するだけ。どのノードに置くかはK8sが決める。</a:t>
            </a:r>
            <a:endParaRPr lang="en-US" sz="1400" dirty="0"/>
          </a:p>
        </p:txBody>
      </p:sp>
      <p:sp>
        <p:nvSpPr>
          <p:cNvPr id="7" name="Shape 5"/>
          <p:cNvSpPr/>
          <p:nvPr/>
        </p:nvSpPr>
        <p:spPr>
          <a:xfrm>
            <a:off x="640080" y="2468880"/>
            <a:ext cx="4846320" cy="2606040"/>
          </a:xfrm>
          <a:prstGeom prst="roundRect">
            <a:avLst>
              <a:gd name="adj" fmla="val 2105"/>
            </a:avLst>
          </a:prstGeom>
          <a:solidFill>
            <a:srgbClr val="F5F8FD"/>
          </a:solidFill>
          <a:ln w="12700">
            <a:solidFill>
              <a:srgbClr val="F5F8FD"/>
            </a:solidFill>
            <a:prstDash val="solid"/>
          </a:ln>
        </p:spPr>
      </p:sp>
      <p:sp>
        <p:nvSpPr>
          <p:cNvPr id="8" name="Text 6"/>
          <p:cNvSpPr/>
          <p:nvPr/>
        </p:nvSpPr>
        <p:spPr>
          <a:xfrm>
            <a:off x="640080" y="2606040"/>
            <a:ext cx="4846320" cy="320040"/>
          </a:xfrm>
          <a:prstGeom prst="rect">
            <a:avLst/>
          </a:prstGeom>
          <a:noFill/>
          <a:ln/>
        </p:spPr>
        <p:txBody>
          <a:bodyPr wrap="square" lIns="0" tIns="0" rIns="0" bIns="0" rtlCol="0" anchor="ctr"/>
          <a:lstStyle/>
          <a:p>
            <a:pPr marL="0" indent="0" algn="ctr">
              <a:buNone/>
            </a:pPr>
            <a:r>
              <a:rPr lang="en-US" sz="1500" b="1" dirty="0">
                <a:solidFill>
                  <a:srgbClr val="5D6B85"/>
                </a:solidFill>
                <a:latin typeface="Meiryo" pitchFamily="34" charset="0"/>
                <a:ea typeface="Meiryo" pitchFamily="34" charset="-122"/>
                <a:cs typeface="Meiryo" pitchFamily="34" charset="-120"/>
              </a:rPr>
              <a:t>replicas = 3</a:t>
            </a:r>
            <a:endParaRPr lang="en-US" sz="1500" dirty="0"/>
          </a:p>
        </p:txBody>
      </p:sp>
      <p:sp>
        <p:nvSpPr>
          <p:cNvPr id="9" name="Shape 7"/>
          <p:cNvSpPr/>
          <p:nvPr/>
        </p:nvSpPr>
        <p:spPr>
          <a:xfrm>
            <a:off x="1170432" y="3108960"/>
            <a:ext cx="1280160" cy="1371600"/>
          </a:xfrm>
          <a:prstGeom prst="roundRect">
            <a:avLst>
              <a:gd name="adj" fmla="val 5714"/>
            </a:avLst>
          </a:prstGeom>
          <a:solidFill>
            <a:srgbClr val="FFFFFF"/>
          </a:solidFill>
          <a:ln w="15875">
            <a:solidFill>
              <a:srgbClr val="CFDEF8"/>
            </a:solidFill>
            <a:prstDash val="solid"/>
          </a:ln>
        </p:spPr>
      </p:sp>
      <p:sp>
        <p:nvSpPr>
          <p:cNvPr id="10" name="Shape 8"/>
          <p:cNvSpPr/>
          <p:nvPr/>
        </p:nvSpPr>
        <p:spPr>
          <a:xfrm>
            <a:off x="1335024" y="3255264"/>
            <a:ext cx="950976" cy="274320"/>
          </a:xfrm>
          <a:prstGeom prst="roundRect">
            <a:avLst>
              <a:gd name="adj" fmla="val 33333"/>
            </a:avLst>
          </a:prstGeom>
          <a:solidFill>
            <a:srgbClr val="326CE5"/>
          </a:solidFill>
          <a:ln w="12700">
            <a:solidFill>
              <a:srgbClr val="326CE5"/>
            </a:solidFill>
            <a:prstDash val="solid"/>
          </a:ln>
        </p:spPr>
      </p:sp>
      <p:sp>
        <p:nvSpPr>
          <p:cNvPr id="11" name="Text 9"/>
          <p:cNvSpPr/>
          <p:nvPr/>
        </p:nvSpPr>
        <p:spPr>
          <a:xfrm>
            <a:off x="133502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2" name="Text 10"/>
          <p:cNvSpPr/>
          <p:nvPr/>
        </p:nvSpPr>
        <p:spPr>
          <a:xfrm>
            <a:off x="117043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13" name="Shape 11"/>
          <p:cNvSpPr/>
          <p:nvPr/>
        </p:nvSpPr>
        <p:spPr>
          <a:xfrm>
            <a:off x="2679192" y="3108960"/>
            <a:ext cx="1280160" cy="1371600"/>
          </a:xfrm>
          <a:prstGeom prst="roundRect">
            <a:avLst>
              <a:gd name="adj" fmla="val 5714"/>
            </a:avLst>
          </a:prstGeom>
          <a:solidFill>
            <a:srgbClr val="FFFFFF"/>
          </a:solidFill>
          <a:ln w="15875">
            <a:solidFill>
              <a:srgbClr val="CFDEF8"/>
            </a:solidFill>
            <a:prstDash val="solid"/>
          </a:ln>
        </p:spPr>
      </p:sp>
      <p:sp>
        <p:nvSpPr>
          <p:cNvPr id="14" name="Shape 12"/>
          <p:cNvSpPr/>
          <p:nvPr/>
        </p:nvSpPr>
        <p:spPr>
          <a:xfrm>
            <a:off x="2843784" y="3255264"/>
            <a:ext cx="950976" cy="274320"/>
          </a:xfrm>
          <a:prstGeom prst="roundRect">
            <a:avLst>
              <a:gd name="adj" fmla="val 33333"/>
            </a:avLst>
          </a:prstGeom>
          <a:solidFill>
            <a:srgbClr val="326CE5"/>
          </a:solidFill>
          <a:ln w="12700">
            <a:solidFill>
              <a:srgbClr val="326CE5"/>
            </a:solidFill>
            <a:prstDash val="solid"/>
          </a:ln>
        </p:spPr>
      </p:sp>
      <p:sp>
        <p:nvSpPr>
          <p:cNvPr id="15" name="Text 13"/>
          <p:cNvSpPr/>
          <p:nvPr/>
        </p:nvSpPr>
        <p:spPr>
          <a:xfrm>
            <a:off x="284378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16" name="Text 14"/>
          <p:cNvSpPr/>
          <p:nvPr/>
        </p:nvSpPr>
        <p:spPr>
          <a:xfrm>
            <a:off x="267919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17" name="Shape 15"/>
          <p:cNvSpPr/>
          <p:nvPr/>
        </p:nvSpPr>
        <p:spPr>
          <a:xfrm>
            <a:off x="4187952" y="3108960"/>
            <a:ext cx="1280160" cy="1371600"/>
          </a:xfrm>
          <a:prstGeom prst="roundRect">
            <a:avLst>
              <a:gd name="adj" fmla="val 5714"/>
            </a:avLst>
          </a:prstGeom>
          <a:solidFill>
            <a:srgbClr val="FFFFFF"/>
          </a:solidFill>
          <a:ln w="15875">
            <a:solidFill>
              <a:srgbClr val="CFDEF8"/>
            </a:solidFill>
            <a:prstDash val="solid"/>
          </a:ln>
        </p:spPr>
      </p:sp>
      <p:sp>
        <p:nvSpPr>
          <p:cNvPr id="18" name="Shape 16"/>
          <p:cNvSpPr/>
          <p:nvPr/>
        </p:nvSpPr>
        <p:spPr>
          <a:xfrm>
            <a:off x="4352544" y="3255264"/>
            <a:ext cx="950976" cy="274320"/>
          </a:xfrm>
          <a:prstGeom prst="roundRect">
            <a:avLst>
              <a:gd name="adj" fmla="val 33333"/>
            </a:avLst>
          </a:prstGeom>
          <a:solidFill>
            <a:srgbClr val="326CE5"/>
          </a:solidFill>
          <a:ln w="12700">
            <a:solidFill>
              <a:srgbClr val="326CE5"/>
            </a:solidFill>
            <a:prstDash val="solid"/>
          </a:ln>
        </p:spPr>
      </p:sp>
      <p:sp>
        <p:nvSpPr>
          <p:cNvPr id="19" name="Text 17"/>
          <p:cNvSpPr/>
          <p:nvPr/>
        </p:nvSpPr>
        <p:spPr>
          <a:xfrm>
            <a:off x="435254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0" name="Text 18"/>
          <p:cNvSpPr/>
          <p:nvPr/>
        </p:nvSpPr>
        <p:spPr>
          <a:xfrm>
            <a:off x="418795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21" name="Text 19"/>
          <p:cNvSpPr/>
          <p:nvPr/>
        </p:nvSpPr>
        <p:spPr>
          <a:xfrm>
            <a:off x="640080" y="4617720"/>
            <a:ext cx="4846320" cy="320040"/>
          </a:xfrm>
          <a:prstGeom prst="rect">
            <a:avLst/>
          </a:prstGeom>
          <a:noFill/>
          <a:ln/>
        </p:spPr>
        <p:txBody>
          <a:bodyPr wrap="square" lIns="0" tIns="0" rIns="0" bIns="0" rtlCol="0" anchor="ctr"/>
          <a:lstStyle/>
          <a:p>
            <a:pPr marL="0" indent="0" algn="ctr">
              <a:buNone/>
            </a:pPr>
            <a:r>
              <a:rPr lang="en-US" sz="1200" dirty="0">
                <a:solidFill>
                  <a:srgbClr val="5D6B85"/>
                </a:solidFill>
                <a:latin typeface="Meiryo" pitchFamily="34" charset="0"/>
                <a:ea typeface="Meiryo" pitchFamily="34" charset="-122"/>
                <a:cs typeface="Meiryo" pitchFamily="34" charset="-120"/>
              </a:rPr>
              <a:t>Pod 3個</a:t>
            </a:r>
            <a:endParaRPr lang="en-US" sz="1200" dirty="0"/>
          </a:p>
        </p:txBody>
      </p:sp>
      <p:sp>
        <p:nvSpPr>
          <p:cNvPr id="22" name="Text 20"/>
          <p:cNvSpPr/>
          <p:nvPr/>
        </p:nvSpPr>
        <p:spPr>
          <a:xfrm>
            <a:off x="5577840" y="3520440"/>
            <a:ext cx="822960" cy="548640"/>
          </a:xfrm>
          <a:prstGeom prst="rect">
            <a:avLst/>
          </a:prstGeom>
          <a:noFill/>
          <a:ln/>
        </p:spPr>
        <p:txBody>
          <a:bodyPr wrap="square" lIns="0" tIns="0" rIns="0" bIns="0" rtlCol="0" anchor="ctr"/>
          <a:lstStyle/>
          <a:p>
            <a:pPr marL="0" indent="0" algn="ctr">
              <a:buNone/>
            </a:pPr>
            <a:r>
              <a:rPr lang="en-US" sz="3200" b="1" dirty="0">
                <a:solidFill>
                  <a:srgbClr val="326CE5"/>
                </a:solidFill>
                <a:latin typeface="Meiryo" pitchFamily="34" charset="0"/>
                <a:ea typeface="Meiryo" pitchFamily="34" charset="-122"/>
                <a:cs typeface="Meiryo" pitchFamily="34" charset="-120"/>
              </a:rPr>
              <a:t>→</a:t>
            </a:r>
            <a:endParaRPr lang="en-US" sz="3200" dirty="0"/>
          </a:p>
        </p:txBody>
      </p:sp>
      <p:sp>
        <p:nvSpPr>
          <p:cNvPr id="23" name="Shape 21"/>
          <p:cNvSpPr/>
          <p:nvPr/>
        </p:nvSpPr>
        <p:spPr>
          <a:xfrm>
            <a:off x="6675120" y="2468880"/>
            <a:ext cx="4846320" cy="2606040"/>
          </a:xfrm>
          <a:prstGeom prst="roundRect">
            <a:avLst>
              <a:gd name="adj" fmla="val 2105"/>
            </a:avLst>
          </a:prstGeom>
          <a:solidFill>
            <a:srgbClr val="E8EEF9"/>
          </a:solidFill>
          <a:ln w="12700">
            <a:solidFill>
              <a:srgbClr val="E8EEF9"/>
            </a:solidFill>
            <a:prstDash val="solid"/>
          </a:ln>
        </p:spPr>
      </p:sp>
      <p:sp>
        <p:nvSpPr>
          <p:cNvPr id="24" name="Text 22"/>
          <p:cNvSpPr/>
          <p:nvPr/>
        </p:nvSpPr>
        <p:spPr>
          <a:xfrm>
            <a:off x="6675120" y="2606040"/>
            <a:ext cx="4846320" cy="320040"/>
          </a:xfrm>
          <a:prstGeom prst="rect">
            <a:avLst/>
          </a:prstGeom>
          <a:noFill/>
          <a:ln/>
        </p:spPr>
        <p:txBody>
          <a:bodyPr wrap="square" lIns="0" tIns="0" rIns="0" bIns="0" rtlCol="0" anchor="ctr"/>
          <a:lstStyle/>
          <a:p>
            <a:pPr marL="0" indent="0" algn="ctr">
              <a:buNone/>
            </a:pPr>
            <a:r>
              <a:rPr lang="en-US" sz="1500" b="1" dirty="0">
                <a:solidFill>
                  <a:srgbClr val="326CE5"/>
                </a:solidFill>
                <a:latin typeface="Meiryo" pitchFamily="34" charset="0"/>
                <a:ea typeface="Meiryo" pitchFamily="34" charset="-122"/>
                <a:cs typeface="Meiryo" pitchFamily="34" charset="-120"/>
              </a:rPr>
              <a:t>replicas = 6</a:t>
            </a:r>
            <a:endParaRPr lang="en-US" sz="1500" dirty="0"/>
          </a:p>
        </p:txBody>
      </p:sp>
      <p:sp>
        <p:nvSpPr>
          <p:cNvPr id="25" name="Shape 23"/>
          <p:cNvSpPr/>
          <p:nvPr/>
        </p:nvSpPr>
        <p:spPr>
          <a:xfrm>
            <a:off x="7205472" y="3108960"/>
            <a:ext cx="1280160" cy="1371600"/>
          </a:xfrm>
          <a:prstGeom prst="roundRect">
            <a:avLst>
              <a:gd name="adj" fmla="val 5714"/>
            </a:avLst>
          </a:prstGeom>
          <a:solidFill>
            <a:srgbClr val="FFFFFF"/>
          </a:solidFill>
          <a:ln w="15875">
            <a:solidFill>
              <a:srgbClr val="CFDEF8"/>
            </a:solidFill>
            <a:prstDash val="solid"/>
          </a:ln>
        </p:spPr>
      </p:sp>
      <p:sp>
        <p:nvSpPr>
          <p:cNvPr id="26" name="Shape 24"/>
          <p:cNvSpPr/>
          <p:nvPr/>
        </p:nvSpPr>
        <p:spPr>
          <a:xfrm>
            <a:off x="7370064" y="3255264"/>
            <a:ext cx="950976" cy="274320"/>
          </a:xfrm>
          <a:prstGeom prst="roundRect">
            <a:avLst>
              <a:gd name="adj" fmla="val 33333"/>
            </a:avLst>
          </a:prstGeom>
          <a:solidFill>
            <a:srgbClr val="326CE5"/>
          </a:solidFill>
          <a:ln w="12700">
            <a:solidFill>
              <a:srgbClr val="326CE5"/>
            </a:solidFill>
            <a:prstDash val="solid"/>
          </a:ln>
        </p:spPr>
      </p:sp>
      <p:sp>
        <p:nvSpPr>
          <p:cNvPr id="27" name="Text 25"/>
          <p:cNvSpPr/>
          <p:nvPr/>
        </p:nvSpPr>
        <p:spPr>
          <a:xfrm>
            <a:off x="737006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8" name="Shape 26"/>
          <p:cNvSpPr/>
          <p:nvPr/>
        </p:nvSpPr>
        <p:spPr>
          <a:xfrm>
            <a:off x="7370064" y="3639312"/>
            <a:ext cx="950976" cy="274320"/>
          </a:xfrm>
          <a:prstGeom prst="roundRect">
            <a:avLst>
              <a:gd name="adj" fmla="val 33333"/>
            </a:avLst>
          </a:prstGeom>
          <a:solidFill>
            <a:srgbClr val="326CE5"/>
          </a:solidFill>
          <a:ln w="12700">
            <a:solidFill>
              <a:srgbClr val="326CE5"/>
            </a:solidFill>
            <a:prstDash val="solid"/>
          </a:ln>
        </p:spPr>
      </p:sp>
      <p:sp>
        <p:nvSpPr>
          <p:cNvPr id="29" name="Text 27"/>
          <p:cNvSpPr/>
          <p:nvPr/>
        </p:nvSpPr>
        <p:spPr>
          <a:xfrm>
            <a:off x="737006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0" name="Text 28"/>
          <p:cNvSpPr/>
          <p:nvPr/>
        </p:nvSpPr>
        <p:spPr>
          <a:xfrm>
            <a:off x="720547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1</a:t>
            </a:r>
            <a:endParaRPr lang="en-US" sz="900" dirty="0"/>
          </a:p>
        </p:txBody>
      </p:sp>
      <p:sp>
        <p:nvSpPr>
          <p:cNvPr id="31" name="Shape 29"/>
          <p:cNvSpPr/>
          <p:nvPr/>
        </p:nvSpPr>
        <p:spPr>
          <a:xfrm>
            <a:off x="8714232" y="3108960"/>
            <a:ext cx="1280160" cy="1371600"/>
          </a:xfrm>
          <a:prstGeom prst="roundRect">
            <a:avLst>
              <a:gd name="adj" fmla="val 5714"/>
            </a:avLst>
          </a:prstGeom>
          <a:solidFill>
            <a:srgbClr val="FFFFFF"/>
          </a:solidFill>
          <a:ln w="15875">
            <a:solidFill>
              <a:srgbClr val="CFDEF8"/>
            </a:solidFill>
            <a:prstDash val="solid"/>
          </a:ln>
        </p:spPr>
      </p:sp>
      <p:sp>
        <p:nvSpPr>
          <p:cNvPr id="32" name="Shape 30"/>
          <p:cNvSpPr/>
          <p:nvPr/>
        </p:nvSpPr>
        <p:spPr>
          <a:xfrm>
            <a:off x="8878824" y="3255264"/>
            <a:ext cx="950976" cy="274320"/>
          </a:xfrm>
          <a:prstGeom prst="roundRect">
            <a:avLst>
              <a:gd name="adj" fmla="val 33333"/>
            </a:avLst>
          </a:prstGeom>
          <a:solidFill>
            <a:srgbClr val="326CE5"/>
          </a:solidFill>
          <a:ln w="12700">
            <a:solidFill>
              <a:srgbClr val="326CE5"/>
            </a:solidFill>
            <a:prstDash val="solid"/>
          </a:ln>
        </p:spPr>
      </p:sp>
      <p:sp>
        <p:nvSpPr>
          <p:cNvPr id="33" name="Text 31"/>
          <p:cNvSpPr/>
          <p:nvPr/>
        </p:nvSpPr>
        <p:spPr>
          <a:xfrm>
            <a:off x="887882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4" name="Shape 32"/>
          <p:cNvSpPr/>
          <p:nvPr/>
        </p:nvSpPr>
        <p:spPr>
          <a:xfrm>
            <a:off x="8878824" y="3639312"/>
            <a:ext cx="950976" cy="274320"/>
          </a:xfrm>
          <a:prstGeom prst="roundRect">
            <a:avLst>
              <a:gd name="adj" fmla="val 33333"/>
            </a:avLst>
          </a:prstGeom>
          <a:solidFill>
            <a:srgbClr val="326CE5"/>
          </a:solidFill>
          <a:ln w="12700">
            <a:solidFill>
              <a:srgbClr val="326CE5"/>
            </a:solidFill>
            <a:prstDash val="solid"/>
          </a:ln>
        </p:spPr>
      </p:sp>
      <p:sp>
        <p:nvSpPr>
          <p:cNvPr id="35" name="Text 33"/>
          <p:cNvSpPr/>
          <p:nvPr/>
        </p:nvSpPr>
        <p:spPr>
          <a:xfrm>
            <a:off x="887882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6" name="Text 34"/>
          <p:cNvSpPr/>
          <p:nvPr/>
        </p:nvSpPr>
        <p:spPr>
          <a:xfrm>
            <a:off x="871423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2</a:t>
            </a:r>
            <a:endParaRPr lang="en-US" sz="900" dirty="0"/>
          </a:p>
        </p:txBody>
      </p:sp>
      <p:sp>
        <p:nvSpPr>
          <p:cNvPr id="37" name="Shape 35"/>
          <p:cNvSpPr/>
          <p:nvPr/>
        </p:nvSpPr>
        <p:spPr>
          <a:xfrm>
            <a:off x="10222992" y="3108960"/>
            <a:ext cx="1280160" cy="1371600"/>
          </a:xfrm>
          <a:prstGeom prst="roundRect">
            <a:avLst>
              <a:gd name="adj" fmla="val 5714"/>
            </a:avLst>
          </a:prstGeom>
          <a:solidFill>
            <a:srgbClr val="FFFFFF"/>
          </a:solidFill>
          <a:ln w="15875">
            <a:solidFill>
              <a:srgbClr val="CFDEF8"/>
            </a:solidFill>
            <a:prstDash val="solid"/>
          </a:ln>
        </p:spPr>
      </p:sp>
      <p:sp>
        <p:nvSpPr>
          <p:cNvPr id="38" name="Shape 36"/>
          <p:cNvSpPr/>
          <p:nvPr/>
        </p:nvSpPr>
        <p:spPr>
          <a:xfrm>
            <a:off x="10387584" y="3255264"/>
            <a:ext cx="950976" cy="274320"/>
          </a:xfrm>
          <a:prstGeom prst="roundRect">
            <a:avLst>
              <a:gd name="adj" fmla="val 33333"/>
            </a:avLst>
          </a:prstGeom>
          <a:solidFill>
            <a:srgbClr val="326CE5"/>
          </a:solidFill>
          <a:ln w="12700">
            <a:solidFill>
              <a:srgbClr val="326CE5"/>
            </a:solidFill>
            <a:prstDash val="solid"/>
          </a:ln>
        </p:spPr>
      </p:sp>
      <p:sp>
        <p:nvSpPr>
          <p:cNvPr id="39" name="Text 37"/>
          <p:cNvSpPr/>
          <p:nvPr/>
        </p:nvSpPr>
        <p:spPr>
          <a:xfrm>
            <a:off x="10387584" y="3255264"/>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40" name="Shape 38"/>
          <p:cNvSpPr/>
          <p:nvPr/>
        </p:nvSpPr>
        <p:spPr>
          <a:xfrm>
            <a:off x="10387584" y="3639312"/>
            <a:ext cx="950976" cy="274320"/>
          </a:xfrm>
          <a:prstGeom prst="roundRect">
            <a:avLst>
              <a:gd name="adj" fmla="val 33333"/>
            </a:avLst>
          </a:prstGeom>
          <a:solidFill>
            <a:srgbClr val="326CE5"/>
          </a:solidFill>
          <a:ln w="12700">
            <a:solidFill>
              <a:srgbClr val="326CE5"/>
            </a:solidFill>
            <a:prstDash val="solid"/>
          </a:ln>
        </p:spPr>
      </p:sp>
      <p:sp>
        <p:nvSpPr>
          <p:cNvPr id="41" name="Text 39"/>
          <p:cNvSpPr/>
          <p:nvPr/>
        </p:nvSpPr>
        <p:spPr>
          <a:xfrm>
            <a:off x="10387584" y="3639312"/>
            <a:ext cx="950976"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42" name="Text 40"/>
          <p:cNvSpPr/>
          <p:nvPr/>
        </p:nvSpPr>
        <p:spPr>
          <a:xfrm>
            <a:off x="10222992" y="4169664"/>
            <a:ext cx="1280160" cy="256032"/>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node 3</a:t>
            </a:r>
            <a:endParaRPr lang="en-US" sz="900" dirty="0"/>
          </a:p>
        </p:txBody>
      </p:sp>
      <p:sp>
        <p:nvSpPr>
          <p:cNvPr id="43" name="Text 41"/>
          <p:cNvSpPr/>
          <p:nvPr/>
        </p:nvSpPr>
        <p:spPr>
          <a:xfrm>
            <a:off x="6675120" y="4617720"/>
            <a:ext cx="4846320" cy="320040"/>
          </a:xfrm>
          <a:prstGeom prst="rect">
            <a:avLst/>
          </a:prstGeom>
          <a:noFill/>
          <a:ln/>
        </p:spPr>
        <p:txBody>
          <a:bodyPr wrap="square" lIns="0" tIns="0" rIns="0" bIns="0" rtlCol="0" anchor="ctr"/>
          <a:lstStyle/>
          <a:p>
            <a:pPr marL="0" indent="0" algn="ctr">
              <a:buNone/>
            </a:pPr>
            <a:r>
              <a:rPr lang="en-US" sz="1200" dirty="0">
                <a:solidFill>
                  <a:srgbClr val="0F2350"/>
                </a:solidFill>
                <a:latin typeface="Meiryo" pitchFamily="34" charset="0"/>
                <a:ea typeface="Meiryo" pitchFamily="34" charset="-122"/>
                <a:cs typeface="Meiryo" pitchFamily="34" charset="-120"/>
              </a:rPr>
              <a:t>Pod 6個 ／ 配置はK8sが自動で決定</a:t>
            </a:r>
            <a:endParaRPr lang="en-US" sz="1200" dirty="0"/>
          </a:p>
        </p:txBody>
      </p:sp>
      <p:sp>
        <p:nvSpPr>
          <p:cNvPr id="44" name="Shape 42"/>
          <p:cNvSpPr/>
          <p:nvPr/>
        </p:nvSpPr>
        <p:spPr>
          <a:xfrm>
            <a:off x="640080" y="5349240"/>
            <a:ext cx="5349240" cy="868680"/>
          </a:xfrm>
          <a:prstGeom prst="roundRect">
            <a:avLst>
              <a:gd name="adj" fmla="val 6316"/>
            </a:avLst>
          </a:prstGeom>
          <a:solidFill>
            <a:srgbClr val="FFFFFF"/>
          </a:solidFill>
          <a:ln w="12700">
            <a:solidFill>
              <a:srgbClr val="CFDEF8"/>
            </a:solidFill>
            <a:prstDash val="solid"/>
          </a:ln>
        </p:spPr>
      </p:sp>
      <p:sp>
        <p:nvSpPr>
          <p:cNvPr id="45" name="Text 43"/>
          <p:cNvSpPr/>
          <p:nvPr/>
        </p:nvSpPr>
        <p:spPr>
          <a:xfrm>
            <a:off x="914400" y="5349240"/>
            <a:ext cx="4846320" cy="868680"/>
          </a:xfrm>
          <a:prstGeom prst="rect">
            <a:avLst/>
          </a:prstGeom>
          <a:noFill/>
          <a:ln/>
        </p:spPr>
        <p:txBody>
          <a:bodyPr wrap="square" lIns="0" tIns="0" rIns="0" bIns="0" rtlCol="0" anchor="ctr"/>
          <a:lstStyle/>
          <a:p>
            <a:pPr marL="0" indent="0">
              <a:buNone/>
            </a:pPr>
            <a:r>
              <a:rPr lang="en-US" sz="1300" b="1" dirty="0">
                <a:solidFill>
                  <a:srgbClr val="5D6B85"/>
                </a:solidFill>
                <a:latin typeface="Meiryo" pitchFamily="34" charset="0"/>
                <a:ea typeface="Meiryo" pitchFamily="34" charset="-122"/>
                <a:cs typeface="Meiryo" pitchFamily="34" charset="-120"/>
              </a:rPr>
              <a:t>昔　</a:t>
            </a:r>
            <a:r>
              <a:rPr lang="en-US" sz="1300" dirty="0">
                <a:solidFill>
                  <a:srgbClr val="5D6B85"/>
                </a:solidFill>
                <a:latin typeface="Meiryo" pitchFamily="34" charset="0"/>
                <a:ea typeface="Meiryo" pitchFamily="34" charset="-122"/>
                <a:cs typeface="Meiryo" pitchFamily="34" charset="-120"/>
              </a:rPr>
              <a:t>1台の性能を上げて容量を増やす（スケールアップ）</a:t>
            </a:r>
            <a:endParaRPr lang="en-US" sz="1300" dirty="0"/>
          </a:p>
        </p:txBody>
      </p:sp>
      <p:sp>
        <p:nvSpPr>
          <p:cNvPr id="46" name="Shape 44"/>
          <p:cNvSpPr/>
          <p:nvPr/>
        </p:nvSpPr>
        <p:spPr>
          <a:xfrm>
            <a:off x="6172200" y="5349240"/>
            <a:ext cx="5349240" cy="868680"/>
          </a:xfrm>
          <a:prstGeom prst="roundRect">
            <a:avLst>
              <a:gd name="adj" fmla="val 6316"/>
            </a:avLst>
          </a:prstGeom>
          <a:solidFill>
            <a:srgbClr val="FFFFFF"/>
          </a:solidFill>
          <a:ln w="12700">
            <a:solidFill>
              <a:srgbClr val="326CE5"/>
            </a:solidFill>
            <a:prstDash val="solid"/>
          </a:ln>
        </p:spPr>
      </p:sp>
      <p:sp>
        <p:nvSpPr>
          <p:cNvPr id="47" name="Text 45"/>
          <p:cNvSpPr/>
          <p:nvPr/>
        </p:nvSpPr>
        <p:spPr>
          <a:xfrm>
            <a:off x="6446520" y="5349240"/>
            <a:ext cx="4846320" cy="868680"/>
          </a:xfrm>
          <a:prstGeom prst="rect">
            <a:avLst/>
          </a:prstGeom>
          <a:noFill/>
          <a:ln/>
        </p:spPr>
        <p:txBody>
          <a:bodyPr wrap="square" lIns="0" tIns="0" rIns="0" bIns="0" rtlCol="0" anchor="ctr"/>
          <a:lstStyle/>
          <a:p>
            <a:pPr marL="0" indent="0">
              <a:buNone/>
            </a:pPr>
            <a:r>
              <a:rPr lang="en-US" sz="1300" b="1" dirty="0">
                <a:solidFill>
                  <a:srgbClr val="326CE5"/>
                </a:solidFill>
                <a:latin typeface="Meiryo" pitchFamily="34" charset="0"/>
                <a:ea typeface="Meiryo" pitchFamily="34" charset="-122"/>
                <a:cs typeface="Meiryo" pitchFamily="34" charset="-120"/>
              </a:rPr>
              <a:t>今　</a:t>
            </a:r>
            <a:r>
              <a:rPr lang="en-US" sz="1300" dirty="0">
                <a:solidFill>
                  <a:srgbClr val="0F2350"/>
                </a:solidFill>
                <a:latin typeface="Meiryo" pitchFamily="34" charset="0"/>
                <a:ea typeface="Meiryo" pitchFamily="34" charset="-122"/>
                <a:cs typeface="Meiryo" pitchFamily="34" charset="-120"/>
              </a:rPr>
              <a:t>ノードを足した分だけPodも増やせる（スケールアウト）</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DeployCard">
            <a:extLst>
              <a:ext uri="{FF2B5EF4-FFF2-40B4-BE49-F238E27FC236}">
                <a16:creationId xmlns:a16="http://schemas.microsoft.com/office/drawing/2014/main" id="{2618F289-2D96-4ADD-8C71-29F461F2DCC0}"/>
              </a:ext>
            </a:extLst>
          </p:cNvPr>
          <p:cNvSpPr/>
          <p:nvPr/>
        </p:nvSpPr>
        <p:spPr>
          <a:xfrm>
            <a:off x="4851400" y="4013200"/>
            <a:ext cx="6680200" cy="990600"/>
          </a:xfrm>
          <a:prstGeom prst="roundRect">
            <a:avLst/>
          </a:prstGeom>
          <a:solidFill>
            <a:srgbClr val="EAF0F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デモの構成</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ブラウザから叩いたリクエストが、Podに届くまで</a:t>
            </a:r>
            <a:endParaRPr lang="en-US" sz="1350" dirty="0"/>
          </a:p>
        </p:txBody>
      </p:sp>
      <p:sp>
        <p:nvSpPr>
          <p:cNvPr id="4" name="Shape 2"/>
          <p:cNvSpPr/>
          <p:nvPr/>
        </p:nvSpPr>
        <p:spPr>
          <a:xfrm>
            <a:off x="640080" y="1645920"/>
            <a:ext cx="3657600" cy="868680"/>
          </a:xfrm>
          <a:prstGeom prst="roundRect">
            <a:avLst>
              <a:gd name="adj" fmla="val 5263"/>
            </a:avLst>
          </a:prstGeom>
          <a:solidFill>
            <a:srgbClr val="FFFFFF"/>
          </a:solidFill>
          <a:ln w="12700">
            <a:solidFill>
              <a:srgbClr val="B9C4D6"/>
            </a:solidFill>
            <a:prstDash val="dash"/>
          </a:ln>
        </p:spPr>
        <p:txBody>
          <a:bodyPr/>
          <a:lstStyle/>
          <a:p>
            <a:endParaRPr lang="ja-JP" altLang="en-US"/>
          </a:p>
        </p:txBody>
      </p:sp>
      <p:sp>
        <p:nvSpPr>
          <p:cNvPr id="5" name="Text 3"/>
          <p:cNvSpPr/>
          <p:nvPr/>
        </p:nvSpPr>
        <p:spPr>
          <a:xfrm>
            <a:off x="777240" y="1691640"/>
            <a:ext cx="3383280" cy="201168"/>
          </a:xfrm>
          <a:prstGeom prst="rect">
            <a:avLst/>
          </a:prstGeom>
          <a:noFill/>
          <a:ln/>
        </p:spPr>
        <p:txBody>
          <a:bodyPr wrap="square" lIns="0" tIns="0" rIns="0" bIns="0" rtlCol="0" anchor="ctr"/>
          <a:lstStyle/>
          <a:p>
            <a:pPr marL="0" indent="0">
              <a:buNone/>
            </a:pPr>
            <a:r>
              <a:rPr lang="en-US" sz="950" b="1" dirty="0">
                <a:solidFill>
                  <a:srgbClr val="5D6B85"/>
                </a:solidFill>
                <a:latin typeface="Meiryo" pitchFamily="34" charset="0"/>
                <a:ea typeface="Meiryo" pitchFamily="34" charset="-122"/>
                <a:cs typeface="Meiryo" pitchFamily="34" charset="-120"/>
              </a:rPr>
              <a:t>クライアント側</a:t>
            </a:r>
            <a:endParaRPr lang="en-US" sz="950" dirty="0"/>
          </a:p>
        </p:txBody>
      </p:sp>
      <p:sp>
        <p:nvSpPr>
          <p:cNvPr id="6" name="Shape 4"/>
          <p:cNvSpPr/>
          <p:nvPr/>
        </p:nvSpPr>
        <p:spPr>
          <a:xfrm>
            <a:off x="822960" y="1920240"/>
            <a:ext cx="3291840" cy="512064"/>
          </a:xfrm>
          <a:prstGeom prst="roundRect">
            <a:avLst>
              <a:gd name="adj" fmla="val 14286"/>
            </a:avLst>
          </a:prstGeom>
          <a:solidFill>
            <a:srgbClr val="FFFFFF"/>
          </a:solidFill>
          <a:ln w="12700">
            <a:solidFill>
              <a:srgbClr val="CBD5E1"/>
            </a:solidFill>
          </a:ln>
        </p:spPr>
        <p:txBody>
          <a:bodyPr/>
          <a:lstStyle/>
          <a:p>
            <a:endParaRPr lang="ja-JP" altLang="en-US"/>
          </a:p>
        </p:txBody>
      </p:sp>
      <p:sp>
        <p:nvSpPr>
          <p:cNvPr id="7" name="Text 5"/>
          <p:cNvSpPr/>
          <p:nvPr/>
        </p:nvSpPr>
        <p:spPr>
          <a:xfrm>
            <a:off x="822960" y="1920240"/>
            <a:ext cx="3291840" cy="51206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クライアントPC</a:t>
            </a:r>
            <a:endParaRPr lang="en-US" sz="1200" dirty="0"/>
          </a:p>
        </p:txBody>
      </p:sp>
      <p:sp>
        <p:nvSpPr>
          <p:cNvPr id="8" name="Text 6"/>
          <p:cNvSpPr/>
          <p:nvPr/>
        </p:nvSpPr>
        <p:spPr>
          <a:xfrm>
            <a:off x="640080" y="2514600"/>
            <a:ext cx="365760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9" name="Shape 7"/>
          <p:cNvSpPr/>
          <p:nvPr/>
        </p:nvSpPr>
        <p:spPr>
          <a:xfrm>
            <a:off x="731520" y="2715768"/>
            <a:ext cx="3474720" cy="566928"/>
          </a:xfrm>
          <a:prstGeom prst="roundRect">
            <a:avLst>
              <a:gd name="adj" fmla="val 12903"/>
            </a:avLst>
          </a:prstGeom>
          <a:solidFill>
            <a:srgbClr val="F2F9F5"/>
          </a:solidFill>
          <a:ln w="19050">
            <a:solidFill>
              <a:srgbClr val="2E9E6B"/>
            </a:solidFill>
          </a:ln>
        </p:spPr>
        <p:txBody>
          <a:bodyPr/>
          <a:lstStyle/>
          <a:p>
            <a:endParaRPr lang="ja-JP" altLang="en-US"/>
          </a:p>
        </p:txBody>
      </p:sp>
      <p:sp>
        <p:nvSpPr>
          <p:cNvPr id="10" name="Text 8"/>
          <p:cNvSpPr/>
          <p:nvPr/>
        </p:nvSpPr>
        <p:spPr>
          <a:xfrm>
            <a:off x="731520" y="2770632"/>
            <a:ext cx="3474720" cy="256032"/>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ルータ ／ HAProxy</a:t>
            </a:r>
            <a:endParaRPr lang="en-US" sz="1200" dirty="0"/>
          </a:p>
        </p:txBody>
      </p:sp>
      <p:sp>
        <p:nvSpPr>
          <p:cNvPr id="11" name="Text 9"/>
          <p:cNvSpPr/>
          <p:nvPr/>
        </p:nvSpPr>
        <p:spPr>
          <a:xfrm>
            <a:off x="731520" y="3017520"/>
            <a:ext cx="3474720" cy="219456"/>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L4：宛先を付け替えて転送</a:t>
            </a:r>
            <a:endParaRPr lang="en-US" sz="900" dirty="0"/>
          </a:p>
        </p:txBody>
      </p:sp>
      <p:sp>
        <p:nvSpPr>
          <p:cNvPr id="12" name="Text 10"/>
          <p:cNvSpPr/>
          <p:nvPr/>
        </p:nvSpPr>
        <p:spPr>
          <a:xfrm>
            <a:off x="640080" y="3282696"/>
            <a:ext cx="365760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13" name="Shape 11"/>
          <p:cNvSpPr/>
          <p:nvPr/>
        </p:nvSpPr>
        <p:spPr>
          <a:xfrm>
            <a:off x="640080" y="3483864"/>
            <a:ext cx="3657600" cy="2870200"/>
          </a:xfrm>
          <a:prstGeom prst="roundRect">
            <a:avLst>
              <a:gd name="adj" fmla="val 2000"/>
            </a:avLst>
          </a:prstGeom>
          <a:solidFill>
            <a:srgbClr val="F5F8FD"/>
          </a:solidFill>
          <a:ln w="15875">
            <a:solidFill>
              <a:srgbClr val="94A3B8"/>
            </a:solidFill>
            <a:prstDash val="dash"/>
          </a:ln>
        </p:spPr>
        <p:txBody>
          <a:bodyPr/>
          <a:lstStyle/>
          <a:p>
            <a:endParaRPr lang="ja-JP" altLang="en-US"/>
          </a:p>
        </p:txBody>
      </p:sp>
      <p:sp>
        <p:nvSpPr>
          <p:cNvPr id="14" name="Text 12"/>
          <p:cNvSpPr/>
          <p:nvPr/>
        </p:nvSpPr>
        <p:spPr>
          <a:xfrm>
            <a:off x="777240" y="3529584"/>
            <a:ext cx="3383280" cy="201168"/>
          </a:xfrm>
          <a:prstGeom prst="rect">
            <a:avLst/>
          </a:prstGeom>
          <a:noFill/>
          <a:ln/>
        </p:spPr>
        <p:txBody>
          <a:bodyPr wrap="square" lIns="0" tIns="0" rIns="0" bIns="0" rtlCol="0" anchor="ctr"/>
          <a:lstStyle/>
          <a:p>
            <a:pPr marL="0" indent="0">
              <a:buNone/>
            </a:pPr>
            <a:r>
              <a:rPr lang="en-US" sz="950" b="1" dirty="0">
                <a:solidFill>
                  <a:srgbClr val="326CE5"/>
                </a:solidFill>
                <a:latin typeface="Meiryo" pitchFamily="34" charset="0"/>
                <a:ea typeface="Meiryo" pitchFamily="34" charset="-122"/>
                <a:cs typeface="Meiryo" pitchFamily="34" charset="-120"/>
              </a:rPr>
              <a:t>Kubernetes クラスタ</a:t>
            </a:r>
            <a:endParaRPr lang="en-US" sz="950" dirty="0"/>
          </a:p>
        </p:txBody>
      </p:sp>
      <p:sp>
        <p:nvSpPr>
          <p:cNvPr id="15" name="Shape 13"/>
          <p:cNvSpPr/>
          <p:nvPr/>
        </p:nvSpPr>
        <p:spPr>
          <a:xfrm>
            <a:off x="822960" y="3767328"/>
            <a:ext cx="329184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16" name="Text 14"/>
          <p:cNvSpPr/>
          <p:nvPr/>
        </p:nvSpPr>
        <p:spPr>
          <a:xfrm>
            <a:off x="822960" y="3813048"/>
            <a:ext cx="3291840" cy="23774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Ingress</a:t>
            </a:r>
            <a:endParaRPr lang="en-US" sz="1200" dirty="0"/>
          </a:p>
        </p:txBody>
      </p:sp>
      <p:sp>
        <p:nvSpPr>
          <p:cNvPr id="17" name="Text 15"/>
          <p:cNvSpPr/>
          <p:nvPr/>
        </p:nvSpPr>
        <p:spPr>
          <a:xfrm>
            <a:off x="822960" y="4041648"/>
            <a:ext cx="3291840" cy="201168"/>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L7：HTTPを読んで振り分け</a:t>
            </a:r>
            <a:endParaRPr lang="en-US" sz="900" dirty="0"/>
          </a:p>
        </p:txBody>
      </p:sp>
      <p:sp>
        <p:nvSpPr>
          <p:cNvPr id="18" name="Text 16"/>
          <p:cNvSpPr/>
          <p:nvPr/>
        </p:nvSpPr>
        <p:spPr>
          <a:xfrm>
            <a:off x="640080" y="4279392"/>
            <a:ext cx="365760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19" name="Shape 17"/>
          <p:cNvSpPr/>
          <p:nvPr/>
        </p:nvSpPr>
        <p:spPr>
          <a:xfrm>
            <a:off x="822960" y="4443984"/>
            <a:ext cx="329184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20" name="Text 18"/>
          <p:cNvSpPr/>
          <p:nvPr/>
        </p:nvSpPr>
        <p:spPr>
          <a:xfrm>
            <a:off x="822960" y="4489704"/>
            <a:ext cx="3291840" cy="237744"/>
          </a:xfrm>
          <a:prstGeom prst="rect">
            <a:avLst/>
          </a:prstGeom>
          <a:noFill/>
          <a:ln/>
        </p:spPr>
        <p:txBody>
          <a:bodyPr wrap="square" lIns="0" tIns="0" rIns="0" bIns="0" rtlCol="0" anchor="ctr"/>
          <a:lstStyle/>
          <a:p>
            <a:pPr marL="0" indent="0" algn="ctr">
              <a:buNone/>
            </a:pPr>
            <a:r>
              <a:rPr lang="en-US" sz="1200" b="1" dirty="0">
                <a:solidFill>
                  <a:srgbClr val="0F2350"/>
                </a:solidFill>
                <a:latin typeface="Meiryo" pitchFamily="34" charset="0"/>
                <a:ea typeface="Meiryo" pitchFamily="34" charset="-122"/>
                <a:cs typeface="Meiryo" pitchFamily="34" charset="-120"/>
              </a:rPr>
              <a:t>Service</a:t>
            </a:r>
            <a:endParaRPr lang="en-US" sz="1200" dirty="0"/>
          </a:p>
        </p:txBody>
      </p:sp>
      <p:sp>
        <p:nvSpPr>
          <p:cNvPr id="21" name="Text 19"/>
          <p:cNvSpPr/>
          <p:nvPr/>
        </p:nvSpPr>
        <p:spPr>
          <a:xfrm>
            <a:off x="822960" y="4718304"/>
            <a:ext cx="3291840" cy="201168"/>
          </a:xfrm>
          <a:prstGeom prst="rect">
            <a:avLst/>
          </a:prstGeom>
          <a:noFill/>
          <a:ln/>
        </p:spPr>
        <p:txBody>
          <a:bodyPr wrap="square" lIns="0" tIns="0" rIns="0" bIns="0" rtlCol="0" anchor="ctr"/>
          <a:lstStyle/>
          <a:p>
            <a:pPr marL="0" indent="0" algn="ctr">
              <a:buNone/>
            </a:pPr>
            <a:r>
              <a:rPr lang="en-US" sz="900" dirty="0">
                <a:solidFill>
                  <a:srgbClr val="5D6B85"/>
                </a:solidFill>
                <a:latin typeface="Meiryo" pitchFamily="34" charset="0"/>
                <a:ea typeface="Meiryo" pitchFamily="34" charset="-122"/>
                <a:cs typeface="Meiryo" pitchFamily="34" charset="-120"/>
              </a:rPr>
              <a:t>L4：対象のPod群を定義</a:t>
            </a:r>
            <a:endParaRPr lang="en-US" sz="900" dirty="0"/>
          </a:p>
        </p:txBody>
      </p:sp>
      <p:sp>
        <p:nvSpPr>
          <p:cNvPr id="22" name="Text 20"/>
          <p:cNvSpPr/>
          <p:nvPr/>
        </p:nvSpPr>
        <p:spPr>
          <a:xfrm>
            <a:off x="640080" y="4956048"/>
            <a:ext cx="365760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32" name="Shape 30"/>
          <p:cNvSpPr/>
          <p:nvPr/>
        </p:nvSpPr>
        <p:spPr>
          <a:xfrm>
            <a:off x="4846320" y="1651000"/>
            <a:ext cx="6675120" cy="990600"/>
          </a:xfrm>
          <a:prstGeom prst="roundRect">
            <a:avLst>
              <a:gd name="adj" fmla="val 4444"/>
            </a:avLst>
          </a:prstGeom>
          <a:solidFill>
            <a:srgbClr val="F5F8FD"/>
          </a:solidFill>
          <a:ln w="12700">
            <a:solidFill>
              <a:srgbClr val="F5F8FD"/>
            </a:solidFill>
            <a:prstDash val="solid"/>
          </a:ln>
        </p:spPr>
        <p:txBody>
          <a:bodyPr/>
          <a:lstStyle/>
          <a:p>
            <a:endParaRPr lang="ja-JP" altLang="en-US"/>
          </a:p>
        </p:txBody>
      </p:sp>
      <p:sp>
        <p:nvSpPr>
          <p:cNvPr id="33" name="Text 31"/>
          <p:cNvSpPr/>
          <p:nvPr/>
        </p:nvSpPr>
        <p:spPr>
          <a:xfrm>
            <a:off x="5166360" y="1752600"/>
            <a:ext cx="6126480" cy="304800"/>
          </a:xfrm>
          <a:prstGeom prst="rect">
            <a:avLst/>
          </a:prstGeom>
          <a:noFill/>
          <a:ln/>
        </p:spPr>
        <p:txBody>
          <a:bodyPr wrap="square" lIns="0" tIns="0" rIns="0" bIns="0" rtlCol="0" anchor="ctr"/>
          <a:lstStyle/>
          <a:p>
            <a:pPr marL="0" indent="0">
              <a:buNone/>
            </a:pPr>
            <a:r>
              <a:rPr lang="en-US" sz="1500" b="1" dirty="0">
                <a:solidFill>
                  <a:srgbClr val="326CE5"/>
                </a:solidFill>
                <a:latin typeface="Meiryo" pitchFamily="34" charset="0"/>
                <a:ea typeface="Meiryo" pitchFamily="34" charset="-122"/>
                <a:cs typeface="Meiryo" pitchFamily="34" charset="-120"/>
              </a:rPr>
              <a:t>入口は1つ、中身は3つ</a:t>
            </a:r>
            <a:endParaRPr lang="en-US" sz="1500" dirty="0"/>
          </a:p>
        </p:txBody>
      </p:sp>
      <p:sp>
        <p:nvSpPr>
          <p:cNvPr id="34" name="Text 32"/>
          <p:cNvSpPr/>
          <p:nvPr/>
        </p:nvSpPr>
        <p:spPr>
          <a:xfrm>
            <a:off x="5166360" y="2082800"/>
            <a:ext cx="6126480" cy="5080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利用者が叩くURLは1つだけ。その裏で3つのPodのどれが応えているかを、利用者は意識しない。</a:t>
            </a:r>
            <a:endParaRPr lang="en-US" sz="1250" dirty="0"/>
          </a:p>
        </p:txBody>
      </p:sp>
      <p:sp>
        <p:nvSpPr>
          <p:cNvPr id="35" name="Shape 33"/>
          <p:cNvSpPr/>
          <p:nvPr/>
        </p:nvSpPr>
        <p:spPr>
          <a:xfrm>
            <a:off x="4846320" y="2743200"/>
            <a:ext cx="6675120" cy="1219200"/>
          </a:xfrm>
          <a:prstGeom prst="roundRect">
            <a:avLst>
              <a:gd name="adj" fmla="val 3429"/>
            </a:avLst>
          </a:prstGeom>
          <a:solidFill>
            <a:srgbClr val="F5F8FD"/>
          </a:solidFill>
          <a:ln w="12700">
            <a:solidFill>
              <a:srgbClr val="F5F8FD"/>
            </a:solidFill>
            <a:prstDash val="solid"/>
          </a:ln>
        </p:spPr>
        <p:txBody>
          <a:bodyPr/>
          <a:lstStyle/>
          <a:p>
            <a:endParaRPr lang="ja-JP" altLang="en-US"/>
          </a:p>
        </p:txBody>
      </p:sp>
      <p:sp>
        <p:nvSpPr>
          <p:cNvPr id="36" name="Text 34"/>
          <p:cNvSpPr/>
          <p:nvPr/>
        </p:nvSpPr>
        <p:spPr>
          <a:xfrm>
            <a:off x="5166360" y="2844800"/>
            <a:ext cx="6126480" cy="304800"/>
          </a:xfrm>
          <a:prstGeom prst="rect">
            <a:avLst/>
          </a:prstGeom>
          <a:noFill/>
          <a:ln/>
        </p:spPr>
        <p:txBody>
          <a:bodyPr wrap="square" lIns="0" tIns="0" rIns="0" bIns="0" rtlCol="0" anchor="ctr"/>
          <a:lstStyle/>
          <a:p>
            <a:pPr marL="0" indent="0">
              <a:buNone/>
            </a:pPr>
            <a:r>
              <a:rPr lang="en-US" sz="1500" b="1" dirty="0">
                <a:solidFill>
                  <a:srgbClr val="326CE5"/>
                </a:solidFill>
                <a:latin typeface="Meiryo" pitchFamily="34" charset="0"/>
                <a:ea typeface="Meiryo" pitchFamily="34" charset="-122"/>
                <a:cs typeface="Meiryo" pitchFamily="34" charset="-120"/>
              </a:rPr>
              <a:t>L4 と L7 の分業</a:t>
            </a:r>
            <a:endParaRPr lang="en-US" sz="1500" dirty="0"/>
          </a:p>
        </p:txBody>
      </p:sp>
      <p:sp>
        <p:nvSpPr>
          <p:cNvPr id="37" name="Text 35"/>
          <p:cNvSpPr/>
          <p:nvPr/>
        </p:nvSpPr>
        <p:spPr>
          <a:xfrm>
            <a:off x="5166360" y="3175000"/>
            <a:ext cx="6126480" cy="7366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HAProxyとServiceは、IPとポートだけを見て転送する（L4）。Ingressは中身のHTTPまで読んで、ホスト名やURLで振り分ける（L7）。見ている層が違うので、両方が必要になる。</a:t>
            </a:r>
            <a:endParaRPr lang="en-US" sz="1250" dirty="0"/>
          </a:p>
        </p:txBody>
      </p:sp>
      <p:sp>
        <p:nvSpPr>
          <p:cNvPr id="38" name="Shape 36"/>
          <p:cNvSpPr/>
          <p:nvPr/>
        </p:nvSpPr>
        <p:spPr>
          <a:xfrm>
            <a:off x="4846320" y="5029200"/>
            <a:ext cx="6675120" cy="1219200"/>
          </a:xfrm>
          <a:prstGeom prst="roundRect">
            <a:avLst>
              <a:gd name="adj" fmla="val 3429"/>
            </a:avLst>
          </a:prstGeom>
          <a:solidFill>
            <a:srgbClr val="E8EEF9"/>
          </a:solidFill>
          <a:ln w="12700">
            <a:solidFill>
              <a:srgbClr val="E8EEF9"/>
            </a:solidFill>
            <a:prstDash val="solid"/>
          </a:ln>
        </p:spPr>
        <p:txBody>
          <a:bodyPr/>
          <a:lstStyle/>
          <a:p>
            <a:endParaRPr lang="ja-JP" altLang="en-US"/>
          </a:p>
        </p:txBody>
      </p:sp>
      <p:sp>
        <p:nvSpPr>
          <p:cNvPr id="39" name="Text 37"/>
          <p:cNvSpPr/>
          <p:nvPr/>
        </p:nvSpPr>
        <p:spPr>
          <a:xfrm>
            <a:off x="5166360" y="5130800"/>
            <a:ext cx="6126480" cy="30480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なぜPodを直接指さないのか</a:t>
            </a:r>
            <a:endParaRPr lang="en-US" sz="1500" dirty="0"/>
          </a:p>
        </p:txBody>
      </p:sp>
      <p:sp>
        <p:nvSpPr>
          <p:cNvPr id="40" name="Text 38"/>
          <p:cNvSpPr/>
          <p:nvPr/>
        </p:nvSpPr>
        <p:spPr>
          <a:xfrm>
            <a:off x="5166360" y="5461000"/>
            <a:ext cx="6126480" cy="736600"/>
          </a:xfrm>
          <a:prstGeom prst="rect">
            <a:avLst/>
          </a:prstGeom>
          <a:noFill/>
          <a:ln/>
        </p:spPr>
        <p:txBody>
          <a:bodyPr wrap="square" lIns="0" tIns="0" rIns="0" bIns="0" rtlCol="0" anchor="t"/>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Podは増えたり減ったりするし、作り直すたびにIPも変わる。だから「変わらない入口」を手前に置く。Podを消してもアクセスが途切れないのは、この構造のおかげ。</a:t>
            </a:r>
            <a:endParaRPr lang="en-US" sz="1250" dirty="0"/>
          </a:p>
        </p:txBody>
      </p:sp>
      <p:sp>
        <p:nvSpPr>
          <p:cNvPr id="41" name="DeploymentBox">
            <a:extLst>
              <a:ext uri="{FF2B5EF4-FFF2-40B4-BE49-F238E27FC236}">
                <a16:creationId xmlns:a16="http://schemas.microsoft.com/office/drawing/2014/main" id="{139E2693-D3D2-42BA-AA24-A68384769FBF}"/>
              </a:ext>
            </a:extLst>
          </p:cNvPr>
          <p:cNvSpPr/>
          <p:nvPr/>
        </p:nvSpPr>
        <p:spPr>
          <a:xfrm>
            <a:off x="736600" y="5054600"/>
            <a:ext cx="3479800" cy="1117600"/>
          </a:xfrm>
          <a:prstGeom prst="roundRect">
            <a:avLst/>
          </a:prstGeom>
          <a:solidFill>
            <a:srgbClr val="EAF0FC"/>
          </a:solidFill>
          <a:ln w="15875">
            <a:solidFill>
              <a:srgbClr val="1F5FBF"/>
            </a:solidFill>
            <a:prstDash val="dash"/>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DeploymentLabel">
            <a:extLst>
              <a:ext uri="{FF2B5EF4-FFF2-40B4-BE49-F238E27FC236}">
                <a16:creationId xmlns:a16="http://schemas.microsoft.com/office/drawing/2014/main" id="{12EE81CC-26CB-4AB1-8993-5B7FB4BE6B70}"/>
              </a:ext>
            </a:extLst>
          </p:cNvPr>
          <p:cNvSpPr txBox="1"/>
          <p:nvPr/>
        </p:nvSpPr>
        <p:spPr>
          <a:xfrm>
            <a:off x="838200" y="5130800"/>
            <a:ext cx="2540000" cy="203200"/>
          </a:xfrm>
          <a:prstGeom prst="rect">
            <a:avLst/>
          </a:prstGeom>
          <a:noFill/>
        </p:spPr>
        <p:txBody>
          <a:bodyPr vertOverflow="overflow" vert="horz" wrap="none" lIns="0" tIns="0" rIns="0" bIns="0" rtlCol="0" anchor="t">
            <a:noAutofit/>
          </a:bodyPr>
          <a:lstStyle/>
          <a:p>
            <a:pPr marL="0" indent="0">
              <a:buNone/>
            </a:pPr>
            <a:r>
              <a:rPr lang="en-US" sz="950" b="1" dirty="0">
                <a:solidFill>
                  <a:srgbClr val="326CE5"/>
                </a:solidFill>
                <a:latin typeface="Meiryo" pitchFamily="34" charset="0"/>
                <a:ea typeface="Meiryo" pitchFamily="34" charset="-122"/>
                <a:cs typeface="Meiryo" pitchFamily="34" charset="-120"/>
              </a:rPr>
              <a:t>Deployment（replicas: 3）</a:t>
            </a:r>
          </a:p>
        </p:txBody>
      </p:sp>
      <p:sp>
        <p:nvSpPr>
          <p:cNvPr id="23" name="Shape 21"/>
          <p:cNvSpPr/>
          <p:nvPr/>
        </p:nvSpPr>
        <p:spPr>
          <a:xfrm>
            <a:off x="822960"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24" name="Text 22"/>
          <p:cNvSpPr/>
          <p:nvPr/>
        </p:nvSpPr>
        <p:spPr>
          <a:xfrm>
            <a:off x="822960"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5" name="Text 23"/>
          <p:cNvSpPr/>
          <p:nvPr/>
        </p:nvSpPr>
        <p:spPr>
          <a:xfrm>
            <a:off x="822960"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worker1</a:t>
            </a:r>
            <a:endParaRPr lang="en-US" sz="750" dirty="0"/>
          </a:p>
        </p:txBody>
      </p:sp>
      <p:sp>
        <p:nvSpPr>
          <p:cNvPr id="26" name="Shape 24"/>
          <p:cNvSpPr/>
          <p:nvPr/>
        </p:nvSpPr>
        <p:spPr>
          <a:xfrm>
            <a:off x="1956816"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27" name="Text 25"/>
          <p:cNvSpPr/>
          <p:nvPr/>
        </p:nvSpPr>
        <p:spPr>
          <a:xfrm>
            <a:off x="1956816"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28" name="Text 26"/>
          <p:cNvSpPr/>
          <p:nvPr/>
        </p:nvSpPr>
        <p:spPr>
          <a:xfrm>
            <a:off x="1956816"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worker2</a:t>
            </a:r>
            <a:endParaRPr lang="en-US" sz="750" dirty="0"/>
          </a:p>
        </p:txBody>
      </p:sp>
      <p:sp>
        <p:nvSpPr>
          <p:cNvPr id="29" name="Shape 27"/>
          <p:cNvSpPr/>
          <p:nvPr/>
        </p:nvSpPr>
        <p:spPr>
          <a:xfrm>
            <a:off x="3090672" y="5438140"/>
            <a:ext cx="1024128"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30" name="Text 28"/>
          <p:cNvSpPr/>
          <p:nvPr/>
        </p:nvSpPr>
        <p:spPr>
          <a:xfrm>
            <a:off x="3090672" y="5493004"/>
            <a:ext cx="1024128"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Meiryo" pitchFamily="34" charset="0"/>
                <a:ea typeface="Meiryo" pitchFamily="34" charset="-122"/>
                <a:cs typeface="Meiryo" pitchFamily="34" charset="-120"/>
              </a:rPr>
              <a:t>Pod</a:t>
            </a:r>
            <a:endParaRPr lang="en-US" sz="900" dirty="0"/>
          </a:p>
        </p:txBody>
      </p:sp>
      <p:sp>
        <p:nvSpPr>
          <p:cNvPr id="31" name="Text 29"/>
          <p:cNvSpPr/>
          <p:nvPr/>
        </p:nvSpPr>
        <p:spPr>
          <a:xfrm>
            <a:off x="3090672" y="5721604"/>
            <a:ext cx="1024128" cy="201168"/>
          </a:xfrm>
          <a:prstGeom prst="rect">
            <a:avLst/>
          </a:prstGeom>
          <a:noFill/>
          <a:ln/>
        </p:spPr>
        <p:txBody>
          <a:bodyPr wrap="square" lIns="0" tIns="0" rIns="0" bIns="0" rtlCol="0" anchor="ctr"/>
          <a:lstStyle/>
          <a:p>
            <a:pPr marL="0" indent="0" algn="ctr">
              <a:buNone/>
            </a:pPr>
            <a:r>
              <a:rPr lang="en-US" sz="750" dirty="0">
                <a:solidFill>
                  <a:srgbClr val="D6E5FF"/>
                </a:solidFill>
                <a:latin typeface="Meiryo" pitchFamily="34" charset="0"/>
                <a:ea typeface="Meiryo" pitchFamily="34" charset="-122"/>
                <a:cs typeface="Meiryo" pitchFamily="34" charset="-120"/>
              </a:rPr>
              <a:t>worker3</a:t>
            </a:r>
            <a:endParaRPr lang="en-US" sz="750" dirty="0"/>
          </a:p>
        </p:txBody>
      </p:sp>
      <p:sp>
        <p:nvSpPr>
          <p:cNvPr id="44" name="DeployCardTitle">
            <a:extLst>
              <a:ext uri="{FF2B5EF4-FFF2-40B4-BE49-F238E27FC236}">
                <a16:creationId xmlns:a16="http://schemas.microsoft.com/office/drawing/2014/main" id="{5C489B63-7A80-4730-A899-72703CD23616}"/>
              </a:ext>
            </a:extLst>
          </p:cNvPr>
          <p:cNvSpPr txBox="1"/>
          <p:nvPr/>
        </p:nvSpPr>
        <p:spPr>
          <a:xfrm>
            <a:off x="5168900" y="4114800"/>
            <a:ext cx="6121400" cy="304800"/>
          </a:xfrm>
          <a:prstGeom prst="rect">
            <a:avLst/>
          </a:prstGeom>
          <a:noFill/>
        </p:spPr>
        <p:txBody>
          <a:bodyPr vertOverflow="overflow" vert="horz" wrap="square" lIns="0" tIns="0" rIns="0" bIns="0" rtlCol="0" anchor="t">
            <a:noAutofit/>
          </a:bodyPr>
          <a:lstStyle/>
          <a:p>
            <a:pPr marL="0" indent="0">
              <a:buNone/>
            </a:pPr>
            <a:r>
              <a:rPr lang="en-US" sz="1500" b="1" dirty="0">
                <a:solidFill>
                  <a:srgbClr val="326CE5"/>
                </a:solidFill>
                <a:latin typeface="Meiryo" pitchFamily="34" charset="0"/>
                <a:ea typeface="Meiryo" pitchFamily="34" charset="-122"/>
                <a:cs typeface="Meiryo" pitchFamily="34" charset="-120"/>
              </a:rPr>
              <a:t>Deployment がPodの数を保つ</a:t>
            </a:r>
          </a:p>
        </p:txBody>
      </p:sp>
      <p:sp>
        <p:nvSpPr>
          <p:cNvPr id="45" name="DeployCardBody">
            <a:extLst>
              <a:ext uri="{FF2B5EF4-FFF2-40B4-BE49-F238E27FC236}">
                <a16:creationId xmlns:a16="http://schemas.microsoft.com/office/drawing/2014/main" id="{57245A12-ADE2-444E-820D-8C2EBDE03732}"/>
              </a:ext>
            </a:extLst>
          </p:cNvPr>
          <p:cNvSpPr txBox="1"/>
          <p:nvPr/>
        </p:nvSpPr>
        <p:spPr>
          <a:xfrm>
            <a:off x="5168900" y="4445000"/>
            <a:ext cx="6121400" cy="508000"/>
          </a:xfrm>
          <a:prstGeom prst="rect">
            <a:avLst/>
          </a:prstGeom>
          <a:noFill/>
        </p:spPr>
        <p:txBody>
          <a:bodyPr vertOverflow="overflow" vert="horz" wrap="square" lIns="0" tIns="0" rIns="0" bIns="0" rtlCol="0" anchor="t">
            <a:noAutofit/>
          </a:bodyPr>
          <a:lstStyle/>
          <a:p>
            <a:pPr marL="0" indent="0">
              <a:lnSpc>
                <a:spcPts val="1800"/>
              </a:lnSpc>
              <a:buNone/>
            </a:pPr>
            <a:r>
              <a:rPr lang="en-US" sz="1250" dirty="0">
                <a:solidFill>
                  <a:srgbClr val="1A2233"/>
                </a:solidFill>
                <a:latin typeface="Meiryo" pitchFamily="34" charset="0"/>
                <a:ea typeface="Meiryo" pitchFamily="34" charset="-122"/>
                <a:cs typeface="Meiryo" pitchFamily="34" charset="-120"/>
              </a:rPr>
              <a:t>3つのPodは手で並べたものではなく、Deploymentが「常に3つ」を保っている。落ちれば作り直し、数を変えれば増減する。</a:t>
            </a:r>
          </a:p>
        </p:txBody>
      </p:sp>
      <p:sp>
        <p:nvSpPr>
          <p:cNvPr id="120" name="EnvBadge"/>
          <p:cNvSpPr txBox="1"/>
          <p:nvPr/>
        </p:nvSpPr>
        <p:spPr>
          <a:xfrm>
            <a:off x="635000" y="6375400"/>
            <a:ext cx="3657600" cy="330200"/>
          </a:xfrm>
          <a:prstGeom prst="roundRect">
            <a:avLst>
              <a:gd name="adj" fmla="val 20000"/>
            </a:avLst>
          </a:prstGeom>
          <a:noFill/>
        </p:spPr>
        <p:txBody>
          <a:bodyPr wrap="square" lIns="0" tIns="25400" rIns="0" bIns="25400" anchor="ctr"/>
          <a:lstStyle/>
          <a:p>
            <a:pPr algn="l">
              <a:buNone/>
            </a:pPr>
            <a:r>
              <a:rPr lang="ja-JP" sz="1400" b="1" dirty="0">
                <a:solidFill>
                  <a:srgbClr val="334155"/>
                </a:solidFill>
              </a:rPr>
              <a:t>※ 実機：</a:t>
            </a:r>
            <a:r>
              <a:rPr lang="ja-JP" sz="1400" b="0" dirty="0">
                <a:solidFill>
                  <a:srgbClr val="475569"/>
                </a:solidFill>
              </a:rPr>
              <a:t>自宅のミニPC 7台（オンプレ）</a:t>
            </a:r>
          </a:p>
        </p:txBody>
      </p:sp>
      <p:sp>
        <p:nvSpPr>
          <p:cNvPr id="46" name="LayerNote">
            <a:extLst>
              <a:ext uri="{FF2B5EF4-FFF2-40B4-BE49-F238E27FC236}">
                <a16:creationId xmlns:a16="http://schemas.microsoft.com/office/drawing/2014/main" id="{8A91C480-D54B-44A8-8806-535DA5587195}"/>
              </a:ext>
            </a:extLst>
          </p:cNvPr>
          <p:cNvSpPr txBox="1"/>
          <p:nvPr/>
        </p:nvSpPr>
        <p:spPr>
          <a:xfrm>
            <a:off x="4851400" y="6375400"/>
            <a:ext cx="6680200" cy="254000"/>
          </a:xfrm>
          <a:prstGeom prst="rect">
            <a:avLst/>
          </a:prstGeom>
          <a:noFill/>
        </p:spPr>
        <p:txBody>
          <a:bodyPr vertOverflow="overflow" vert="horz" wrap="none" rtlCol="0" anchor="t">
            <a:noAutofit/>
          </a:bodyPr>
          <a:lstStyle/>
          <a:p>
            <a:pPr algn="l"/>
            <a:r>
              <a:rPr lang="en-US" altLang="ja-JP" sz="1100" dirty="0">
                <a:solidFill>
                  <a:srgbClr val="5D6B85"/>
                </a:solidFill>
                <a:latin typeface="Meiryo"/>
                <a:ea typeface="Meiryo"/>
              </a:rPr>
              <a:t>※ L</a:t>
            </a:r>
            <a:r>
              <a:rPr lang="ja-JP" altLang="en-US" sz="1100" dirty="0">
                <a:solidFill>
                  <a:srgbClr val="5D6B85"/>
                </a:solidFill>
                <a:latin typeface="Meiryo"/>
                <a:ea typeface="Meiryo"/>
              </a:rPr>
              <a:t>＝</a:t>
            </a:r>
            <a:r>
              <a:rPr lang="en-US" altLang="ja-JP" sz="1100" dirty="0">
                <a:solidFill>
                  <a:srgbClr val="5D6B85"/>
                </a:solidFill>
                <a:latin typeface="Meiryo"/>
                <a:ea typeface="Meiryo"/>
              </a:rPr>
              <a:t>OSI</a:t>
            </a:r>
            <a:r>
              <a:rPr lang="ja-JP" altLang="en-US" sz="1100" dirty="0">
                <a:solidFill>
                  <a:srgbClr val="5D6B85"/>
                </a:solidFill>
                <a:latin typeface="Meiryo"/>
                <a:ea typeface="Meiryo"/>
              </a:rPr>
              <a:t>参照モデルの階層。</a:t>
            </a:r>
            <a:r>
              <a:rPr lang="en-US" altLang="ja-JP" sz="1100" dirty="0">
                <a:solidFill>
                  <a:srgbClr val="5D6B85"/>
                </a:solidFill>
                <a:latin typeface="Meiryo"/>
                <a:ea typeface="Meiryo"/>
              </a:rPr>
              <a:t>L4</a:t>
            </a:r>
            <a:r>
              <a:rPr lang="ja-JP" altLang="en-US" sz="1100" dirty="0">
                <a:solidFill>
                  <a:srgbClr val="5D6B85"/>
                </a:solidFill>
                <a:latin typeface="Meiryo"/>
                <a:ea typeface="Meiryo"/>
              </a:rPr>
              <a:t>＝トランスポート層</a:t>
            </a:r>
            <a:r>
              <a:rPr lang="en-US" altLang="ja-JP" sz="1100" dirty="0">
                <a:solidFill>
                  <a:srgbClr val="5D6B85"/>
                </a:solidFill>
                <a:latin typeface="Meiryo"/>
                <a:ea typeface="Meiryo"/>
              </a:rPr>
              <a:t>(TCP/UDP</a:t>
            </a:r>
            <a:r>
              <a:rPr lang="ja-JP" altLang="en-US" sz="1100" dirty="0">
                <a:solidFill>
                  <a:srgbClr val="5D6B85"/>
                </a:solidFill>
                <a:latin typeface="Meiryo"/>
                <a:ea typeface="Meiryo"/>
              </a:rPr>
              <a:t>ポート</a:t>
            </a:r>
            <a:r>
              <a:rPr lang="en-US" altLang="ja-JP" sz="1100" dirty="0">
                <a:solidFill>
                  <a:srgbClr val="5D6B85"/>
                </a:solidFill>
                <a:latin typeface="Meiryo"/>
                <a:ea typeface="Meiryo"/>
              </a:rPr>
              <a:t>)</a:t>
            </a:r>
            <a:r>
              <a:rPr lang="ja-JP" altLang="en-US" sz="1100" dirty="0">
                <a:solidFill>
                  <a:srgbClr val="5D6B85"/>
                </a:solidFill>
                <a:latin typeface="Meiryo"/>
                <a:ea typeface="Meiryo"/>
              </a:rPr>
              <a:t>、</a:t>
            </a:r>
            <a:r>
              <a:rPr lang="en-US" altLang="ja-JP" sz="1100" dirty="0">
                <a:solidFill>
                  <a:srgbClr val="5D6B85"/>
                </a:solidFill>
                <a:latin typeface="Meiryo"/>
                <a:ea typeface="Meiryo"/>
              </a:rPr>
              <a:t>L7</a:t>
            </a:r>
            <a:r>
              <a:rPr lang="ja-JP" altLang="en-US" sz="1100" dirty="0">
                <a:solidFill>
                  <a:srgbClr val="5D6B85"/>
                </a:solidFill>
                <a:latin typeface="Meiryo"/>
                <a:ea typeface="Meiryo"/>
              </a:rPr>
              <a:t>＝アプリケーション層</a:t>
            </a:r>
            <a:r>
              <a:rPr lang="en-US" altLang="ja-JP" sz="1100" dirty="0">
                <a:solidFill>
                  <a:srgbClr val="5D6B85"/>
                </a:solidFill>
                <a:latin typeface="Meiryo"/>
                <a:ea typeface="Meiryo"/>
              </a:rPr>
              <a:t>(HTTP)</a:t>
            </a:r>
            <a:r>
              <a:rPr lang="ja-JP" altLang="en-US" sz="1100" dirty="0">
                <a:solidFill>
                  <a:srgbClr val="5D6B85"/>
                </a:solidFill>
                <a:latin typeface="Meiryo"/>
                <a:ea typeface="Meiryo"/>
              </a:rPr>
              <a:t>。</a:t>
            </a:r>
          </a:p>
        </p:txBody>
      </p:sp>
    </p:spTree>
    <p:extLst>
      <p:ext uri="{BB962C8B-B14F-4D97-AF65-F5344CB8AC3E}">
        <p14:creationId xmlns:p14="http://schemas.microsoft.com/office/powerpoint/2010/main" val="880945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デモ</a:t>
            </a:r>
            <a:endParaRPr lang="en-US" sz="3200" dirty="0"/>
          </a:p>
        </p:txBody>
      </p:sp>
      <p:pic>
        <p:nvPicPr>
          <p:cNvPr id="4" name="demo">
            <a:hlinkClick r:id="" action="ppaction://media"/>
            <a:extLst>
              <a:ext uri="{FF2B5EF4-FFF2-40B4-BE49-F238E27FC236}">
                <a16:creationId xmlns:a16="http://schemas.microsoft.com/office/drawing/2014/main" id="{6E4C0EC4-DBDF-5C59-5FCB-1AF99542EB26}"/>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3045831" y="128935"/>
            <a:ext cx="9039890" cy="6362386"/>
          </a:xfrm>
          <a:prstGeom prst="rect">
            <a:avLst/>
          </a:prstGeom>
        </p:spPr>
      </p:pic>
      <p:sp>
        <p:nvSpPr>
          <p:cNvPr id="5" name="Shape 2">
            <a:extLst>
              <a:ext uri="{FF2B5EF4-FFF2-40B4-BE49-F238E27FC236}">
                <a16:creationId xmlns:a16="http://schemas.microsoft.com/office/drawing/2014/main" id="{563A5172-D7CC-297D-EC5C-EA524056837C}"/>
              </a:ext>
            </a:extLst>
          </p:cNvPr>
          <p:cNvSpPr/>
          <p:nvPr/>
        </p:nvSpPr>
        <p:spPr>
          <a:xfrm>
            <a:off x="152801" y="1303020"/>
            <a:ext cx="2651760" cy="868680"/>
          </a:xfrm>
          <a:prstGeom prst="roundRect">
            <a:avLst>
              <a:gd name="adj" fmla="val 5263"/>
            </a:avLst>
          </a:prstGeom>
          <a:solidFill>
            <a:srgbClr val="FFFFFF"/>
          </a:solidFill>
          <a:ln w="12700">
            <a:solidFill>
              <a:srgbClr val="B9C4D6"/>
            </a:solidFill>
            <a:prstDash val="dash"/>
          </a:ln>
        </p:spPr>
        <p:txBody>
          <a:bodyPr/>
          <a:lstStyle/>
          <a:p>
            <a:endParaRPr lang="ja-JP" altLang="en-US"/>
          </a:p>
        </p:txBody>
      </p:sp>
      <p:sp>
        <p:nvSpPr>
          <p:cNvPr id="19" name="Text 3">
            <a:extLst>
              <a:ext uri="{FF2B5EF4-FFF2-40B4-BE49-F238E27FC236}">
                <a16:creationId xmlns:a16="http://schemas.microsoft.com/office/drawing/2014/main" id="{516DB9AC-D100-EE0B-6C78-C12D0090052C}"/>
              </a:ext>
            </a:extLst>
          </p:cNvPr>
          <p:cNvSpPr/>
          <p:nvPr/>
        </p:nvSpPr>
        <p:spPr>
          <a:xfrm>
            <a:off x="289961" y="1348740"/>
            <a:ext cx="2377440" cy="201168"/>
          </a:xfrm>
          <a:prstGeom prst="rect">
            <a:avLst/>
          </a:prstGeom>
          <a:noFill/>
          <a:ln/>
        </p:spPr>
        <p:txBody>
          <a:bodyPr wrap="square" lIns="0" tIns="0" rIns="0" bIns="0" rtlCol="0" anchor="ctr"/>
          <a:lstStyle/>
          <a:p>
            <a:pPr marL="0" indent="0">
              <a:buNone/>
            </a:pPr>
            <a:r>
              <a:rPr lang="en-US" sz="800" b="1" dirty="0">
                <a:solidFill>
                  <a:srgbClr val="5D6B85"/>
                </a:solidFill>
                <a:latin typeface="Meiryo" pitchFamily="34" charset="0"/>
                <a:ea typeface="Meiryo" pitchFamily="34" charset="-122"/>
                <a:cs typeface="Meiryo" pitchFamily="34" charset="-120"/>
              </a:rPr>
              <a:t>クライアント側</a:t>
            </a:r>
            <a:endParaRPr lang="en-US" sz="800" dirty="0"/>
          </a:p>
        </p:txBody>
      </p:sp>
      <p:sp>
        <p:nvSpPr>
          <p:cNvPr id="21" name="Shape 4">
            <a:extLst>
              <a:ext uri="{FF2B5EF4-FFF2-40B4-BE49-F238E27FC236}">
                <a16:creationId xmlns:a16="http://schemas.microsoft.com/office/drawing/2014/main" id="{EB67A707-2E12-816B-E40F-E756366DC463}"/>
              </a:ext>
            </a:extLst>
          </p:cNvPr>
          <p:cNvSpPr/>
          <p:nvPr/>
        </p:nvSpPr>
        <p:spPr>
          <a:xfrm>
            <a:off x="335681" y="1577340"/>
            <a:ext cx="2286000" cy="512064"/>
          </a:xfrm>
          <a:prstGeom prst="roundRect">
            <a:avLst>
              <a:gd name="adj" fmla="val 14286"/>
            </a:avLst>
          </a:prstGeom>
          <a:solidFill>
            <a:srgbClr val="FFFFFF"/>
          </a:solidFill>
          <a:ln w="15875">
            <a:solidFill>
              <a:srgbClr val="CFDEF8"/>
            </a:solidFill>
            <a:prstDash val="solid"/>
          </a:ln>
        </p:spPr>
        <p:txBody>
          <a:bodyPr/>
          <a:lstStyle/>
          <a:p>
            <a:endParaRPr lang="ja-JP" altLang="en-US"/>
          </a:p>
        </p:txBody>
      </p:sp>
      <p:sp>
        <p:nvSpPr>
          <p:cNvPr id="23" name="Text 5">
            <a:extLst>
              <a:ext uri="{FF2B5EF4-FFF2-40B4-BE49-F238E27FC236}">
                <a16:creationId xmlns:a16="http://schemas.microsoft.com/office/drawing/2014/main" id="{2B384BB2-366D-F011-E7CC-495608C7F7C2}"/>
              </a:ext>
            </a:extLst>
          </p:cNvPr>
          <p:cNvSpPr/>
          <p:nvPr/>
        </p:nvSpPr>
        <p:spPr>
          <a:xfrm>
            <a:off x="335681" y="1577340"/>
            <a:ext cx="2286000" cy="51206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クライアントPC</a:t>
            </a:r>
            <a:endParaRPr lang="en-US" sz="1050" dirty="0"/>
          </a:p>
        </p:txBody>
      </p:sp>
      <p:sp>
        <p:nvSpPr>
          <p:cNvPr id="25" name="Text 6">
            <a:extLst>
              <a:ext uri="{FF2B5EF4-FFF2-40B4-BE49-F238E27FC236}">
                <a16:creationId xmlns:a16="http://schemas.microsoft.com/office/drawing/2014/main" id="{808C84C2-29CB-A022-F982-673C79E3C279}"/>
              </a:ext>
            </a:extLst>
          </p:cNvPr>
          <p:cNvSpPr/>
          <p:nvPr/>
        </p:nvSpPr>
        <p:spPr>
          <a:xfrm>
            <a:off x="152801" y="2171700"/>
            <a:ext cx="265176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27" name="Shape 7">
            <a:extLst>
              <a:ext uri="{FF2B5EF4-FFF2-40B4-BE49-F238E27FC236}">
                <a16:creationId xmlns:a16="http://schemas.microsoft.com/office/drawing/2014/main" id="{49DD9D78-CE1F-3D5A-BE6A-46E023ECD515}"/>
              </a:ext>
            </a:extLst>
          </p:cNvPr>
          <p:cNvSpPr/>
          <p:nvPr/>
        </p:nvSpPr>
        <p:spPr>
          <a:xfrm>
            <a:off x="244241" y="2372868"/>
            <a:ext cx="2468880" cy="566928"/>
          </a:xfrm>
          <a:prstGeom prst="roundRect">
            <a:avLst>
              <a:gd name="adj" fmla="val 12903"/>
            </a:avLst>
          </a:prstGeom>
          <a:solidFill>
            <a:srgbClr val="F2F9F5"/>
          </a:solidFill>
          <a:ln w="19050">
            <a:solidFill>
              <a:srgbClr val="2E9E6B"/>
            </a:solidFill>
          </a:ln>
        </p:spPr>
        <p:txBody>
          <a:bodyPr/>
          <a:lstStyle/>
          <a:p>
            <a:endParaRPr lang="ja-JP" altLang="en-US"/>
          </a:p>
        </p:txBody>
      </p:sp>
      <p:sp>
        <p:nvSpPr>
          <p:cNvPr id="29" name="Text 8">
            <a:extLst>
              <a:ext uri="{FF2B5EF4-FFF2-40B4-BE49-F238E27FC236}">
                <a16:creationId xmlns:a16="http://schemas.microsoft.com/office/drawing/2014/main" id="{913A8FC7-B8F6-6EF4-272E-A1A206E5AA95}"/>
              </a:ext>
            </a:extLst>
          </p:cNvPr>
          <p:cNvSpPr/>
          <p:nvPr/>
        </p:nvSpPr>
        <p:spPr>
          <a:xfrm>
            <a:off x="244241" y="2427732"/>
            <a:ext cx="2468880" cy="256032"/>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ルータ ／ HAProxy</a:t>
            </a:r>
            <a:endParaRPr lang="en-US" sz="1050" dirty="0"/>
          </a:p>
        </p:txBody>
      </p:sp>
      <p:sp>
        <p:nvSpPr>
          <p:cNvPr id="31" name="Text 9">
            <a:extLst>
              <a:ext uri="{FF2B5EF4-FFF2-40B4-BE49-F238E27FC236}">
                <a16:creationId xmlns:a16="http://schemas.microsoft.com/office/drawing/2014/main" id="{6E88BA90-3163-4B44-4A3D-E40DA8663C1C}"/>
              </a:ext>
            </a:extLst>
          </p:cNvPr>
          <p:cNvSpPr/>
          <p:nvPr/>
        </p:nvSpPr>
        <p:spPr>
          <a:xfrm>
            <a:off x="244241" y="2674620"/>
            <a:ext cx="2468880" cy="219456"/>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L4 転送（境界）</a:t>
            </a:r>
            <a:endParaRPr lang="en-US" sz="750" dirty="0"/>
          </a:p>
        </p:txBody>
      </p:sp>
      <p:sp>
        <p:nvSpPr>
          <p:cNvPr id="33" name="Text 10">
            <a:extLst>
              <a:ext uri="{FF2B5EF4-FFF2-40B4-BE49-F238E27FC236}">
                <a16:creationId xmlns:a16="http://schemas.microsoft.com/office/drawing/2014/main" id="{CBFAEBB8-659F-ABC3-A346-2CE779F7C643}"/>
              </a:ext>
            </a:extLst>
          </p:cNvPr>
          <p:cNvSpPr/>
          <p:nvPr/>
        </p:nvSpPr>
        <p:spPr>
          <a:xfrm>
            <a:off x="152801" y="2939796"/>
            <a:ext cx="2651760" cy="201168"/>
          </a:xfrm>
          <a:prstGeom prst="rect">
            <a:avLst/>
          </a:prstGeom>
          <a:noFill/>
          <a:ln/>
        </p:spPr>
        <p:txBody>
          <a:bodyPr wrap="square" lIns="0" tIns="0" rIns="0" bIns="0" rtlCol="0" anchor="ctr"/>
          <a:lstStyle/>
          <a:p>
            <a:pPr marL="0" indent="0" algn="ctr">
              <a:buNone/>
            </a:pPr>
            <a:r>
              <a:rPr lang="en-US" sz="1200" b="1" dirty="0">
                <a:solidFill>
                  <a:srgbClr val="326CE5"/>
                </a:solidFill>
                <a:latin typeface="Meiryo" pitchFamily="34" charset="0"/>
                <a:ea typeface="Meiryo" pitchFamily="34" charset="-122"/>
                <a:cs typeface="Meiryo" pitchFamily="34" charset="-120"/>
              </a:rPr>
              <a:t>↓</a:t>
            </a:r>
            <a:endParaRPr lang="en-US" sz="1200" dirty="0"/>
          </a:p>
        </p:txBody>
      </p:sp>
      <p:sp>
        <p:nvSpPr>
          <p:cNvPr id="35" name="Shape 11">
            <a:extLst>
              <a:ext uri="{FF2B5EF4-FFF2-40B4-BE49-F238E27FC236}">
                <a16:creationId xmlns:a16="http://schemas.microsoft.com/office/drawing/2014/main" id="{ACF5FEA3-3BAA-6A27-0307-E411B8D82DE1}"/>
              </a:ext>
            </a:extLst>
          </p:cNvPr>
          <p:cNvSpPr/>
          <p:nvPr/>
        </p:nvSpPr>
        <p:spPr>
          <a:xfrm>
            <a:off x="152801" y="3140964"/>
            <a:ext cx="2651760" cy="2971800"/>
          </a:xfrm>
          <a:prstGeom prst="roundRect">
            <a:avLst>
              <a:gd name="adj" fmla="val 1838"/>
            </a:avLst>
          </a:prstGeom>
          <a:solidFill>
            <a:srgbClr val="F5F8FD"/>
          </a:solidFill>
          <a:ln w="15875">
            <a:solidFill>
              <a:srgbClr val="94A3B8"/>
            </a:solidFill>
            <a:prstDash val="dash"/>
          </a:ln>
        </p:spPr>
        <p:txBody>
          <a:bodyPr/>
          <a:lstStyle/>
          <a:p>
            <a:endParaRPr lang="ja-JP" altLang="en-US"/>
          </a:p>
        </p:txBody>
      </p:sp>
      <p:sp>
        <p:nvSpPr>
          <p:cNvPr id="37" name="Text 12">
            <a:extLst>
              <a:ext uri="{FF2B5EF4-FFF2-40B4-BE49-F238E27FC236}">
                <a16:creationId xmlns:a16="http://schemas.microsoft.com/office/drawing/2014/main" id="{C36871AD-557F-AB06-CE2B-DB25FDDB3035}"/>
              </a:ext>
            </a:extLst>
          </p:cNvPr>
          <p:cNvSpPr/>
          <p:nvPr/>
        </p:nvSpPr>
        <p:spPr>
          <a:xfrm>
            <a:off x="289961" y="3186684"/>
            <a:ext cx="2377440" cy="201168"/>
          </a:xfrm>
          <a:prstGeom prst="rect">
            <a:avLst/>
          </a:prstGeom>
          <a:noFill/>
          <a:ln/>
        </p:spPr>
        <p:txBody>
          <a:bodyPr wrap="square" lIns="0" tIns="0" rIns="0" bIns="0" rtlCol="0" anchor="ctr"/>
          <a:lstStyle/>
          <a:p>
            <a:pPr marL="0" indent="0">
              <a:buNone/>
            </a:pPr>
            <a:r>
              <a:rPr lang="en-US" sz="800" b="1" dirty="0">
                <a:solidFill>
                  <a:srgbClr val="326CE5"/>
                </a:solidFill>
                <a:latin typeface="Meiryo" pitchFamily="34" charset="0"/>
                <a:ea typeface="Meiryo" pitchFamily="34" charset="-122"/>
                <a:cs typeface="Meiryo" pitchFamily="34" charset="-120"/>
              </a:rPr>
              <a:t>Kubernetes クラスタ</a:t>
            </a:r>
            <a:endParaRPr lang="en-US" sz="800" dirty="0"/>
          </a:p>
        </p:txBody>
      </p:sp>
      <p:sp>
        <p:nvSpPr>
          <p:cNvPr id="39" name="Shape 13">
            <a:extLst>
              <a:ext uri="{FF2B5EF4-FFF2-40B4-BE49-F238E27FC236}">
                <a16:creationId xmlns:a16="http://schemas.microsoft.com/office/drawing/2014/main" id="{3E0B75EE-786E-B241-B4BC-2A0A07B067FC}"/>
              </a:ext>
            </a:extLst>
          </p:cNvPr>
          <p:cNvSpPr/>
          <p:nvPr/>
        </p:nvSpPr>
        <p:spPr>
          <a:xfrm>
            <a:off x="335681" y="3424428"/>
            <a:ext cx="228600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41" name="Text 14">
            <a:extLst>
              <a:ext uri="{FF2B5EF4-FFF2-40B4-BE49-F238E27FC236}">
                <a16:creationId xmlns:a16="http://schemas.microsoft.com/office/drawing/2014/main" id="{A96B191A-1019-C5A8-7AC4-A78FF3218039}"/>
              </a:ext>
            </a:extLst>
          </p:cNvPr>
          <p:cNvSpPr/>
          <p:nvPr/>
        </p:nvSpPr>
        <p:spPr>
          <a:xfrm>
            <a:off x="335681" y="3470148"/>
            <a:ext cx="2286000" cy="23774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Ingress</a:t>
            </a:r>
            <a:endParaRPr lang="en-US" sz="1050" dirty="0"/>
          </a:p>
        </p:txBody>
      </p:sp>
      <p:sp>
        <p:nvSpPr>
          <p:cNvPr id="43" name="Text 15">
            <a:extLst>
              <a:ext uri="{FF2B5EF4-FFF2-40B4-BE49-F238E27FC236}">
                <a16:creationId xmlns:a16="http://schemas.microsoft.com/office/drawing/2014/main" id="{D8A2C75B-D161-4CA9-2318-DC457F768260}"/>
              </a:ext>
            </a:extLst>
          </p:cNvPr>
          <p:cNvSpPr/>
          <p:nvPr/>
        </p:nvSpPr>
        <p:spPr>
          <a:xfrm>
            <a:off x="335681" y="3698748"/>
            <a:ext cx="2286000" cy="201168"/>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L7 振り分け</a:t>
            </a:r>
            <a:endParaRPr lang="en-US" sz="750" dirty="0"/>
          </a:p>
        </p:txBody>
      </p:sp>
      <p:sp>
        <p:nvSpPr>
          <p:cNvPr id="45" name="Text 16">
            <a:extLst>
              <a:ext uri="{FF2B5EF4-FFF2-40B4-BE49-F238E27FC236}">
                <a16:creationId xmlns:a16="http://schemas.microsoft.com/office/drawing/2014/main" id="{CED5E278-1265-FF9F-57F8-ACD19BFA4474}"/>
              </a:ext>
            </a:extLst>
          </p:cNvPr>
          <p:cNvSpPr/>
          <p:nvPr/>
        </p:nvSpPr>
        <p:spPr>
          <a:xfrm>
            <a:off x="152801" y="3936492"/>
            <a:ext cx="265176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47" name="Shape 17">
            <a:extLst>
              <a:ext uri="{FF2B5EF4-FFF2-40B4-BE49-F238E27FC236}">
                <a16:creationId xmlns:a16="http://schemas.microsoft.com/office/drawing/2014/main" id="{42079938-D0CA-94E6-30EF-CC69E9447D44}"/>
              </a:ext>
            </a:extLst>
          </p:cNvPr>
          <p:cNvSpPr/>
          <p:nvPr/>
        </p:nvSpPr>
        <p:spPr>
          <a:xfrm>
            <a:off x="335681" y="4101084"/>
            <a:ext cx="2286000" cy="512064"/>
          </a:xfrm>
          <a:prstGeom prst="roundRect">
            <a:avLst>
              <a:gd name="adj" fmla="val 14286"/>
            </a:avLst>
          </a:prstGeom>
          <a:solidFill>
            <a:srgbClr val="FFFFFF"/>
          </a:solidFill>
          <a:ln w="19050">
            <a:solidFill>
              <a:srgbClr val="D97706"/>
            </a:solidFill>
          </a:ln>
        </p:spPr>
        <p:txBody>
          <a:bodyPr/>
          <a:lstStyle/>
          <a:p>
            <a:endParaRPr lang="ja-JP" altLang="en-US"/>
          </a:p>
        </p:txBody>
      </p:sp>
      <p:sp>
        <p:nvSpPr>
          <p:cNvPr id="49" name="Text 18">
            <a:extLst>
              <a:ext uri="{FF2B5EF4-FFF2-40B4-BE49-F238E27FC236}">
                <a16:creationId xmlns:a16="http://schemas.microsoft.com/office/drawing/2014/main" id="{41BA9281-3681-2F9F-78F8-3FA40F35FA50}"/>
              </a:ext>
            </a:extLst>
          </p:cNvPr>
          <p:cNvSpPr/>
          <p:nvPr/>
        </p:nvSpPr>
        <p:spPr>
          <a:xfrm>
            <a:off x="335681" y="4146804"/>
            <a:ext cx="2286000" cy="237744"/>
          </a:xfrm>
          <a:prstGeom prst="rect">
            <a:avLst/>
          </a:prstGeom>
          <a:noFill/>
          <a:ln/>
        </p:spPr>
        <p:txBody>
          <a:bodyPr wrap="square" lIns="0" tIns="0" rIns="0" bIns="0" rtlCol="0" anchor="ctr"/>
          <a:lstStyle/>
          <a:p>
            <a:pPr marL="0" indent="0" algn="ctr">
              <a:buNone/>
            </a:pPr>
            <a:r>
              <a:rPr lang="en-US" sz="1050" b="1" dirty="0">
                <a:solidFill>
                  <a:srgbClr val="0F2350"/>
                </a:solidFill>
                <a:latin typeface="Meiryo" pitchFamily="34" charset="0"/>
                <a:ea typeface="Meiryo" pitchFamily="34" charset="-122"/>
                <a:cs typeface="Meiryo" pitchFamily="34" charset="-120"/>
              </a:rPr>
              <a:t>Service</a:t>
            </a:r>
            <a:endParaRPr lang="en-US" sz="1050" dirty="0"/>
          </a:p>
        </p:txBody>
      </p:sp>
      <p:sp>
        <p:nvSpPr>
          <p:cNvPr id="51" name="Text 19">
            <a:extLst>
              <a:ext uri="{FF2B5EF4-FFF2-40B4-BE49-F238E27FC236}">
                <a16:creationId xmlns:a16="http://schemas.microsoft.com/office/drawing/2014/main" id="{D4779821-E9D0-5ED4-9C1B-041C7635B7A3}"/>
              </a:ext>
            </a:extLst>
          </p:cNvPr>
          <p:cNvSpPr/>
          <p:nvPr/>
        </p:nvSpPr>
        <p:spPr>
          <a:xfrm>
            <a:off x="335681" y="4375404"/>
            <a:ext cx="2286000" cy="201168"/>
          </a:xfrm>
          <a:prstGeom prst="rect">
            <a:avLst/>
          </a:prstGeom>
          <a:noFill/>
          <a:ln/>
        </p:spPr>
        <p:txBody>
          <a:bodyPr wrap="square" lIns="0" tIns="0" rIns="0" bIns="0" rtlCol="0" anchor="ctr"/>
          <a:lstStyle/>
          <a:p>
            <a:pPr marL="0" indent="0" algn="ctr">
              <a:buNone/>
            </a:pPr>
            <a:r>
              <a:rPr lang="en-US" sz="750" dirty="0">
                <a:solidFill>
                  <a:srgbClr val="5D6B85"/>
                </a:solidFill>
                <a:latin typeface="Meiryo" pitchFamily="34" charset="0"/>
                <a:ea typeface="Meiryo" pitchFamily="34" charset="-122"/>
                <a:cs typeface="Meiryo" pitchFamily="34" charset="-120"/>
              </a:rPr>
              <a:t>L4 Pod群の定義</a:t>
            </a:r>
            <a:endParaRPr lang="en-US" sz="750" dirty="0"/>
          </a:p>
        </p:txBody>
      </p:sp>
      <p:sp>
        <p:nvSpPr>
          <p:cNvPr id="53" name="Text 20">
            <a:extLst>
              <a:ext uri="{FF2B5EF4-FFF2-40B4-BE49-F238E27FC236}">
                <a16:creationId xmlns:a16="http://schemas.microsoft.com/office/drawing/2014/main" id="{5859D91B-C379-57AB-14B6-13A7931A203B}"/>
              </a:ext>
            </a:extLst>
          </p:cNvPr>
          <p:cNvSpPr/>
          <p:nvPr/>
        </p:nvSpPr>
        <p:spPr>
          <a:xfrm>
            <a:off x="152801" y="4613148"/>
            <a:ext cx="2651760" cy="164592"/>
          </a:xfrm>
          <a:prstGeom prst="rect">
            <a:avLst/>
          </a:prstGeom>
          <a:noFill/>
          <a:ln/>
        </p:spPr>
        <p:txBody>
          <a:bodyPr wrap="square" lIns="0" tIns="0" rIns="0" bIns="0" rtlCol="0" anchor="ctr"/>
          <a:lstStyle/>
          <a:p>
            <a:pPr marL="0" indent="0" algn="ctr">
              <a:buNone/>
            </a:pPr>
            <a:r>
              <a:rPr lang="en-US" sz="1100" b="1" dirty="0">
                <a:solidFill>
                  <a:srgbClr val="326CE5"/>
                </a:solidFill>
                <a:latin typeface="Meiryo" pitchFamily="34" charset="0"/>
                <a:ea typeface="Meiryo" pitchFamily="34" charset="-122"/>
                <a:cs typeface="Meiryo" pitchFamily="34" charset="-120"/>
              </a:rPr>
              <a:t>↓</a:t>
            </a:r>
            <a:endParaRPr lang="en-US" sz="1100" dirty="0"/>
          </a:p>
        </p:txBody>
      </p:sp>
      <p:sp>
        <p:nvSpPr>
          <p:cNvPr id="55" name="DeploymentBox">
            <a:extLst>
              <a:ext uri="{FF2B5EF4-FFF2-40B4-BE49-F238E27FC236}">
                <a16:creationId xmlns:a16="http://schemas.microsoft.com/office/drawing/2014/main" id="{299EF7E7-0EA1-551F-EB5C-72186ECCB8B2}"/>
              </a:ext>
            </a:extLst>
          </p:cNvPr>
          <p:cNvSpPr/>
          <p:nvPr/>
        </p:nvSpPr>
        <p:spPr>
          <a:xfrm>
            <a:off x="249321" y="4671060"/>
            <a:ext cx="2463800" cy="1016000"/>
          </a:xfrm>
          <a:prstGeom prst="roundRect">
            <a:avLst/>
          </a:prstGeom>
          <a:solidFill>
            <a:srgbClr val="EAF0FC"/>
          </a:solidFill>
          <a:ln w="15875">
            <a:solidFill>
              <a:srgbClr val="1F5FBF"/>
            </a:solidFill>
            <a:prstDash val="dash"/>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DeploymentLabel">
            <a:extLst>
              <a:ext uri="{FF2B5EF4-FFF2-40B4-BE49-F238E27FC236}">
                <a16:creationId xmlns:a16="http://schemas.microsoft.com/office/drawing/2014/main" id="{6F773CEE-56CB-86A9-C00C-A2BCE215D455}"/>
              </a:ext>
            </a:extLst>
          </p:cNvPr>
          <p:cNvSpPr txBox="1"/>
          <p:nvPr/>
        </p:nvSpPr>
        <p:spPr>
          <a:xfrm>
            <a:off x="350921" y="4747260"/>
            <a:ext cx="2286000" cy="203200"/>
          </a:xfrm>
          <a:prstGeom prst="rect">
            <a:avLst/>
          </a:prstGeom>
          <a:noFill/>
        </p:spPr>
        <p:txBody>
          <a:bodyPr vertOverflow="overflow" vert="horz" wrap="none" lIns="0" tIns="0" rIns="0" bIns="0" rtlCol="0" anchor="t">
            <a:noAutofit/>
          </a:bodyPr>
          <a:lstStyle/>
          <a:p>
            <a:pPr marL="0" indent="0">
              <a:buNone/>
            </a:pPr>
            <a:r>
              <a:rPr lang="en-US" sz="950" b="1" dirty="0">
                <a:solidFill>
                  <a:srgbClr val="326CE5"/>
                </a:solidFill>
                <a:latin typeface="Meiryo" pitchFamily="34" charset="0"/>
                <a:ea typeface="Meiryo" pitchFamily="34" charset="-122"/>
                <a:cs typeface="Meiryo" pitchFamily="34" charset="-120"/>
              </a:rPr>
              <a:t>Deployment（replicas: 3）</a:t>
            </a:r>
          </a:p>
        </p:txBody>
      </p:sp>
      <p:sp>
        <p:nvSpPr>
          <p:cNvPr id="59" name="Shape 21">
            <a:extLst>
              <a:ext uri="{FF2B5EF4-FFF2-40B4-BE49-F238E27FC236}">
                <a16:creationId xmlns:a16="http://schemas.microsoft.com/office/drawing/2014/main" id="{5036284F-DBD7-862C-8963-D5BB648A3A8D}"/>
              </a:ext>
            </a:extLst>
          </p:cNvPr>
          <p:cNvSpPr/>
          <p:nvPr/>
        </p:nvSpPr>
        <p:spPr>
          <a:xfrm>
            <a:off x="335681"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61" name="Text 22">
            <a:extLst>
              <a:ext uri="{FF2B5EF4-FFF2-40B4-BE49-F238E27FC236}">
                <a16:creationId xmlns:a16="http://schemas.microsoft.com/office/drawing/2014/main" id="{B433C6DB-E1A1-98D7-AF5E-4690FC0CADCB}"/>
              </a:ext>
            </a:extLst>
          </p:cNvPr>
          <p:cNvSpPr/>
          <p:nvPr/>
        </p:nvSpPr>
        <p:spPr>
          <a:xfrm>
            <a:off x="335681"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63" name="Text 23">
            <a:extLst>
              <a:ext uri="{FF2B5EF4-FFF2-40B4-BE49-F238E27FC236}">
                <a16:creationId xmlns:a16="http://schemas.microsoft.com/office/drawing/2014/main" id="{59555F1B-49F9-82F0-0CE0-18ACA61B4A65}"/>
              </a:ext>
            </a:extLst>
          </p:cNvPr>
          <p:cNvSpPr/>
          <p:nvPr/>
        </p:nvSpPr>
        <p:spPr>
          <a:xfrm>
            <a:off x="335681"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worker1</a:t>
            </a:r>
            <a:endParaRPr lang="en-US" sz="650" dirty="0"/>
          </a:p>
        </p:txBody>
      </p:sp>
      <p:sp>
        <p:nvSpPr>
          <p:cNvPr id="65" name="Shape 24">
            <a:extLst>
              <a:ext uri="{FF2B5EF4-FFF2-40B4-BE49-F238E27FC236}">
                <a16:creationId xmlns:a16="http://schemas.microsoft.com/office/drawing/2014/main" id="{584CAE9C-AC77-B784-A053-9EB842BF285E}"/>
              </a:ext>
            </a:extLst>
          </p:cNvPr>
          <p:cNvSpPr/>
          <p:nvPr/>
        </p:nvSpPr>
        <p:spPr>
          <a:xfrm>
            <a:off x="1122065"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67" name="Text 25">
            <a:extLst>
              <a:ext uri="{FF2B5EF4-FFF2-40B4-BE49-F238E27FC236}">
                <a16:creationId xmlns:a16="http://schemas.microsoft.com/office/drawing/2014/main" id="{B2617993-F591-5D8D-34E5-DF23096165DD}"/>
              </a:ext>
            </a:extLst>
          </p:cNvPr>
          <p:cNvSpPr/>
          <p:nvPr/>
        </p:nvSpPr>
        <p:spPr>
          <a:xfrm>
            <a:off x="1122065"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69" name="Text 26">
            <a:extLst>
              <a:ext uri="{FF2B5EF4-FFF2-40B4-BE49-F238E27FC236}">
                <a16:creationId xmlns:a16="http://schemas.microsoft.com/office/drawing/2014/main" id="{D54E4CA5-6450-A6A2-29B1-5B470089C68A}"/>
              </a:ext>
            </a:extLst>
          </p:cNvPr>
          <p:cNvSpPr/>
          <p:nvPr/>
        </p:nvSpPr>
        <p:spPr>
          <a:xfrm>
            <a:off x="1122065"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worker2</a:t>
            </a:r>
            <a:endParaRPr lang="en-US" sz="650" dirty="0"/>
          </a:p>
        </p:txBody>
      </p:sp>
      <p:sp>
        <p:nvSpPr>
          <p:cNvPr id="71" name="Shape 27">
            <a:extLst>
              <a:ext uri="{FF2B5EF4-FFF2-40B4-BE49-F238E27FC236}">
                <a16:creationId xmlns:a16="http://schemas.microsoft.com/office/drawing/2014/main" id="{619DA023-6BC1-069B-7891-20B888BDBAD6}"/>
              </a:ext>
            </a:extLst>
          </p:cNvPr>
          <p:cNvSpPr/>
          <p:nvPr/>
        </p:nvSpPr>
        <p:spPr>
          <a:xfrm>
            <a:off x="1908449" y="5031740"/>
            <a:ext cx="713232" cy="566928"/>
          </a:xfrm>
          <a:prstGeom prst="roundRect">
            <a:avLst>
              <a:gd name="adj" fmla="val 12903"/>
            </a:avLst>
          </a:prstGeom>
          <a:solidFill>
            <a:srgbClr val="1F5FBF"/>
          </a:solidFill>
          <a:ln w="12700">
            <a:solidFill>
              <a:srgbClr val="1F5FBF"/>
            </a:solidFill>
          </a:ln>
        </p:spPr>
        <p:txBody>
          <a:bodyPr/>
          <a:lstStyle/>
          <a:p>
            <a:endParaRPr lang="ja-JP" altLang="en-US"/>
          </a:p>
        </p:txBody>
      </p:sp>
      <p:sp>
        <p:nvSpPr>
          <p:cNvPr id="73" name="Text 28">
            <a:extLst>
              <a:ext uri="{FF2B5EF4-FFF2-40B4-BE49-F238E27FC236}">
                <a16:creationId xmlns:a16="http://schemas.microsoft.com/office/drawing/2014/main" id="{E021A968-DD61-7995-C067-33DEB9D257ED}"/>
              </a:ext>
            </a:extLst>
          </p:cNvPr>
          <p:cNvSpPr/>
          <p:nvPr/>
        </p:nvSpPr>
        <p:spPr>
          <a:xfrm>
            <a:off x="1908449" y="5086604"/>
            <a:ext cx="713232" cy="237744"/>
          </a:xfrm>
          <a:prstGeom prst="rect">
            <a:avLst/>
          </a:prstGeom>
          <a:noFill/>
          <a:ln/>
        </p:spPr>
        <p:txBody>
          <a:bodyPr wrap="square" lIns="0" tIns="0" rIns="0" bIns="0" rtlCol="0" anchor="ctr"/>
          <a:lstStyle/>
          <a:p>
            <a:pPr marL="0" indent="0" algn="ctr">
              <a:buNone/>
            </a:pPr>
            <a:r>
              <a:rPr lang="en-US" sz="800" b="1" dirty="0">
                <a:solidFill>
                  <a:srgbClr val="FFFFFF"/>
                </a:solidFill>
                <a:latin typeface="Meiryo" pitchFamily="34" charset="0"/>
                <a:ea typeface="Meiryo" pitchFamily="34" charset="-122"/>
                <a:cs typeface="Meiryo" pitchFamily="34" charset="-120"/>
              </a:rPr>
              <a:t>Pod</a:t>
            </a:r>
            <a:endParaRPr lang="en-US" sz="800" dirty="0"/>
          </a:p>
        </p:txBody>
      </p:sp>
      <p:sp>
        <p:nvSpPr>
          <p:cNvPr id="75" name="Text 29">
            <a:extLst>
              <a:ext uri="{FF2B5EF4-FFF2-40B4-BE49-F238E27FC236}">
                <a16:creationId xmlns:a16="http://schemas.microsoft.com/office/drawing/2014/main" id="{542D6860-5B3E-FBEB-2FF9-6B7E1ED3B76D}"/>
              </a:ext>
            </a:extLst>
          </p:cNvPr>
          <p:cNvSpPr/>
          <p:nvPr/>
        </p:nvSpPr>
        <p:spPr>
          <a:xfrm>
            <a:off x="1908449" y="5315204"/>
            <a:ext cx="713232" cy="201168"/>
          </a:xfrm>
          <a:prstGeom prst="rect">
            <a:avLst/>
          </a:prstGeom>
          <a:noFill/>
          <a:ln/>
        </p:spPr>
        <p:txBody>
          <a:bodyPr wrap="square" lIns="0" tIns="0" rIns="0" bIns="0" rtlCol="0" anchor="ctr"/>
          <a:lstStyle/>
          <a:p>
            <a:pPr marL="0" indent="0" algn="ctr">
              <a:buNone/>
            </a:pPr>
            <a:r>
              <a:rPr lang="en-US" sz="650" dirty="0">
                <a:solidFill>
                  <a:srgbClr val="D6E5FF"/>
                </a:solidFill>
                <a:latin typeface="Meiryo" pitchFamily="34" charset="0"/>
                <a:ea typeface="Meiryo" pitchFamily="34" charset="-122"/>
                <a:cs typeface="Meiryo" pitchFamily="34" charset="-120"/>
              </a:rPr>
              <a:t>worker3</a:t>
            </a:r>
            <a:endParaRPr lang="en-US" sz="650" dirty="0"/>
          </a:p>
        </p:txBody>
      </p:sp>
      <p:sp>
        <p:nvSpPr>
          <p:cNvPr id="77" name="Text 30">
            <a:extLst>
              <a:ext uri="{FF2B5EF4-FFF2-40B4-BE49-F238E27FC236}">
                <a16:creationId xmlns:a16="http://schemas.microsoft.com/office/drawing/2014/main" id="{03B60C87-CEB6-CD73-7EE6-0FB738D31B42}"/>
              </a:ext>
            </a:extLst>
          </p:cNvPr>
          <p:cNvSpPr/>
          <p:nvPr/>
        </p:nvSpPr>
        <p:spPr>
          <a:xfrm>
            <a:off x="335681" y="5763260"/>
            <a:ext cx="2286000" cy="237744"/>
          </a:xfrm>
          <a:prstGeom prst="rect">
            <a:avLst/>
          </a:prstGeom>
          <a:noFill/>
          <a:ln/>
        </p:spPr>
        <p:txBody>
          <a:bodyPr wrap="square" lIns="0" tIns="0" rIns="0" bIns="0" rtlCol="0" anchor="ctr"/>
          <a:lstStyle/>
          <a:p>
            <a:pPr marL="0" indent="0" algn="ctr">
              <a:buNone/>
            </a:pPr>
            <a:r>
              <a:rPr lang="en-US" sz="750" b="1" dirty="0">
                <a:solidFill>
                  <a:srgbClr val="326CE5"/>
                </a:solidFill>
                <a:latin typeface="Meiryo" pitchFamily="34" charset="0"/>
                <a:ea typeface="Meiryo" pitchFamily="34" charset="-122"/>
                <a:cs typeface="Meiryo" pitchFamily="34" charset="-120"/>
              </a:rPr>
              <a:t>↑ 消す・増やすのはここ</a:t>
            </a:r>
            <a:endParaRPr lang="en-US" sz="750" dirty="0"/>
          </a:p>
        </p:txBody>
      </p:sp>
    </p:spTree>
    <p:extLst>
      <p:ext uri="{BB962C8B-B14F-4D97-AF65-F5344CB8AC3E}">
        <p14:creationId xmlns:p14="http://schemas.microsoft.com/office/powerpoint/2010/main" val="3682449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4319"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79B45A63-8BA8-6C8F-A3C0-6E7CE1BBF51F}"/>
              </a:ext>
            </a:extLst>
          </p:cNvPr>
          <p:cNvPicPr>
            <a:picLocks noChangeAspect="1"/>
          </p:cNvPicPr>
          <p:nvPr/>
        </p:nvPicPr>
        <p:blipFill>
          <a:blip r:embed="rId2"/>
          <a:stretch>
            <a:fillRect/>
          </a:stretch>
        </p:blipFill>
        <p:spPr>
          <a:xfrm>
            <a:off x="6175347" y="336882"/>
            <a:ext cx="4736138" cy="6313111"/>
          </a:xfrm>
          <a:prstGeom prst="rect">
            <a:avLst/>
          </a:prstGeom>
        </p:spPr>
      </p:pic>
      <p:sp>
        <p:nvSpPr>
          <p:cNvPr id="4" name="正方形/長方形 3">
            <a:extLst>
              <a:ext uri="{FF2B5EF4-FFF2-40B4-BE49-F238E27FC236}">
                <a16:creationId xmlns:a16="http://schemas.microsoft.com/office/drawing/2014/main" id="{34AC9C91-6C18-7DF0-3116-7B29EE6A771F}"/>
              </a:ext>
            </a:extLst>
          </p:cNvPr>
          <p:cNvSpPr/>
          <p:nvPr/>
        </p:nvSpPr>
        <p:spPr>
          <a:xfrm>
            <a:off x="7958668" y="955040"/>
            <a:ext cx="3054773" cy="2987040"/>
          </a:xfrm>
          <a:prstGeom prst="rect">
            <a:avLst/>
          </a:prstGeom>
          <a:noFill/>
          <a:ln w="31750">
            <a:solidFill>
              <a:srgbClr val="1F5F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5678D8CD-50B6-E9FA-438F-58EF8EE7A352}"/>
              </a:ext>
            </a:extLst>
          </p:cNvPr>
          <p:cNvSpPr/>
          <p:nvPr/>
        </p:nvSpPr>
        <p:spPr>
          <a:xfrm>
            <a:off x="5967308" y="1696720"/>
            <a:ext cx="1889404" cy="1513840"/>
          </a:xfrm>
          <a:prstGeom prst="rect">
            <a:avLst/>
          </a:prstGeom>
          <a:noFill/>
          <a:ln w="3175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E299510-B928-60A2-1E71-0CE540148A74}"/>
              </a:ext>
            </a:extLst>
          </p:cNvPr>
          <p:cNvSpPr/>
          <p:nvPr/>
        </p:nvSpPr>
        <p:spPr>
          <a:xfrm>
            <a:off x="9543628" y="4121574"/>
            <a:ext cx="941493" cy="2399544"/>
          </a:xfrm>
          <a:prstGeom prst="rect">
            <a:avLst/>
          </a:prstGeom>
          <a:noFill/>
          <a:ln w="31750">
            <a:solidFill>
              <a:srgbClr val="2E9E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1FAE21E-A9A4-7BAE-414F-6BDE695D3680}"/>
              </a:ext>
            </a:extLst>
          </p:cNvPr>
          <p:cNvSpPr txBox="1"/>
          <p:nvPr/>
        </p:nvSpPr>
        <p:spPr>
          <a:xfrm>
            <a:off x="8191500" y="482600"/>
            <a:ext cx="1905000" cy="330200"/>
          </a:xfrm>
          <a:prstGeom prst="rect">
            <a:avLst/>
          </a:prstGeom>
          <a:solidFill>
            <a:srgbClr val="FFFFFF"/>
          </a:solidFill>
          <a:ln w="19050">
            <a:solidFill>
              <a:srgbClr val="1F5FBF"/>
            </a:solidFill>
          </a:ln>
        </p:spPr>
        <p:txBody>
          <a:bodyPr wrap="none" lIns="101600" tIns="25400" rIns="101600" bIns="25400" rtlCol="0" anchor="ctr">
            <a:spAutoFit/>
          </a:bodyPr>
          <a:lstStyle/>
          <a:p>
            <a:pPr algn="l">
              <a:buNone/>
            </a:pPr>
            <a:r>
              <a:rPr lang="ja-JP" sz="1600" b="1" dirty="0">
                <a:solidFill>
                  <a:srgbClr val="1F5FBF"/>
                </a:solidFill>
              </a:rPr>
              <a:t>② Worker ×3</a:t>
            </a:r>
          </a:p>
        </p:txBody>
      </p:sp>
      <p:sp>
        <p:nvSpPr>
          <p:cNvPr id="9" name="テキスト ボックス 8">
            <a:extLst>
              <a:ext uri="{FF2B5EF4-FFF2-40B4-BE49-F238E27FC236}">
                <a16:creationId xmlns:a16="http://schemas.microsoft.com/office/drawing/2014/main" id="{63F4453A-A6C0-55F7-31F2-FAF7835A04EA}"/>
              </a:ext>
            </a:extLst>
          </p:cNvPr>
          <p:cNvSpPr txBox="1"/>
          <p:nvPr/>
        </p:nvSpPr>
        <p:spPr>
          <a:xfrm>
            <a:off x="6223000" y="1066800"/>
            <a:ext cx="1676400" cy="304800"/>
          </a:xfrm>
          <a:prstGeom prst="rect">
            <a:avLst/>
          </a:prstGeom>
          <a:solidFill>
            <a:srgbClr val="FFFFFF"/>
          </a:solidFill>
          <a:ln w="19050">
            <a:solidFill>
              <a:srgbClr val="D97706"/>
            </a:solidFill>
          </a:ln>
        </p:spPr>
        <p:txBody>
          <a:bodyPr wrap="none" lIns="101600" tIns="25400" rIns="101600" bIns="25400" rtlCol="0" anchor="ctr">
            <a:spAutoFit/>
          </a:bodyPr>
          <a:lstStyle/>
          <a:p>
            <a:pPr algn="l">
              <a:buNone/>
            </a:pPr>
            <a:r>
              <a:rPr lang="ja-JP" sz="1200" b="1" dirty="0">
                <a:solidFill>
                  <a:srgbClr val="D97706"/>
                </a:solidFill>
              </a:rPr>
              <a:t>① Control Plane ×3</a:t>
            </a:r>
          </a:p>
        </p:txBody>
      </p:sp>
      <p:sp>
        <p:nvSpPr>
          <p:cNvPr id="10" name="テキスト ボックス 9">
            <a:extLst>
              <a:ext uri="{FF2B5EF4-FFF2-40B4-BE49-F238E27FC236}">
                <a16:creationId xmlns:a16="http://schemas.microsoft.com/office/drawing/2014/main" id="{079E5D3C-18D3-3E82-CD2F-7DADA7BCA71F}"/>
              </a:ext>
            </a:extLst>
          </p:cNvPr>
          <p:cNvSpPr txBox="1"/>
          <p:nvPr/>
        </p:nvSpPr>
        <p:spPr>
          <a:xfrm>
            <a:off x="7416800" y="5130800"/>
            <a:ext cx="1879600" cy="304800"/>
          </a:xfrm>
          <a:prstGeom prst="rect">
            <a:avLst/>
          </a:prstGeom>
          <a:solidFill>
            <a:srgbClr val="FFFFFF"/>
          </a:solidFill>
          <a:ln w="19050">
            <a:solidFill>
              <a:srgbClr val="2E9E6B"/>
            </a:solidFill>
          </a:ln>
        </p:spPr>
        <p:txBody>
          <a:bodyPr wrap="none" lIns="101600" tIns="25400" rIns="101600" bIns="25400" rtlCol="0" anchor="ctr">
            <a:spAutoFit/>
          </a:bodyPr>
          <a:lstStyle/>
          <a:p>
            <a:pPr algn="l">
              <a:buNone/>
            </a:pPr>
            <a:r>
              <a:rPr lang="ja-JP" sz="1200" b="1" dirty="0">
                <a:solidFill>
                  <a:srgbClr val="2E9E6B"/>
                </a:solidFill>
              </a:rPr>
              <a:t>③ ルータ / HAProxy</a:t>
            </a:r>
          </a:p>
        </p:txBody>
      </p:sp>
      <p:sp>
        <p:nvSpPr>
          <p:cNvPr id="100" name="Title"/>
          <p:cNvSpPr txBox="1"/>
          <p:nvPr/>
        </p:nvSpPr>
        <p:spPr>
          <a:xfrm>
            <a:off x="457200" y="254000"/>
            <a:ext cx="5461000" cy="558800"/>
          </a:xfrm>
          <a:prstGeom prst="rect">
            <a:avLst/>
          </a:prstGeom>
          <a:noFill/>
          <a:ln>
            <a:noFill/>
          </a:ln>
        </p:spPr>
        <p:txBody>
          <a:bodyPr wrap="square" lIns="177800" tIns="127000" rIns="177800" bIns="127000" anchor="ctr"/>
          <a:lstStyle/>
          <a:p>
            <a:pPr algn="l">
              <a:buNone/>
            </a:pPr>
            <a:r>
              <a:rPr lang="ja-JP" sz="2800" b="1" dirty="0">
                <a:solidFill>
                  <a:srgbClr val="1F3864"/>
                </a:solidFill>
              </a:rPr>
              <a:t>論理構成 ↔ 実機マッピング</a:t>
            </a:r>
          </a:p>
        </p:txBody>
      </p:sp>
      <p:sp>
        <p:nvSpPr>
          <p:cNvPr id="101" name="Sub"/>
          <p:cNvSpPr txBox="1"/>
          <p:nvPr/>
        </p:nvSpPr>
        <p:spPr>
          <a:xfrm>
            <a:off x="457200" y="787400"/>
            <a:ext cx="5461000" cy="431800"/>
          </a:xfrm>
          <a:prstGeom prst="rect">
            <a:avLst/>
          </a:prstGeom>
          <a:noFill/>
          <a:ln>
            <a:noFill/>
          </a:ln>
        </p:spPr>
        <p:txBody>
          <a:bodyPr wrap="square" lIns="177800" tIns="127000" rIns="177800" bIns="127000" anchor="ctr"/>
          <a:lstStyle/>
          <a:p>
            <a:pPr algn="l">
              <a:buNone/>
            </a:pPr>
            <a:r>
              <a:rPr lang="ja-JP" sz="1400" b="0" dirty="0">
                <a:solidFill>
                  <a:srgbClr val="595959"/>
                </a:solidFill>
              </a:rPr>
              <a:t>デモの構成図（P.11）が、この棚のどこに載っているか</a:t>
            </a:r>
          </a:p>
        </p:txBody>
      </p:sp>
      <p:sp>
        <p:nvSpPr>
          <p:cNvPr id="102" name="CardA"/>
          <p:cNvSpPr txBox="1"/>
          <p:nvPr/>
        </p:nvSpPr>
        <p:spPr>
          <a:xfrm>
            <a:off x="457200" y="1295400"/>
            <a:ext cx="5461000" cy="1320800"/>
          </a:xfrm>
          <a:prstGeom prst="roundRect">
            <a:avLst/>
          </a:prstGeom>
          <a:solidFill>
            <a:srgbClr val="F2F9F5"/>
          </a:solidFill>
          <a:ln w="25400">
            <a:solidFill>
              <a:srgbClr val="2E9E6B"/>
            </a:solidFill>
          </a:ln>
        </p:spPr>
        <p:txBody>
          <a:bodyPr wrap="square" lIns="177800" tIns="127000" rIns="177800" bIns="127000" anchor="ctr"/>
          <a:lstStyle/>
          <a:p>
            <a:pPr algn="l">
              <a:buNone/>
            </a:pPr>
            <a:r>
              <a:rPr lang="ja-JP" sz="1800" b="1" dirty="0">
                <a:solidFill>
                  <a:srgbClr val="2E9E6B"/>
                </a:solidFill>
              </a:rPr>
              <a:t>③ ルータ / HAProxy</a:t>
            </a:r>
          </a:p>
          <a:p>
            <a:pPr algn="l">
              <a:lnSpc>
                <a:spcPct val="105000"/>
              </a:lnSpc>
              <a:spcBef>
                <a:spcPts val="300"/>
              </a:spcBef>
              <a:buNone/>
            </a:pPr>
            <a:r>
              <a:rPr lang="ja-JP" sz="1400" dirty="0">
                <a:solidFill>
                  <a:srgbClr val="333333"/>
                </a:solidFill>
              </a:rPr>
              <a:t>クラスタの入口。L4で受けたリクエストを Ingress へ転送する。写真では棚の下段＝緑枠の1台。</a:t>
            </a:r>
          </a:p>
        </p:txBody>
      </p:sp>
      <p:sp>
        <p:nvSpPr>
          <p:cNvPr id="103" name="Arrow1"/>
          <p:cNvSpPr txBox="1"/>
          <p:nvPr/>
        </p:nvSpPr>
        <p:spPr>
          <a:xfrm>
            <a:off x="457200" y="2641600"/>
            <a:ext cx="5461000" cy="330200"/>
          </a:xfrm>
          <a:prstGeom prst="rect">
            <a:avLst/>
          </a:prstGeom>
          <a:noFill/>
          <a:ln>
            <a:noFill/>
          </a:ln>
        </p:spPr>
        <p:txBody>
          <a:bodyPr wrap="square" lIns="177800" tIns="127000" rIns="177800" bIns="127000" anchor="ctr"/>
          <a:lstStyle/>
          <a:p>
            <a:pPr algn="ctr">
              <a:buNone/>
            </a:pPr>
            <a:r>
              <a:rPr lang="ja-JP" sz="1600" b="1" dirty="0">
                <a:solidFill>
                  <a:srgbClr val="595959"/>
                </a:solidFill>
              </a:rPr>
              <a:t>↓</a:t>
            </a:r>
          </a:p>
        </p:txBody>
      </p:sp>
      <p:sp>
        <p:nvSpPr>
          <p:cNvPr id="104" name="CardB"/>
          <p:cNvSpPr txBox="1"/>
          <p:nvPr/>
        </p:nvSpPr>
        <p:spPr>
          <a:xfrm>
            <a:off x="457200" y="2921000"/>
            <a:ext cx="5461000" cy="1473200"/>
          </a:xfrm>
          <a:prstGeom prst="roundRect">
            <a:avLst/>
          </a:prstGeom>
          <a:solidFill>
            <a:srgbClr val="FFF8EC"/>
          </a:solidFill>
          <a:ln w="25400">
            <a:solidFill>
              <a:srgbClr val="D97706"/>
            </a:solidFill>
          </a:ln>
        </p:spPr>
        <p:txBody>
          <a:bodyPr wrap="square" lIns="177800" tIns="127000" rIns="177800" bIns="127000" anchor="ctr"/>
          <a:lstStyle/>
          <a:p>
            <a:pPr algn="l">
              <a:buNone/>
            </a:pPr>
            <a:r>
              <a:rPr lang="ja-JP" sz="1800" b="1" dirty="0">
                <a:solidFill>
                  <a:srgbClr val="D97706"/>
                </a:solidFill>
              </a:rPr>
              <a:t>① Control Plane ×3</a:t>
            </a:r>
          </a:p>
          <a:p>
            <a:pPr algn="l">
              <a:lnSpc>
                <a:spcPct val="105000"/>
              </a:lnSpc>
              <a:spcBef>
                <a:spcPts val="300"/>
              </a:spcBef>
              <a:buNone/>
            </a:pPr>
            <a:r>
              <a:rPr lang="ja-JP" sz="1400" dirty="0">
                <a:solidFill>
                  <a:srgbClr val="333333"/>
                </a:solidFill>
              </a:rPr>
              <a:t>クラスタの頭脳。あるべき状態を監視し、差分を埋め続ける。Ingress / Service の制御もここ。写真では中段左＝橙枠の3台。</a:t>
            </a:r>
          </a:p>
        </p:txBody>
      </p:sp>
      <p:sp>
        <p:nvSpPr>
          <p:cNvPr id="105" name="Arrow2"/>
          <p:cNvSpPr txBox="1"/>
          <p:nvPr/>
        </p:nvSpPr>
        <p:spPr>
          <a:xfrm>
            <a:off x="457200" y="4419600"/>
            <a:ext cx="5461000" cy="330200"/>
          </a:xfrm>
          <a:prstGeom prst="rect">
            <a:avLst/>
          </a:prstGeom>
          <a:noFill/>
          <a:ln>
            <a:noFill/>
          </a:ln>
        </p:spPr>
        <p:txBody>
          <a:bodyPr wrap="square" lIns="177800" tIns="127000" rIns="177800" bIns="127000" anchor="ctr"/>
          <a:lstStyle/>
          <a:p>
            <a:pPr algn="ctr">
              <a:buNone/>
            </a:pPr>
            <a:r>
              <a:rPr lang="ja-JP" sz="1600" b="1" dirty="0">
                <a:solidFill>
                  <a:srgbClr val="595959"/>
                </a:solidFill>
              </a:rPr>
              <a:t>↓</a:t>
            </a:r>
          </a:p>
        </p:txBody>
      </p:sp>
      <p:sp>
        <p:nvSpPr>
          <p:cNvPr id="106" name="CardC"/>
          <p:cNvSpPr txBox="1"/>
          <p:nvPr/>
        </p:nvSpPr>
        <p:spPr>
          <a:xfrm>
            <a:off x="457200" y="4699000"/>
            <a:ext cx="5461000" cy="1320800"/>
          </a:xfrm>
          <a:prstGeom prst="roundRect">
            <a:avLst/>
          </a:prstGeom>
          <a:solidFill>
            <a:srgbClr val="F1F5FC"/>
          </a:solidFill>
          <a:ln w="25400">
            <a:solidFill>
              <a:srgbClr val="1F5FBF"/>
            </a:solidFill>
          </a:ln>
        </p:spPr>
        <p:txBody>
          <a:bodyPr wrap="square" lIns="177800" tIns="127000" rIns="177800" bIns="127000" anchor="ctr"/>
          <a:lstStyle/>
          <a:p>
            <a:pPr algn="l">
              <a:buNone/>
            </a:pPr>
            <a:r>
              <a:rPr lang="ja-JP" sz="1800" b="1" dirty="0">
                <a:solidFill>
                  <a:srgbClr val="1F5FBF"/>
                </a:solidFill>
              </a:rPr>
              <a:t>② Worker ×3</a:t>
            </a:r>
          </a:p>
          <a:p>
            <a:pPr algn="l">
              <a:lnSpc>
                <a:spcPct val="105000"/>
              </a:lnSpc>
              <a:spcBef>
                <a:spcPts val="300"/>
              </a:spcBef>
              <a:buNone/>
            </a:pPr>
            <a:r>
              <a:rPr lang="ja-JP" sz="1400" dirty="0">
                <a:solidFill>
                  <a:srgbClr val="333333"/>
                </a:solidFill>
              </a:rPr>
              <a:t>Pod が実際に動く場所。replicas = 3 が worker1〜3 に分散して配置される。写真では中段右＝青枠の3台。</a:t>
            </a:r>
          </a:p>
        </p:txBody>
      </p:sp>
      <p:sp>
        <p:nvSpPr>
          <p:cNvPr id="107" name="Note"/>
          <p:cNvSpPr txBox="1"/>
          <p:nvPr/>
        </p:nvSpPr>
        <p:spPr>
          <a:xfrm>
            <a:off x="457200" y="6019800"/>
            <a:ext cx="5461000" cy="508000"/>
          </a:xfrm>
          <a:prstGeom prst="rect">
            <a:avLst/>
          </a:prstGeom>
          <a:noFill/>
          <a:ln>
            <a:noFill/>
          </a:ln>
        </p:spPr>
        <p:txBody>
          <a:bodyPr wrap="square" lIns="177800" tIns="127000" rIns="177800" bIns="127000" anchor="ctr"/>
          <a:lstStyle/>
          <a:p>
            <a:pPr algn="l">
              <a:buNone/>
            </a:pPr>
            <a:r>
              <a:rPr lang="ja-JP" sz="1400" b="0" dirty="0">
                <a:solidFill>
                  <a:srgbClr val="595959"/>
                </a:solidFill>
              </a:rPr>
              <a:t>※ 図の「ルータ → Ingress / Service → Pod」が、そのままこの3グループに対応している。</a:t>
            </a:r>
          </a:p>
        </p:txBody>
      </p:sp>
    </p:spTree>
    <p:extLst>
      <p:ext uri="{BB962C8B-B14F-4D97-AF65-F5344CB8AC3E}">
        <p14:creationId xmlns:p14="http://schemas.microsoft.com/office/powerpoint/2010/main" val="22222196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F2350"/>
        </a:solidFill>
        <a:effectLst/>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lIns="0" tIns="0" rIns="0" bIns="0" rtlCol="0" anchor="ctr"/>
          <a:lstStyle/>
          <a:p>
            <a:pPr marL="0" indent="0">
              <a:buNone/>
            </a:pPr>
            <a:r>
              <a:rPr lang="en-US" sz="3400" b="1" dirty="0">
                <a:solidFill>
                  <a:srgbClr val="FFFFFF"/>
                </a:solidFill>
                <a:latin typeface="Meiryo" pitchFamily="34" charset="0"/>
                <a:ea typeface="Meiryo" pitchFamily="34" charset="-122"/>
                <a:cs typeface="Meiryo" pitchFamily="34" charset="-120"/>
              </a:rPr>
              <a:t>まとめ</a:t>
            </a:r>
            <a:endParaRPr lang="en-US" sz="3400" dirty="0"/>
          </a:p>
        </p:txBody>
      </p:sp>
      <p:sp>
        <p:nvSpPr>
          <p:cNvPr id="3" name="Shape 1"/>
          <p:cNvSpPr/>
          <p:nvPr/>
        </p:nvSpPr>
        <p:spPr>
          <a:xfrm>
            <a:off x="868680" y="1609344"/>
            <a:ext cx="384048" cy="384048"/>
          </a:xfrm>
          <a:prstGeom prst="ellipse">
            <a:avLst/>
          </a:prstGeom>
          <a:solidFill>
            <a:srgbClr val="326CE5"/>
          </a:solidFill>
          <a:ln/>
        </p:spPr>
      </p:sp>
      <p:sp>
        <p:nvSpPr>
          <p:cNvPr id="4" name="Text 2"/>
          <p:cNvSpPr/>
          <p:nvPr/>
        </p:nvSpPr>
        <p:spPr>
          <a:xfrm>
            <a:off x="868680" y="1609344"/>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5" name="Text 3"/>
          <p:cNvSpPr/>
          <p:nvPr/>
        </p:nvSpPr>
        <p:spPr>
          <a:xfrm>
            <a:off x="1463040" y="1554480"/>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Dockerは「1台の中で動かす」道具、K8sは「複数台にまたがって動かし続ける」仕組み</a:t>
            </a:r>
            <a:endParaRPr lang="en-US" sz="1450" dirty="0"/>
          </a:p>
        </p:txBody>
      </p:sp>
      <p:sp>
        <p:nvSpPr>
          <p:cNvPr id="6" name="Shape 4"/>
          <p:cNvSpPr/>
          <p:nvPr/>
        </p:nvSpPr>
        <p:spPr>
          <a:xfrm>
            <a:off x="868680" y="2267712"/>
            <a:ext cx="384048" cy="384048"/>
          </a:xfrm>
          <a:prstGeom prst="ellipse">
            <a:avLst/>
          </a:prstGeom>
          <a:solidFill>
            <a:srgbClr val="326CE5"/>
          </a:solidFill>
          <a:ln/>
        </p:spPr>
      </p:sp>
      <p:sp>
        <p:nvSpPr>
          <p:cNvPr id="7" name="Text 5"/>
          <p:cNvSpPr/>
          <p:nvPr/>
        </p:nvSpPr>
        <p:spPr>
          <a:xfrm>
            <a:off x="868680" y="226771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8" name="Text 6"/>
          <p:cNvSpPr/>
          <p:nvPr/>
        </p:nvSpPr>
        <p:spPr>
          <a:xfrm>
            <a:off x="1463040" y="2212848"/>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その正体は Reconciliation Loop ── あるべき姿を維持し続ける制御ループ</a:t>
            </a:r>
            <a:endParaRPr lang="en-US" sz="1450" dirty="0"/>
          </a:p>
        </p:txBody>
      </p:sp>
      <p:sp>
        <p:nvSpPr>
          <p:cNvPr id="9" name="Shape 7"/>
          <p:cNvSpPr/>
          <p:nvPr/>
        </p:nvSpPr>
        <p:spPr>
          <a:xfrm>
            <a:off x="868680" y="2926080"/>
            <a:ext cx="384048" cy="384048"/>
          </a:xfrm>
          <a:prstGeom prst="ellipse">
            <a:avLst/>
          </a:prstGeom>
          <a:solidFill>
            <a:srgbClr val="326CE5"/>
          </a:solidFill>
          <a:ln/>
        </p:spPr>
      </p:sp>
      <p:sp>
        <p:nvSpPr>
          <p:cNvPr id="10" name="Text 8"/>
          <p:cNvSpPr/>
          <p:nvPr/>
        </p:nvSpPr>
        <p:spPr>
          <a:xfrm>
            <a:off x="868680" y="292608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1" name="Text 9"/>
          <p:cNvSpPr/>
          <p:nvPr/>
        </p:nvSpPr>
        <p:spPr>
          <a:xfrm>
            <a:off x="1463040" y="2871216"/>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私たちが書くのは「あるべき状態」だけ。手順はControllerが引き受ける</a:t>
            </a:r>
            <a:endParaRPr lang="en-US" sz="1450" dirty="0"/>
          </a:p>
        </p:txBody>
      </p:sp>
      <p:sp>
        <p:nvSpPr>
          <p:cNvPr id="12" name="Shape 10"/>
          <p:cNvSpPr/>
          <p:nvPr/>
        </p:nvSpPr>
        <p:spPr>
          <a:xfrm>
            <a:off x="868680" y="3584448"/>
            <a:ext cx="384048" cy="384048"/>
          </a:xfrm>
          <a:prstGeom prst="ellipse">
            <a:avLst/>
          </a:prstGeom>
          <a:solidFill>
            <a:srgbClr val="326CE5"/>
          </a:solidFill>
          <a:ln/>
        </p:spPr>
      </p:sp>
      <p:sp>
        <p:nvSpPr>
          <p:cNvPr id="13" name="Text 11"/>
          <p:cNvSpPr/>
          <p:nvPr/>
        </p:nvSpPr>
        <p:spPr>
          <a:xfrm>
            <a:off x="868680" y="358444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14" name="Text 12"/>
          <p:cNvSpPr/>
          <p:nvPr/>
        </p:nvSpPr>
        <p:spPr>
          <a:xfrm>
            <a:off x="1463040" y="3529584"/>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背景にあるのは「壊れて当然の大量のマシン」を扱うためのGoogleの発想</a:t>
            </a:r>
            <a:endParaRPr lang="en-US" sz="1450" dirty="0"/>
          </a:p>
        </p:txBody>
      </p:sp>
      <p:sp>
        <p:nvSpPr>
          <p:cNvPr id="15" name="Shape 13"/>
          <p:cNvSpPr/>
          <p:nvPr/>
        </p:nvSpPr>
        <p:spPr>
          <a:xfrm>
            <a:off x="868680" y="4242816"/>
            <a:ext cx="384048" cy="384048"/>
          </a:xfrm>
          <a:prstGeom prst="ellipse">
            <a:avLst/>
          </a:prstGeom>
          <a:solidFill>
            <a:srgbClr val="326CE5"/>
          </a:solidFill>
          <a:ln/>
        </p:spPr>
      </p:sp>
      <p:sp>
        <p:nvSpPr>
          <p:cNvPr id="16" name="Text 14"/>
          <p:cNvSpPr/>
          <p:nvPr/>
        </p:nvSpPr>
        <p:spPr>
          <a:xfrm>
            <a:off x="868680" y="424281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5</a:t>
            </a:r>
            <a:endParaRPr lang="en-US" sz="1200" dirty="0"/>
          </a:p>
        </p:txBody>
      </p:sp>
      <p:sp>
        <p:nvSpPr>
          <p:cNvPr id="17" name="Text 15"/>
          <p:cNvSpPr/>
          <p:nvPr/>
        </p:nvSpPr>
        <p:spPr>
          <a:xfrm>
            <a:off x="1463040" y="4187952"/>
            <a:ext cx="9966960" cy="502920"/>
          </a:xfrm>
          <a:prstGeom prst="rect">
            <a:avLst/>
          </a:prstGeom>
          <a:noFill/>
          <a:ln/>
        </p:spPr>
        <p:txBody>
          <a:bodyPr wrap="square" lIns="0" tIns="0" rIns="0" bIns="0" rtlCol="0" anchor="ctr"/>
          <a:lstStyle/>
          <a:p>
            <a:pPr marL="0" indent="0">
              <a:buNone/>
            </a:pPr>
            <a:r>
              <a:rPr lang="en-US" sz="1450" dirty="0">
                <a:solidFill>
                  <a:srgbClr val="FFFFFF"/>
                </a:solidFill>
                <a:latin typeface="Meiryo" pitchFamily="34" charset="0"/>
                <a:ea typeface="Meiryo" pitchFamily="34" charset="-122"/>
                <a:cs typeface="Meiryo" pitchFamily="34" charset="-120"/>
              </a:rPr>
              <a:t>ホストを増やせば、増やした分だけスケールできる（スケールアウト）</a:t>
            </a:r>
            <a:endParaRPr lang="en-US" sz="1450" dirty="0"/>
          </a:p>
        </p:txBody>
      </p:sp>
      <p:sp>
        <p:nvSpPr>
          <p:cNvPr id="18" name="Shape 16"/>
          <p:cNvSpPr/>
          <p:nvPr/>
        </p:nvSpPr>
        <p:spPr>
          <a:xfrm>
            <a:off x="822960" y="4892040"/>
            <a:ext cx="10515600" cy="1234440"/>
          </a:xfrm>
          <a:prstGeom prst="roundRect">
            <a:avLst>
              <a:gd name="adj" fmla="val 4444"/>
            </a:avLst>
          </a:prstGeom>
          <a:solidFill>
            <a:srgbClr val="326CE5"/>
          </a:solidFill>
          <a:ln w="12700">
            <a:solidFill>
              <a:srgbClr val="326CE5"/>
            </a:solidFill>
            <a:prstDash val="solid"/>
          </a:ln>
        </p:spPr>
      </p:sp>
      <p:sp>
        <p:nvSpPr>
          <p:cNvPr id="19" name="Text 17"/>
          <p:cNvSpPr/>
          <p:nvPr/>
        </p:nvSpPr>
        <p:spPr>
          <a:xfrm>
            <a:off x="1188720" y="4892040"/>
            <a:ext cx="9784080" cy="1234440"/>
          </a:xfrm>
          <a:prstGeom prst="rect">
            <a:avLst/>
          </a:prstGeom>
          <a:noFill/>
          <a:ln/>
        </p:spPr>
        <p:txBody>
          <a:bodyPr wrap="square" lIns="0" tIns="0" rIns="0" bIns="0" rtlCol="0" anchor="ctr"/>
          <a:lstStyle/>
          <a:p>
            <a:pPr marL="0" indent="0">
              <a:lnSpc>
                <a:spcPts val="2800"/>
              </a:lnSpc>
              <a:buNone/>
            </a:pPr>
            <a:r>
              <a:rPr lang="en-US" sz="1800" b="1" dirty="0">
                <a:solidFill>
                  <a:srgbClr val="FFFFFF"/>
                </a:solidFill>
                <a:latin typeface="Meiryo" pitchFamily="34" charset="0"/>
                <a:ea typeface="Meiryo" pitchFamily="34" charset="-122"/>
                <a:cs typeface="Meiryo" pitchFamily="34" charset="-120"/>
              </a:rPr>
              <a:t>一言でいえば ── 「落ちないサーバ」を諦めて、</a:t>
            </a:r>
            <a:endParaRPr lang="en-US" sz="1800" dirty="0"/>
          </a:p>
          <a:p>
            <a:pPr marL="0" indent="0">
              <a:lnSpc>
                <a:spcPts val="2800"/>
              </a:lnSpc>
              <a:buNone/>
            </a:pPr>
            <a:r>
              <a:rPr lang="en-US" sz="1800" b="1" dirty="0">
                <a:solidFill>
                  <a:srgbClr val="FFFFFF"/>
                </a:solidFill>
                <a:latin typeface="Meiryo" pitchFamily="34" charset="0"/>
                <a:ea typeface="Meiryo" pitchFamily="34" charset="-122"/>
                <a:cs typeface="Meiryo" pitchFamily="34" charset="-120"/>
              </a:rPr>
              <a:t>「落ちても気づかれないシステム」を選んだ技術</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今日触れなかったこと ／ 参考</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a:solidFill>
                  <a:srgbClr val="5D6B85"/>
                </a:solidFill>
                <a:latin typeface="Meiryo" pitchFamily="34" charset="0"/>
                <a:ea typeface="Meiryo" pitchFamily="34" charset="-122"/>
                <a:cs typeface="Meiryo" pitchFamily="34" charset="-120"/>
              </a:rPr>
              <a:t>K8sの世界はまだ広い ── 次に調べるならこのあたり</a:t>
            </a:r>
            <a:endParaRPr lang="en-US" sz="1350" dirty="0"/>
          </a:p>
        </p:txBody>
      </p:sp>
      <p:sp>
        <p:nvSpPr>
          <p:cNvPr id="4" name="Text 2"/>
          <p:cNvSpPr/>
          <p:nvPr/>
        </p:nvSpPr>
        <p:spPr>
          <a:xfrm>
            <a:off x="640080" y="1783080"/>
            <a:ext cx="6766560" cy="36576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今日触れなかった主なトピック</a:t>
            </a:r>
            <a:endParaRPr lang="en-US" sz="1700" dirty="0"/>
          </a:p>
        </p:txBody>
      </p:sp>
      <p:sp>
        <p:nvSpPr>
          <p:cNvPr id="5" name="Shape 3"/>
          <p:cNvSpPr/>
          <p:nvPr/>
        </p:nvSpPr>
        <p:spPr>
          <a:xfrm>
            <a:off x="640080" y="2286000"/>
            <a:ext cx="3246120" cy="822960"/>
          </a:xfrm>
          <a:prstGeom prst="roundRect">
            <a:avLst>
              <a:gd name="adj" fmla="val 6667"/>
            </a:avLst>
          </a:prstGeom>
          <a:solidFill>
            <a:srgbClr val="F5F8FD"/>
          </a:solidFill>
          <a:ln w="12700">
            <a:solidFill>
              <a:srgbClr val="F5F8FD"/>
            </a:solidFill>
            <a:prstDash val="solid"/>
          </a:ln>
        </p:spPr>
      </p:sp>
      <p:sp>
        <p:nvSpPr>
          <p:cNvPr id="6" name="Text 4"/>
          <p:cNvSpPr/>
          <p:nvPr/>
        </p:nvSpPr>
        <p:spPr>
          <a:xfrm>
            <a:off x="868680" y="237744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ConfigMap / Secret</a:t>
            </a:r>
            <a:endParaRPr lang="en-US" sz="1400" dirty="0"/>
          </a:p>
        </p:txBody>
      </p:sp>
      <p:sp>
        <p:nvSpPr>
          <p:cNvPr id="7" name="Text 5"/>
          <p:cNvSpPr/>
          <p:nvPr/>
        </p:nvSpPr>
        <p:spPr>
          <a:xfrm>
            <a:off x="868680" y="267919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設定と機密情報をアプリから分離</a:t>
            </a:r>
            <a:endParaRPr lang="en-US" sz="1100" dirty="0"/>
          </a:p>
        </p:txBody>
      </p:sp>
      <p:sp>
        <p:nvSpPr>
          <p:cNvPr id="8" name="Shape 6"/>
          <p:cNvSpPr/>
          <p:nvPr/>
        </p:nvSpPr>
        <p:spPr>
          <a:xfrm>
            <a:off x="4114800" y="2286000"/>
            <a:ext cx="3246120" cy="822960"/>
          </a:xfrm>
          <a:prstGeom prst="roundRect">
            <a:avLst>
              <a:gd name="adj" fmla="val 6667"/>
            </a:avLst>
          </a:prstGeom>
          <a:solidFill>
            <a:srgbClr val="F5F8FD"/>
          </a:solidFill>
          <a:ln w="12700">
            <a:solidFill>
              <a:srgbClr val="F5F8FD"/>
            </a:solidFill>
            <a:prstDash val="solid"/>
          </a:ln>
        </p:spPr>
      </p:sp>
      <p:sp>
        <p:nvSpPr>
          <p:cNvPr id="9" name="Text 7"/>
          <p:cNvSpPr/>
          <p:nvPr/>
        </p:nvSpPr>
        <p:spPr>
          <a:xfrm>
            <a:off x="4343400" y="237744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StatefulSet</a:t>
            </a:r>
            <a:endParaRPr lang="en-US" sz="1400" dirty="0"/>
          </a:p>
        </p:txBody>
      </p:sp>
      <p:sp>
        <p:nvSpPr>
          <p:cNvPr id="10" name="Text 8"/>
          <p:cNvSpPr/>
          <p:nvPr/>
        </p:nvSpPr>
        <p:spPr>
          <a:xfrm>
            <a:off x="4343400" y="267919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状態を持つアプリの扱い</a:t>
            </a:r>
            <a:endParaRPr lang="en-US" sz="1100" dirty="0"/>
          </a:p>
        </p:txBody>
      </p:sp>
      <p:sp>
        <p:nvSpPr>
          <p:cNvPr id="11" name="Shape 9"/>
          <p:cNvSpPr/>
          <p:nvPr/>
        </p:nvSpPr>
        <p:spPr>
          <a:xfrm>
            <a:off x="640080" y="3246120"/>
            <a:ext cx="3246120" cy="822960"/>
          </a:xfrm>
          <a:prstGeom prst="roundRect">
            <a:avLst>
              <a:gd name="adj" fmla="val 6667"/>
            </a:avLst>
          </a:prstGeom>
          <a:solidFill>
            <a:srgbClr val="F5F8FD"/>
          </a:solidFill>
          <a:ln w="12700">
            <a:solidFill>
              <a:srgbClr val="F5F8FD"/>
            </a:solidFill>
            <a:prstDash val="solid"/>
          </a:ln>
        </p:spPr>
      </p:sp>
      <p:sp>
        <p:nvSpPr>
          <p:cNvPr id="12" name="Text 10"/>
          <p:cNvSpPr/>
          <p:nvPr/>
        </p:nvSpPr>
        <p:spPr>
          <a:xfrm>
            <a:off x="868680" y="333756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PersistentVolume</a:t>
            </a:r>
            <a:endParaRPr lang="en-US" sz="1400" dirty="0"/>
          </a:p>
        </p:txBody>
      </p:sp>
      <p:sp>
        <p:nvSpPr>
          <p:cNvPr id="13" name="Text 11"/>
          <p:cNvSpPr/>
          <p:nvPr/>
        </p:nvSpPr>
        <p:spPr>
          <a:xfrm>
            <a:off x="868680" y="363931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データの永続化</a:t>
            </a:r>
            <a:endParaRPr lang="en-US" sz="1100" dirty="0"/>
          </a:p>
        </p:txBody>
      </p:sp>
      <p:sp>
        <p:nvSpPr>
          <p:cNvPr id="14" name="Shape 12"/>
          <p:cNvSpPr/>
          <p:nvPr/>
        </p:nvSpPr>
        <p:spPr>
          <a:xfrm>
            <a:off x="4114800" y="3246120"/>
            <a:ext cx="3246120" cy="822960"/>
          </a:xfrm>
          <a:prstGeom prst="roundRect">
            <a:avLst>
              <a:gd name="adj" fmla="val 6667"/>
            </a:avLst>
          </a:prstGeom>
          <a:solidFill>
            <a:srgbClr val="F5F8FD"/>
          </a:solidFill>
          <a:ln w="12700">
            <a:solidFill>
              <a:srgbClr val="F5F8FD"/>
            </a:solidFill>
            <a:prstDash val="solid"/>
          </a:ln>
        </p:spPr>
      </p:sp>
      <p:sp>
        <p:nvSpPr>
          <p:cNvPr id="15" name="Text 13"/>
          <p:cNvSpPr/>
          <p:nvPr/>
        </p:nvSpPr>
        <p:spPr>
          <a:xfrm>
            <a:off x="4343400" y="333756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HPA</a:t>
            </a:r>
            <a:endParaRPr lang="en-US" sz="1400" dirty="0"/>
          </a:p>
        </p:txBody>
      </p:sp>
      <p:sp>
        <p:nvSpPr>
          <p:cNvPr id="16" name="Text 14"/>
          <p:cNvSpPr/>
          <p:nvPr/>
        </p:nvSpPr>
        <p:spPr>
          <a:xfrm>
            <a:off x="4343400" y="363931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負荷に応じた自動スケール</a:t>
            </a:r>
            <a:endParaRPr lang="en-US" sz="1100" dirty="0"/>
          </a:p>
        </p:txBody>
      </p:sp>
      <p:sp>
        <p:nvSpPr>
          <p:cNvPr id="17" name="Shape 15"/>
          <p:cNvSpPr/>
          <p:nvPr/>
        </p:nvSpPr>
        <p:spPr>
          <a:xfrm>
            <a:off x="640080" y="4206240"/>
            <a:ext cx="3246120" cy="822960"/>
          </a:xfrm>
          <a:prstGeom prst="roundRect">
            <a:avLst>
              <a:gd name="adj" fmla="val 6667"/>
            </a:avLst>
          </a:prstGeom>
          <a:solidFill>
            <a:srgbClr val="F5F8FD"/>
          </a:solidFill>
          <a:ln w="12700">
            <a:solidFill>
              <a:srgbClr val="F5F8FD"/>
            </a:solidFill>
            <a:prstDash val="solid"/>
          </a:ln>
        </p:spPr>
      </p:sp>
      <p:sp>
        <p:nvSpPr>
          <p:cNvPr id="18" name="Text 16"/>
          <p:cNvSpPr/>
          <p:nvPr/>
        </p:nvSpPr>
        <p:spPr>
          <a:xfrm>
            <a:off x="868680" y="429768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Helm</a:t>
            </a:r>
            <a:endParaRPr lang="en-US" sz="1400" dirty="0"/>
          </a:p>
        </p:txBody>
      </p:sp>
      <p:sp>
        <p:nvSpPr>
          <p:cNvPr id="19" name="Text 17"/>
          <p:cNvSpPr/>
          <p:nvPr/>
        </p:nvSpPr>
        <p:spPr>
          <a:xfrm>
            <a:off x="868680" y="459943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manifestのパッケージ管理</a:t>
            </a:r>
            <a:endParaRPr lang="en-US" sz="1100" dirty="0"/>
          </a:p>
        </p:txBody>
      </p:sp>
      <p:sp>
        <p:nvSpPr>
          <p:cNvPr id="20" name="Shape 18"/>
          <p:cNvSpPr/>
          <p:nvPr/>
        </p:nvSpPr>
        <p:spPr>
          <a:xfrm>
            <a:off x="4114800" y="4206240"/>
            <a:ext cx="3246120" cy="822960"/>
          </a:xfrm>
          <a:prstGeom prst="roundRect">
            <a:avLst>
              <a:gd name="adj" fmla="val 6667"/>
            </a:avLst>
          </a:prstGeom>
          <a:solidFill>
            <a:srgbClr val="F5F8FD"/>
          </a:solidFill>
          <a:ln w="12700">
            <a:solidFill>
              <a:srgbClr val="F5F8FD"/>
            </a:solidFill>
            <a:prstDash val="solid"/>
          </a:ln>
        </p:spPr>
      </p:sp>
      <p:sp>
        <p:nvSpPr>
          <p:cNvPr id="21" name="Text 19"/>
          <p:cNvSpPr/>
          <p:nvPr/>
        </p:nvSpPr>
        <p:spPr>
          <a:xfrm>
            <a:off x="4343400" y="4297680"/>
            <a:ext cx="2788920" cy="301752"/>
          </a:xfrm>
          <a:prstGeom prst="rect">
            <a:avLst/>
          </a:prstGeom>
          <a:noFill/>
          <a:ln/>
        </p:spPr>
        <p:txBody>
          <a:bodyPr wrap="square" lIns="0" tIns="0" rIns="0" bIns="0" rtlCol="0" anchor="ctr"/>
          <a:lstStyle/>
          <a:p>
            <a:pPr marL="0" indent="0">
              <a:buNone/>
            </a:pPr>
            <a:r>
              <a:rPr lang="en-US" sz="1400" b="1" dirty="0">
                <a:solidFill>
                  <a:srgbClr val="326CE5"/>
                </a:solidFill>
                <a:latin typeface="Meiryo" pitchFamily="34" charset="0"/>
                <a:ea typeface="Meiryo" pitchFamily="34" charset="-122"/>
                <a:cs typeface="Meiryo" pitchFamily="34" charset="-120"/>
              </a:rPr>
              <a:t>Operator</a:t>
            </a:r>
            <a:endParaRPr lang="en-US" sz="1400" dirty="0"/>
          </a:p>
        </p:txBody>
      </p:sp>
      <p:sp>
        <p:nvSpPr>
          <p:cNvPr id="22" name="Text 20"/>
          <p:cNvSpPr/>
          <p:nvPr/>
        </p:nvSpPr>
        <p:spPr>
          <a:xfrm>
            <a:off x="4343400" y="4599432"/>
            <a:ext cx="2788920" cy="320040"/>
          </a:xfrm>
          <a:prstGeom prst="rect">
            <a:avLst/>
          </a:prstGeom>
          <a:noFill/>
          <a:ln/>
        </p:spPr>
        <p:txBody>
          <a:bodyPr wrap="square" lIns="0" tIns="0" rIns="0" bIns="0" rtlCol="0" anchor="ctr"/>
          <a:lstStyle/>
          <a:p>
            <a:pPr marL="0" indent="0">
              <a:buNone/>
            </a:pPr>
            <a:r>
              <a:rPr lang="en-US" sz="1100" dirty="0">
                <a:solidFill>
                  <a:srgbClr val="5D6B85"/>
                </a:solidFill>
                <a:latin typeface="Meiryo" pitchFamily="34" charset="0"/>
                <a:ea typeface="Meiryo" pitchFamily="34" charset="-122"/>
                <a:cs typeface="Meiryo" pitchFamily="34" charset="-120"/>
              </a:rPr>
              <a:t>運用ノウハウをコードにする</a:t>
            </a:r>
            <a:endParaRPr lang="en-US" sz="1100" dirty="0"/>
          </a:p>
        </p:txBody>
      </p:sp>
      <p:sp>
        <p:nvSpPr>
          <p:cNvPr id="23" name="Shape 21"/>
          <p:cNvSpPr/>
          <p:nvPr/>
        </p:nvSpPr>
        <p:spPr>
          <a:xfrm>
            <a:off x="7772400" y="1783080"/>
            <a:ext cx="3749040" cy="1371600"/>
          </a:xfrm>
          <a:prstGeom prst="roundRect">
            <a:avLst>
              <a:gd name="adj" fmla="val 4000"/>
            </a:avLst>
          </a:prstGeom>
          <a:solidFill>
            <a:srgbClr val="0F2350"/>
          </a:solidFill>
          <a:ln w="12700">
            <a:solidFill>
              <a:srgbClr val="0F2350"/>
            </a:solidFill>
            <a:prstDash val="solid"/>
          </a:ln>
        </p:spPr>
      </p:sp>
      <p:sp>
        <p:nvSpPr>
          <p:cNvPr id="24" name="Text 22"/>
          <p:cNvSpPr/>
          <p:nvPr/>
        </p:nvSpPr>
        <p:spPr>
          <a:xfrm>
            <a:off x="7772400" y="1783080"/>
            <a:ext cx="374904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Meiryo" pitchFamily="34" charset="0"/>
                <a:ea typeface="Meiryo" pitchFamily="34" charset="-122"/>
                <a:cs typeface="Meiryo" pitchFamily="34" charset="-120"/>
              </a:rPr>
              <a:t>Q &amp; A</a:t>
            </a:r>
            <a:endParaRPr lang="en-US" sz="3600" dirty="0"/>
          </a:p>
        </p:txBody>
      </p:sp>
      <p:sp>
        <p:nvSpPr>
          <p:cNvPr id="25" name="Shape 23"/>
          <p:cNvSpPr/>
          <p:nvPr/>
        </p:nvSpPr>
        <p:spPr>
          <a:xfrm>
            <a:off x="7772400" y="3337559"/>
            <a:ext cx="3749040" cy="2683933"/>
          </a:xfrm>
          <a:prstGeom prst="roundRect">
            <a:avLst>
              <a:gd name="adj" fmla="val 2500"/>
            </a:avLst>
          </a:prstGeom>
          <a:solidFill>
            <a:srgbClr val="E8EEF9"/>
          </a:solidFill>
          <a:ln w="12700">
            <a:solidFill>
              <a:srgbClr val="E8EEF9"/>
            </a:solidFill>
            <a:prstDash val="solid"/>
          </a:ln>
        </p:spPr>
      </p:sp>
      <p:sp>
        <p:nvSpPr>
          <p:cNvPr id="26" name="Text 24"/>
          <p:cNvSpPr/>
          <p:nvPr/>
        </p:nvSpPr>
        <p:spPr>
          <a:xfrm>
            <a:off x="8046720" y="3520440"/>
            <a:ext cx="3200400" cy="320040"/>
          </a:xfrm>
          <a:prstGeom prst="rect">
            <a:avLst/>
          </a:prstGeom>
          <a:noFill/>
          <a:ln/>
        </p:spPr>
        <p:txBody>
          <a:bodyPr wrap="square" lIns="0" tIns="0" rIns="0" bIns="0" rtlCol="0" anchor="ctr"/>
          <a:lstStyle/>
          <a:p>
            <a:pPr marL="0" indent="0">
              <a:buNone/>
            </a:pPr>
            <a:r>
              <a:rPr lang="en-US" sz="1500" b="1" dirty="0">
                <a:solidFill>
                  <a:srgbClr val="0F2350"/>
                </a:solidFill>
                <a:latin typeface="Meiryo" pitchFamily="34" charset="0"/>
                <a:ea typeface="Meiryo" pitchFamily="34" charset="-122"/>
                <a:cs typeface="Meiryo" pitchFamily="34" charset="-120"/>
              </a:rPr>
              <a:t>参考</a:t>
            </a:r>
            <a:endParaRPr lang="en-US" sz="1500" dirty="0"/>
          </a:p>
        </p:txBody>
      </p:sp>
      <p:sp>
        <p:nvSpPr>
          <p:cNvPr id="27" name="Text 25"/>
          <p:cNvSpPr/>
          <p:nvPr/>
        </p:nvSpPr>
        <p:spPr>
          <a:xfrm>
            <a:off x="8046720" y="3886200"/>
            <a:ext cx="3200400" cy="1554480"/>
          </a:xfrm>
          <a:prstGeom prst="rect">
            <a:avLst/>
          </a:prstGeom>
          <a:noFill/>
          <a:ln/>
        </p:spPr>
        <p:txBody>
          <a:bodyPr wrap="square" lIns="0" tIns="0" rIns="0" bIns="0" rtlCol="0" anchor="t"/>
          <a:lstStyle/>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Borg論文（2015）</a:t>
            </a:r>
            <a:endParaRPr lang="en-US" sz="1150" dirty="0"/>
          </a:p>
          <a:p>
            <a:pPr>
              <a:lnSpc>
                <a:spcPts val="1600"/>
              </a:lnSpc>
              <a:spcAft>
                <a:spcPts val="800"/>
              </a:spcAft>
            </a:pPr>
            <a:r>
              <a:rPr lang="en-US" sz="1150" dirty="0">
                <a:solidFill>
                  <a:srgbClr val="0F2350"/>
                </a:solidFill>
                <a:latin typeface="Meiryo" pitchFamily="34" charset="0"/>
                <a:ea typeface="Meiryo" pitchFamily="34" charset="-122"/>
                <a:cs typeface="Meiryo" pitchFamily="34" charset="-120"/>
              </a:rPr>
              <a:t>Large-scale cluster management at Google with Borg</a:t>
            </a:r>
            <a:br>
              <a:rPr lang="en-US" sz="1150" dirty="0">
                <a:solidFill>
                  <a:srgbClr val="0F2350"/>
                </a:solidFill>
                <a:latin typeface="Meiryo" pitchFamily="34" charset="0"/>
                <a:ea typeface="Meiryo" pitchFamily="34" charset="-122"/>
                <a:cs typeface="Meiryo" pitchFamily="34" charset="-120"/>
              </a:rPr>
            </a:br>
            <a:r>
              <a:rPr lang="en-US" sz="1150" dirty="0">
                <a:solidFill>
                  <a:srgbClr val="0F2350"/>
                </a:solidFill>
                <a:latin typeface="Meiryo" pitchFamily="34" charset="0"/>
                <a:ea typeface="Meiryo" pitchFamily="34" charset="-122"/>
                <a:cs typeface="Meiryo" pitchFamily="34" charset="-120"/>
              </a:rPr>
              <a:t>(</a:t>
            </a:r>
            <a:r>
              <a:rPr lang="en-US" sz="1150" dirty="0">
                <a:solidFill>
                  <a:srgbClr val="0F2350"/>
                </a:solidFill>
                <a:latin typeface="Meiryo" pitchFamily="34" charset="0"/>
                <a:ea typeface="Meiryo" pitchFamily="34" charset="-122"/>
                <a:cs typeface="Meiryo" pitchFamily="34" charset="-120"/>
                <a:hlinkClick r:id="rId3"/>
              </a:rPr>
              <a:t>https://research.google.com/pubs/archive/43438.pdf</a:t>
            </a:r>
            <a:r>
              <a:rPr lang="en-US" sz="1150" dirty="0">
                <a:solidFill>
                  <a:srgbClr val="0F2350"/>
                </a:solidFill>
                <a:latin typeface="Meiryo" pitchFamily="34" charset="0"/>
                <a:ea typeface="Meiryo" pitchFamily="34" charset="-122"/>
                <a:cs typeface="Meiryo" pitchFamily="34" charset="-120"/>
              </a:rPr>
              <a:t>)</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 公式ドキュメント</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kubernetes.io/docs</a:t>
            </a:r>
            <a:endParaRPr lang="en-US" sz="1150" dirty="0"/>
          </a:p>
          <a:p>
            <a:pPr marL="0" indent="0">
              <a:lnSpc>
                <a:spcPts val="1600"/>
              </a:lnSpc>
              <a:spcAft>
                <a:spcPts val="800"/>
              </a:spcAft>
              <a:buNone/>
            </a:pPr>
            <a:r>
              <a:rPr lang="en-US" sz="1150" dirty="0">
                <a:solidFill>
                  <a:srgbClr val="0F2350"/>
                </a:solidFill>
                <a:latin typeface="Meiryo" pitchFamily="34" charset="0"/>
                <a:ea typeface="Meiryo" pitchFamily="34" charset="-122"/>
                <a:cs typeface="Meiryo" pitchFamily="34" charset="-120"/>
              </a:rPr>
              <a:t>Kubernetes The Hard Way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marL="0" indent="0">
              <a:buNone/>
            </a:pPr>
            <a:r>
              <a:rPr lang="en-US" sz="3200" b="1" dirty="0">
                <a:solidFill>
                  <a:srgbClr val="0F2350"/>
                </a:solidFill>
                <a:latin typeface="Meiryo" pitchFamily="34" charset="0"/>
                <a:ea typeface="Meiryo" pitchFamily="34" charset="-122"/>
                <a:cs typeface="Meiryo" pitchFamily="34" charset="-120"/>
              </a:rPr>
              <a:t>補足：Compose / Swarm との違い</a:t>
            </a:r>
            <a:endParaRPr lang="en-US" sz="32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marL="0" indent="0">
              <a:buNone/>
            </a:pPr>
            <a:r>
              <a:rPr lang="en-US" sz="1350" dirty="0" err="1">
                <a:solidFill>
                  <a:srgbClr val="5D6B85"/>
                </a:solidFill>
                <a:latin typeface="Meiryo" pitchFamily="34" charset="0"/>
                <a:ea typeface="Meiryo" pitchFamily="34" charset="-122"/>
                <a:cs typeface="Meiryo" pitchFamily="34" charset="-120"/>
              </a:rPr>
              <a:t>もっと軽い技術ではどこまでできるのか</a:t>
            </a:r>
            <a:endParaRPr lang="en-US" sz="1350" dirty="0"/>
          </a:p>
        </p:txBody>
      </p:sp>
      <p:sp>
        <p:nvSpPr>
          <p:cNvPr id="4" name="Shape 2"/>
          <p:cNvSpPr/>
          <p:nvPr/>
        </p:nvSpPr>
        <p:spPr>
          <a:xfrm>
            <a:off x="640080" y="1691640"/>
            <a:ext cx="3383280" cy="3246120"/>
          </a:xfrm>
          <a:prstGeom prst="roundRect">
            <a:avLst>
              <a:gd name="adj" fmla="val 1690"/>
            </a:avLst>
          </a:prstGeom>
          <a:solidFill>
            <a:srgbClr val="F5F8FD"/>
          </a:solidFill>
          <a:ln w="12700">
            <a:solidFill>
              <a:srgbClr val="F5F8FD"/>
            </a:solidFill>
            <a:prstDash val="solid"/>
          </a:ln>
        </p:spPr>
      </p:sp>
      <p:sp>
        <p:nvSpPr>
          <p:cNvPr id="5" name="Text 3"/>
          <p:cNvSpPr/>
          <p:nvPr/>
        </p:nvSpPr>
        <p:spPr>
          <a:xfrm>
            <a:off x="914400" y="1828800"/>
            <a:ext cx="2834640" cy="411480"/>
          </a:xfrm>
          <a:prstGeom prst="rect">
            <a:avLst/>
          </a:prstGeom>
          <a:noFill/>
          <a:ln/>
        </p:spPr>
        <p:txBody>
          <a:bodyPr wrap="square" lIns="0" tIns="0" rIns="0" bIns="0" rtlCol="0" anchor="ctr"/>
          <a:lstStyle/>
          <a:p>
            <a:pPr marL="0" indent="0">
              <a:buNone/>
            </a:pPr>
            <a:r>
              <a:rPr lang="en-US" sz="1700" b="1" dirty="0">
                <a:solidFill>
                  <a:srgbClr val="5D6B85"/>
                </a:solidFill>
                <a:latin typeface="Meiryo" pitchFamily="34" charset="0"/>
                <a:ea typeface="Meiryo" pitchFamily="34" charset="-122"/>
                <a:cs typeface="Meiryo" pitchFamily="34" charset="-120"/>
              </a:rPr>
              <a:t>Docker Compose</a:t>
            </a:r>
            <a:endParaRPr lang="en-US" sz="1700" dirty="0"/>
          </a:p>
        </p:txBody>
      </p:sp>
      <p:sp>
        <p:nvSpPr>
          <p:cNvPr id="6" name="Text 4"/>
          <p:cNvSpPr/>
          <p:nvPr/>
        </p:nvSpPr>
        <p:spPr>
          <a:xfrm>
            <a:off x="914400" y="233172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対象範囲</a:t>
            </a:r>
            <a:endParaRPr lang="en-US" sz="1050" dirty="0"/>
          </a:p>
        </p:txBody>
      </p:sp>
      <p:sp>
        <p:nvSpPr>
          <p:cNvPr id="7" name="Text 5"/>
          <p:cNvSpPr/>
          <p:nvPr/>
        </p:nvSpPr>
        <p:spPr>
          <a:xfrm>
            <a:off x="91440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1台のホストの中だけ</a:t>
            </a:r>
            <a:endParaRPr lang="en-US" sz="1150" dirty="0"/>
          </a:p>
        </p:txBody>
      </p:sp>
      <p:sp>
        <p:nvSpPr>
          <p:cNvPr id="8" name="Text 6"/>
          <p:cNvSpPr/>
          <p:nvPr/>
        </p:nvSpPr>
        <p:spPr>
          <a:xfrm>
            <a:off x="914400" y="320040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維持のしかた</a:t>
            </a:r>
            <a:endParaRPr lang="en-US" sz="1050" dirty="0"/>
          </a:p>
        </p:txBody>
      </p:sp>
      <p:sp>
        <p:nvSpPr>
          <p:cNvPr id="9" name="Text 7"/>
          <p:cNvSpPr/>
          <p:nvPr/>
        </p:nvSpPr>
        <p:spPr>
          <a:xfrm>
            <a:off x="91440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restart: always でデーモンが</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再起動してくれる</a:t>
            </a:r>
            <a:endParaRPr lang="en-US" sz="1150" dirty="0"/>
          </a:p>
        </p:txBody>
      </p:sp>
      <p:sp>
        <p:nvSpPr>
          <p:cNvPr id="10" name="Text 8"/>
          <p:cNvSpPr/>
          <p:nvPr/>
        </p:nvSpPr>
        <p:spPr>
          <a:xfrm>
            <a:off x="914400" y="4069080"/>
            <a:ext cx="2834640" cy="256032"/>
          </a:xfrm>
          <a:prstGeom prst="rect">
            <a:avLst/>
          </a:prstGeom>
          <a:noFill/>
          <a:ln/>
        </p:spPr>
        <p:txBody>
          <a:bodyPr wrap="square" lIns="0" tIns="0" rIns="0" bIns="0" rtlCol="0" anchor="ctr"/>
          <a:lstStyle/>
          <a:p>
            <a:pPr marL="0" indent="0">
              <a:buNone/>
            </a:pPr>
            <a:r>
              <a:rPr lang="en-US" sz="1050" b="1" dirty="0">
                <a:solidFill>
                  <a:srgbClr val="5D6B85"/>
                </a:solidFill>
                <a:latin typeface="Meiryo" pitchFamily="34" charset="0"/>
                <a:ea typeface="Meiryo" pitchFamily="34" charset="-122"/>
                <a:cs typeface="Meiryo" pitchFamily="34" charset="-120"/>
              </a:rPr>
              <a:t>限界</a:t>
            </a:r>
            <a:endParaRPr lang="en-US" sz="1050" dirty="0"/>
          </a:p>
        </p:txBody>
      </p:sp>
      <p:sp>
        <p:nvSpPr>
          <p:cNvPr id="11" name="Text 9"/>
          <p:cNvSpPr/>
          <p:nvPr/>
        </p:nvSpPr>
        <p:spPr>
          <a:xfrm>
            <a:off x="91440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ホストをまたげない。</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「レプリカ数」という概念がない</a:t>
            </a:r>
            <a:endParaRPr lang="en-US" sz="1150" dirty="0"/>
          </a:p>
        </p:txBody>
      </p:sp>
      <p:sp>
        <p:nvSpPr>
          <p:cNvPr id="12" name="Shape 10"/>
          <p:cNvSpPr/>
          <p:nvPr/>
        </p:nvSpPr>
        <p:spPr>
          <a:xfrm>
            <a:off x="4251960" y="1691640"/>
            <a:ext cx="3383280" cy="3246120"/>
          </a:xfrm>
          <a:prstGeom prst="roundRect">
            <a:avLst>
              <a:gd name="adj" fmla="val 1690"/>
            </a:avLst>
          </a:prstGeom>
          <a:solidFill>
            <a:srgbClr val="F5F8FD"/>
          </a:solidFill>
          <a:ln w="12700">
            <a:solidFill>
              <a:srgbClr val="F5F8FD"/>
            </a:solidFill>
            <a:prstDash val="solid"/>
          </a:ln>
        </p:spPr>
      </p:sp>
      <p:sp>
        <p:nvSpPr>
          <p:cNvPr id="13" name="Text 11"/>
          <p:cNvSpPr/>
          <p:nvPr/>
        </p:nvSpPr>
        <p:spPr>
          <a:xfrm>
            <a:off x="4526280" y="1828800"/>
            <a:ext cx="2834640" cy="411480"/>
          </a:xfrm>
          <a:prstGeom prst="rect">
            <a:avLst/>
          </a:prstGeom>
          <a:noFill/>
          <a:ln/>
        </p:spPr>
        <p:txBody>
          <a:bodyPr wrap="square" lIns="0" tIns="0" rIns="0" bIns="0" rtlCol="0" anchor="ctr"/>
          <a:lstStyle/>
          <a:p>
            <a:pPr marL="0" indent="0">
              <a:buNone/>
            </a:pPr>
            <a:r>
              <a:rPr lang="en-US" sz="1700" b="1" dirty="0">
                <a:solidFill>
                  <a:srgbClr val="0F2350"/>
                </a:solidFill>
                <a:latin typeface="Meiryo" pitchFamily="34" charset="0"/>
                <a:ea typeface="Meiryo" pitchFamily="34" charset="-122"/>
                <a:cs typeface="Meiryo" pitchFamily="34" charset="-120"/>
              </a:rPr>
              <a:t>Docker Swarm</a:t>
            </a:r>
            <a:endParaRPr lang="en-US" sz="1700" dirty="0"/>
          </a:p>
        </p:txBody>
      </p:sp>
      <p:sp>
        <p:nvSpPr>
          <p:cNvPr id="14" name="Text 12"/>
          <p:cNvSpPr/>
          <p:nvPr/>
        </p:nvSpPr>
        <p:spPr>
          <a:xfrm>
            <a:off x="4526280" y="233172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対象範囲</a:t>
            </a:r>
            <a:endParaRPr lang="en-US" sz="1050" dirty="0"/>
          </a:p>
        </p:txBody>
      </p:sp>
      <p:sp>
        <p:nvSpPr>
          <p:cNvPr id="15" name="Text 13"/>
          <p:cNvSpPr/>
          <p:nvPr/>
        </p:nvSpPr>
        <p:spPr>
          <a:xfrm>
            <a:off x="452628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複数ホスト（Raftで冗長化）</a:t>
            </a:r>
            <a:endParaRPr lang="en-US" sz="1150" dirty="0"/>
          </a:p>
        </p:txBody>
      </p:sp>
      <p:sp>
        <p:nvSpPr>
          <p:cNvPr id="16" name="Text 14"/>
          <p:cNvSpPr/>
          <p:nvPr/>
        </p:nvSpPr>
        <p:spPr>
          <a:xfrm>
            <a:off x="4526280" y="320040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維持のしかた</a:t>
            </a:r>
            <a:endParaRPr lang="en-US" sz="1050" dirty="0"/>
          </a:p>
        </p:txBody>
      </p:sp>
      <p:sp>
        <p:nvSpPr>
          <p:cNvPr id="17" name="Text 15"/>
          <p:cNvSpPr/>
          <p:nvPr/>
        </p:nvSpPr>
        <p:spPr>
          <a:xfrm>
            <a:off x="452628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あるべき状態へ収束させる</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オーケストレータを持つ</a:t>
            </a:r>
            <a:endParaRPr lang="en-US" sz="1150" dirty="0"/>
          </a:p>
        </p:txBody>
      </p:sp>
      <p:sp>
        <p:nvSpPr>
          <p:cNvPr id="18" name="Text 16"/>
          <p:cNvSpPr/>
          <p:nvPr/>
        </p:nvSpPr>
        <p:spPr>
          <a:xfrm>
            <a:off x="4526280" y="4069080"/>
            <a:ext cx="2834640" cy="256032"/>
          </a:xfrm>
          <a:prstGeom prst="rect">
            <a:avLst/>
          </a:prstGeom>
          <a:noFill/>
          <a:ln/>
        </p:spPr>
        <p:txBody>
          <a:bodyPr wrap="square" lIns="0" tIns="0" rIns="0" bIns="0" rtlCol="0" anchor="ctr"/>
          <a:lstStyle/>
          <a:p>
            <a:pPr marL="0" indent="0">
              <a:buNone/>
            </a:pPr>
            <a:r>
              <a:rPr lang="en-US" sz="1050" b="1" dirty="0">
                <a:solidFill>
                  <a:srgbClr val="0F2350"/>
                </a:solidFill>
                <a:latin typeface="Meiryo" pitchFamily="34" charset="0"/>
                <a:ea typeface="Meiryo" pitchFamily="34" charset="-122"/>
                <a:cs typeface="Meiryo" pitchFamily="34" charset="-120"/>
              </a:rPr>
              <a:t>限界</a:t>
            </a:r>
            <a:endParaRPr lang="en-US" sz="1050" dirty="0"/>
          </a:p>
        </p:txBody>
      </p:sp>
      <p:sp>
        <p:nvSpPr>
          <p:cNvPr id="19" name="Text 17"/>
          <p:cNvSpPr/>
          <p:nvPr/>
        </p:nvSpPr>
        <p:spPr>
          <a:xfrm>
            <a:off x="452628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機能はDocker APIの範囲。</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マネージドサービスが無い</a:t>
            </a:r>
            <a:endParaRPr lang="en-US" sz="1150" dirty="0"/>
          </a:p>
        </p:txBody>
      </p:sp>
      <p:sp>
        <p:nvSpPr>
          <p:cNvPr id="20" name="Shape 18"/>
          <p:cNvSpPr/>
          <p:nvPr/>
        </p:nvSpPr>
        <p:spPr>
          <a:xfrm>
            <a:off x="7863840" y="1691640"/>
            <a:ext cx="3383280" cy="3246120"/>
          </a:xfrm>
          <a:prstGeom prst="roundRect">
            <a:avLst>
              <a:gd name="adj" fmla="val 1690"/>
            </a:avLst>
          </a:prstGeom>
          <a:solidFill>
            <a:srgbClr val="E8EEF9"/>
          </a:solidFill>
          <a:ln w="12700">
            <a:solidFill>
              <a:srgbClr val="326CE5"/>
            </a:solidFill>
            <a:prstDash val="solid"/>
          </a:ln>
        </p:spPr>
      </p:sp>
      <p:sp>
        <p:nvSpPr>
          <p:cNvPr id="21" name="Text 19"/>
          <p:cNvSpPr/>
          <p:nvPr/>
        </p:nvSpPr>
        <p:spPr>
          <a:xfrm>
            <a:off x="8138160" y="1828800"/>
            <a:ext cx="2834640" cy="411480"/>
          </a:xfrm>
          <a:prstGeom prst="rect">
            <a:avLst/>
          </a:prstGeom>
          <a:noFill/>
          <a:ln/>
        </p:spPr>
        <p:txBody>
          <a:bodyPr wrap="square" lIns="0" tIns="0" rIns="0" bIns="0" rtlCol="0" anchor="ctr"/>
          <a:lstStyle/>
          <a:p>
            <a:pPr marL="0" indent="0">
              <a:buNone/>
            </a:pPr>
            <a:r>
              <a:rPr lang="en-US" sz="1700" b="1" dirty="0">
                <a:solidFill>
                  <a:srgbClr val="326CE5"/>
                </a:solidFill>
                <a:latin typeface="Meiryo" pitchFamily="34" charset="0"/>
                <a:ea typeface="Meiryo" pitchFamily="34" charset="-122"/>
                <a:cs typeface="Meiryo" pitchFamily="34" charset="-120"/>
              </a:rPr>
              <a:t>Kubernetes</a:t>
            </a:r>
            <a:endParaRPr lang="en-US" sz="1700" dirty="0"/>
          </a:p>
        </p:txBody>
      </p:sp>
      <p:sp>
        <p:nvSpPr>
          <p:cNvPr id="22" name="Text 20"/>
          <p:cNvSpPr/>
          <p:nvPr/>
        </p:nvSpPr>
        <p:spPr>
          <a:xfrm>
            <a:off x="8138160" y="233172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対象範囲</a:t>
            </a:r>
            <a:endParaRPr lang="en-US" sz="1050" dirty="0"/>
          </a:p>
        </p:txBody>
      </p:sp>
      <p:sp>
        <p:nvSpPr>
          <p:cNvPr id="23" name="Text 21"/>
          <p:cNvSpPr/>
          <p:nvPr/>
        </p:nvSpPr>
        <p:spPr>
          <a:xfrm>
            <a:off x="8138160" y="258775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複数ホスト</a:t>
            </a:r>
            <a:endParaRPr lang="en-US" sz="1150" dirty="0"/>
          </a:p>
        </p:txBody>
      </p:sp>
      <p:sp>
        <p:nvSpPr>
          <p:cNvPr id="24" name="Text 22"/>
          <p:cNvSpPr/>
          <p:nvPr/>
        </p:nvSpPr>
        <p:spPr>
          <a:xfrm>
            <a:off x="8138160" y="320040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維持のしかた</a:t>
            </a:r>
            <a:endParaRPr lang="en-US" sz="1050" dirty="0"/>
          </a:p>
        </p:txBody>
      </p:sp>
      <p:sp>
        <p:nvSpPr>
          <p:cNvPr id="25" name="Text 23"/>
          <p:cNvSpPr/>
          <p:nvPr/>
        </p:nvSpPr>
        <p:spPr>
          <a:xfrm>
            <a:off x="8138160" y="345643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Controllerによる</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継続的な収束</a:t>
            </a:r>
            <a:endParaRPr lang="en-US" sz="1150" dirty="0"/>
          </a:p>
        </p:txBody>
      </p:sp>
      <p:sp>
        <p:nvSpPr>
          <p:cNvPr id="26" name="Text 24"/>
          <p:cNvSpPr/>
          <p:nvPr/>
        </p:nvSpPr>
        <p:spPr>
          <a:xfrm>
            <a:off x="8138160" y="4069080"/>
            <a:ext cx="2834640" cy="256032"/>
          </a:xfrm>
          <a:prstGeom prst="rect">
            <a:avLst/>
          </a:prstGeom>
          <a:noFill/>
          <a:ln/>
        </p:spPr>
        <p:txBody>
          <a:bodyPr wrap="square" lIns="0" tIns="0" rIns="0" bIns="0" rtlCol="0" anchor="ctr"/>
          <a:lstStyle/>
          <a:p>
            <a:pPr marL="0" indent="0">
              <a:buNone/>
            </a:pPr>
            <a:r>
              <a:rPr lang="en-US" sz="1050" b="1" dirty="0">
                <a:solidFill>
                  <a:srgbClr val="326CE5"/>
                </a:solidFill>
                <a:latin typeface="Meiryo" pitchFamily="34" charset="0"/>
                <a:ea typeface="Meiryo" pitchFamily="34" charset="-122"/>
                <a:cs typeface="Meiryo" pitchFamily="34" charset="-120"/>
              </a:rPr>
              <a:t>強み</a:t>
            </a:r>
            <a:endParaRPr lang="en-US" sz="1050" dirty="0"/>
          </a:p>
        </p:txBody>
      </p:sp>
      <p:sp>
        <p:nvSpPr>
          <p:cNvPr id="27" name="Text 25"/>
          <p:cNvSpPr/>
          <p:nvPr/>
        </p:nvSpPr>
        <p:spPr>
          <a:xfrm>
            <a:off x="8138160" y="4325112"/>
            <a:ext cx="2834640" cy="566928"/>
          </a:xfrm>
          <a:prstGeom prst="rect">
            <a:avLst/>
          </a:prstGeom>
          <a:noFill/>
          <a:ln/>
        </p:spPr>
        <p:txBody>
          <a:bodyPr wrap="square" lIns="0" tIns="0" rIns="0" bIns="0" rtlCol="0" anchor="t"/>
          <a:lstStyle/>
          <a:p>
            <a:pPr marL="0" indent="0">
              <a:lnSpc>
                <a:spcPts val="1600"/>
              </a:lnSpc>
              <a:buNone/>
            </a:pPr>
            <a:r>
              <a:rPr lang="en-US" sz="1150" dirty="0">
                <a:solidFill>
                  <a:srgbClr val="1A2233"/>
                </a:solidFill>
                <a:latin typeface="Meiryo" pitchFamily="34" charset="0"/>
                <a:ea typeface="Meiryo" pitchFamily="34" charset="-122"/>
                <a:cs typeface="Meiryo" pitchFamily="34" charset="-120"/>
              </a:rPr>
              <a:t>仕組みそのものを</a:t>
            </a:r>
            <a:endParaRPr lang="en-US" sz="1150" dirty="0"/>
          </a:p>
          <a:p>
            <a:pPr marL="0" indent="0">
              <a:lnSpc>
                <a:spcPts val="1600"/>
              </a:lnSpc>
              <a:buNone/>
            </a:pPr>
            <a:r>
              <a:rPr lang="en-US" sz="1150" dirty="0">
                <a:solidFill>
                  <a:srgbClr val="1A2233"/>
                </a:solidFill>
                <a:latin typeface="Meiryo" pitchFamily="34" charset="0"/>
                <a:ea typeface="Meiryo" pitchFamily="34" charset="-122"/>
                <a:cs typeface="Meiryo" pitchFamily="34" charset="-120"/>
              </a:rPr>
              <a:t>CRD / Operator で拡張できる</a:t>
            </a:r>
            <a:endParaRPr lang="en-US" sz="1150" dirty="0"/>
          </a:p>
        </p:txBody>
      </p:sp>
      <p:sp>
        <p:nvSpPr>
          <p:cNvPr id="28" name="Shape 26"/>
          <p:cNvSpPr/>
          <p:nvPr/>
        </p:nvSpPr>
        <p:spPr>
          <a:xfrm>
            <a:off x="640080" y="5120640"/>
            <a:ext cx="10881360" cy="1005840"/>
          </a:xfrm>
          <a:prstGeom prst="roundRect">
            <a:avLst>
              <a:gd name="adj" fmla="val 5455"/>
            </a:avLst>
          </a:prstGeom>
          <a:solidFill>
            <a:srgbClr val="0F2350"/>
          </a:solidFill>
          <a:ln w="12700">
            <a:solidFill>
              <a:srgbClr val="0F2350"/>
            </a:solidFill>
            <a:prstDash val="solid"/>
          </a:ln>
        </p:spPr>
      </p:sp>
      <p:sp>
        <p:nvSpPr>
          <p:cNvPr id="29" name="Text 27"/>
          <p:cNvSpPr/>
          <p:nvPr/>
        </p:nvSpPr>
        <p:spPr>
          <a:xfrm>
            <a:off x="960120" y="5120640"/>
            <a:ext cx="10241280" cy="1005840"/>
          </a:xfrm>
          <a:prstGeom prst="rect">
            <a:avLst/>
          </a:prstGeom>
          <a:noFill/>
          <a:ln/>
        </p:spPr>
        <p:txBody>
          <a:bodyPr wrap="square" lIns="0" tIns="0" rIns="0" bIns="0" rtlCol="0" anchor="ctr"/>
          <a:lstStyle/>
          <a:p>
            <a:pPr marL="0" indent="0">
              <a:lnSpc>
                <a:spcPts val="2100"/>
              </a:lnSpc>
              <a:buNone/>
            </a:pPr>
            <a:r>
              <a:rPr lang="en-US" sz="1300" dirty="0">
                <a:solidFill>
                  <a:srgbClr val="CFDEF8"/>
                </a:solidFill>
                <a:latin typeface="Meiryo" pitchFamily="34" charset="0"/>
                <a:ea typeface="Meiryo" pitchFamily="34" charset="-122"/>
                <a:cs typeface="Meiryo" pitchFamily="34" charset="-120"/>
              </a:rPr>
              <a:t>今日のデモ（削除→復活、スケール）は、実は Swarm でもほぼ同じことができる。</a:t>
            </a:r>
            <a:endParaRPr lang="en-US" sz="1300" dirty="0"/>
          </a:p>
          <a:p>
            <a:pPr marL="0" indent="0">
              <a:lnSpc>
                <a:spcPts val="2100"/>
              </a:lnSpc>
              <a:buNone/>
            </a:pPr>
            <a:r>
              <a:rPr lang="en-US" sz="1400" b="1" dirty="0">
                <a:solidFill>
                  <a:srgbClr val="FFFFFF"/>
                </a:solidFill>
                <a:latin typeface="Meiryo" pitchFamily="34" charset="0"/>
                <a:ea typeface="Meiryo" pitchFamily="34" charset="-122"/>
                <a:cs typeface="Meiryo" pitchFamily="34" charset="-120"/>
              </a:rPr>
              <a:t>K8sの決定的な差は、Reconciliation Loop を「ユーザーが拡張できるAPI」として開いたこと。</a:t>
            </a:r>
            <a:endParaRPr lang="en-US" sz="1300" dirty="0"/>
          </a:p>
        </p:txBody>
      </p:sp>
      <p:sp>
        <p:nvSpPr>
          <p:cNvPr id="30" name="Text 28"/>
          <p:cNvSpPr/>
          <p:nvPr/>
        </p:nvSpPr>
        <p:spPr>
          <a:xfrm>
            <a:off x="640080" y="6217920"/>
            <a:ext cx="10881360" cy="320040"/>
          </a:xfrm>
          <a:prstGeom prst="rect">
            <a:avLst/>
          </a:prstGeom>
          <a:noFill/>
          <a:ln/>
        </p:spPr>
        <p:txBody>
          <a:bodyPr wrap="square" lIns="0" tIns="0" rIns="0" bIns="0" rtlCol="0" anchor="ctr"/>
          <a:lstStyle/>
          <a:p>
            <a:pPr marL="0" indent="0">
              <a:buNone/>
            </a:pPr>
            <a:r>
              <a:rPr lang="en-US" sz="1050" dirty="0">
                <a:solidFill>
                  <a:srgbClr val="5D6B85"/>
                </a:solidFill>
                <a:latin typeface="Meiryo" pitchFamily="34" charset="0"/>
                <a:ea typeface="Meiryo" pitchFamily="34" charset="-122"/>
                <a:cs typeface="Meiryo" pitchFamily="34" charset="-120"/>
              </a:rPr>
              <a:t>※ k3s / k0s の登場で、「軽いからSwarm」という選択理由も以前より弱まっている</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55121D-831E-4049-A214-A7DD973F1C34}">
  <we:reference id="wa200010001" version="1.0.0.1" store="en-US" storeType="OMEX"/>
  <we:alternateReferences>
    <we:reference id="wa200010001" version="1.0.0.1" store="en-US" storeType="OMEX"/>
  </we:alternateReferences>
  <we:properties>
    <we:property name="claude.fileId" value="&quot;c0ec527b-1b57-4aa4-a979-fd6fb505cde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370</TotalTime>
  <Words>1487</Words>
  <Application>Microsoft Office PowerPoint</Application>
  <PresentationFormat>ワイド画面</PresentationFormat>
  <Paragraphs>360</Paragraphs>
  <Slides>16</Slides>
  <Notes>15</Notes>
  <HiddenSlides>0</HiddenSlides>
  <MMClips>1</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Meiryo</vt:lpstr>
      <vt:lpstr>Arial</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なぜKubernetesが必要なのか</dc:title>
  <dc:subject>PptxGenJS Presentation</dc:subject>
  <dc:creator>PptxGenJS</dc:creator>
  <cp:lastModifiedBy>Yushi OKA</cp:lastModifiedBy>
  <cp:revision>13</cp:revision>
  <dcterms:created xsi:type="dcterms:W3CDTF">2026-08-29T11:50:36Z</dcterms:created>
  <dcterms:modified xsi:type="dcterms:W3CDTF">2026-08-30T04:25:56Z</dcterms:modified>
</cp:coreProperties>
</file>